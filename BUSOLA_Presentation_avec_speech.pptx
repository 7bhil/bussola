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notesMasterIdLst>
    <p:notesMasterId r:id="rId2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notesMaster" Target="notesMasters/notesMaster1.xml"/><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dirty="0"/>
              <a:t>Excellence Monsieur le Président du Jury, Honorables membres du Jury, chers parents, amis et invités,</a:t>
            </a:r>
          </a:p>
          <a:p>
            <a:r>
              <a:rPr lang="fr-FR" dirty="0"/>
              <a:t>Bonjour, et veuillez recevoir nos sincères salutations. Soyez les bienvenus dans cette salle pour la soutenance de notre mémoire de fin de formation en Licence Professionnelle.</a:t>
            </a:r>
          </a:p>
          <a:p>
            <a:r>
              <a:rPr lang="fr-FR" dirty="0"/>
              <a:t>Permettez-nous d'introduire nos propos par de chaleureux mots de remerciements pour l'intérêt que vous portez à nos travaux, ainsi que pour votre disponibilité à les juger malgré vos nombreuses occupations. Chers parents, chers amis, chers invités, nous vous remercions d'avoir répondu présents à notre invitation.</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dirty="0"/>
              <a:t>Excellence Monsieur le Président du Jury, Honorables membres du Jury,</a:t>
            </a:r>
          </a:p>
          <a:p>
            <a:r>
              <a:rPr lang="fr-FR" dirty="0"/>
              <a:t>Après trois années de formation à l'Institut Universitaire de Technologie de Parakou, nous avons l'honneur de vous présenter aujourd'hui nos travaux de fin de formation, réalisés par Bhilal CHITOU et Jolidon HOUNGUE, sous la supervision de Monsieur Fadel KASSALI et Gérauld KAKI comme maîtres de stage, et du Docteur Meton Meton ATINDEHOU comme maître de mémoire.</a:t>
            </a:r>
          </a:p>
          <a:p>
            <a:r>
              <a:rPr lang="fr-FR" dirty="0"/>
              <a:t>Notre thème porte sur la conception et la réalisation d'une plateforme web intégrée de gestion et de promotion des actions sociales de l'ONG BUSOLA. Nous espérons, au terme de cette présentation, recueillir vos observations et suggestions.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dirty="0"/>
              <a:t>Pour la clarté de notre exposé, nous avons articulé notre présentation autour de cinq axes.</a:t>
            </a:r>
          </a:p>
          <a:p>
            <a:r>
              <a:rPr lang="fr-FR" dirty="0"/>
              <a:t>Nous commencerons par une présentation du lieu de stage, puis nous dresserons l'étude de l'existant qui a motivé notre projet. Nous poursuivrons avec la modélisation du système futur, avant de détailler la mise en œuvre technique de l'application. Nous terminerons par une présentation de l'application elle-même, suivie de nos conclusions et perspectives.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dirty="0"/>
              <a:t>Nous entamons donc notre présentation par l'introduction générale de notre travail : son contexte, la problématique qui en découle, nos objectifs de recherche, ainsi qu'une présentation de notre structure d'accueil.</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dirty="0"/>
              <a:t>La quatrième révolution industrielle fait aujourd'hui du numérique un puissant moteur de changement social, une dynamique portée au Bénin par le Plan d'Action du Gouvernement 2021-2026.</a:t>
            </a:r>
          </a:p>
          <a:p>
            <a:r>
              <a:rPr lang="fr-FR" dirty="0"/>
              <a:t>Cependant, si des secteurs comme la santé ou la finance ont largement amorcé leur transformation digitale, le développement communautaire reste, lui, sous-exploité par cette révolution.</a:t>
            </a:r>
          </a:p>
          <a:p>
            <a:r>
              <a:rPr lang="fr-FR" dirty="0"/>
              <a:t>Or, pour une organisation de la société civile, exister numériquement, c'est avant tout exister aux yeux du monde pour mieux servir ses bénéficiaires. C'est précisément la vision portée par l'ONG BUSOLA, qui nous a accueillis pour ce projet.</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dirty="0"/>
              <a:t>Fondée en 2020 à Parakou, BUSOLA mène un travail de terrain remarquable en faveur de l'autonomisation des femmes et de l'épanouissement des jeunes, à travers des actions en santé sexuelle et reproductive, en lutte contre les violences basées sur le genre, ou encore en faveur de la paix et de la cohésion sociale.</a:t>
            </a:r>
          </a:p>
          <a:p>
            <a:r>
              <a:rPr lang="fr-FR" dirty="0"/>
              <a:t>Mais malgré cet impact réel, l'organisation se heurte à un véritable mur de silence numérique : une information dispersée, une visibilité limitée, et des témoignages difficiles à capitaliser. Concrètement, nous avons constaté l'absence de présence numérique structurée, une gestion éclatée entre tableurs et messagerie, et aucun canal automatisé vers les abonnés.</a:t>
            </a:r>
          </a:p>
          <a:p>
            <a:r>
              <a:rPr lang="fr-FR" dirty="0"/>
              <a:t>Cela nous a conduits à la question suivante : comment transformer des actions de terrain souvent invisibles en une vitrine d'impact accessible partout et à tout moment ?</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dirty="0"/>
              <a:t>Pour répondre à cette problématique, nous nous sommes fixé comme objectif général de concevoir et déployer une solution web complète qui centralise la gestion administrative de l'ONG et amplifie la portée de ses actions.</a:t>
            </a:r>
          </a:p>
          <a:p>
            <a:r>
              <a:rPr lang="fr-FR" dirty="0"/>
              <a:t>Cet objectif général se décline en quatre objectifs spécifiques : la mise en place d'une architecture full-stack robuste pour une gestion fluide et sécurisée des données ; un CMS sur mesure permettant à l'ONG de publier de façon autonome ses actualités, projets et témoignages ; un mécanisme d'interaction communautaire, via une newsletter automatisée pour les abonnés ; et enfin des outils de suivi d'audience pour orienter la stratégie de communication de l'ONG.</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dirty="0"/>
              <a:t>Notre stage de trois mois s'est déroulé au sein de l'ONG BUSOLA, un acronyme qui signifie Bien-être, Union, Solidarité, Orientation et Liberté d'Action. C'est une organisation à but non lucratif basée à Parakou, fondée en 2020, dont la devise est : « Changer des vies, inspirer l'avenir ».</a:t>
            </a:r>
          </a:p>
          <a:p>
            <a:r>
              <a:rPr lang="fr-FR" dirty="0"/>
              <a:t>Son intervention s'articule autour de cinq axes stratégiques que vous pouvez voir à l'écran : la santé et les droits sexuels et reproductifs, la prévention des violences basées sur le genre, le leadership et l'autonomisation, la paix et la cohésion sociale, ainsi que la protection de l'environnement.</a:t>
            </a:r>
          </a:p>
          <a:p>
            <a:r>
              <a:rPr lang="fr-FR" dirty="0"/>
              <a:t>C'est dans ce cadre que la mission qui nous a été confiée a porté sur la conception et le développement du site web officiel de l'ONG.</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dirty="0"/>
              <a:t>Après cette présentation de notre structure d'accueil, nous allons maintenant exposer l'étude de l'existant qui a structuré notre démarche : la problématique du projet, l'analyse SWOT du système envisagé, et le cahier des charges qui en a résulté.</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dirty="0"/>
              <a:t>La problématique de notre projet peut se formuler ainsi : comment concevoir et développer une plateforme web permettant à l'ONG BUSOLA de centraliser la diffusion de ses contenus, de renforcer sa visibilité et de fluidifier sa communication avec ses bénévoles et abonnés, tout en garantissant une gestion simple et sécurisée pour un administrateur unique ?</a:t>
            </a:r>
          </a:p>
          <a:p>
            <a:r>
              <a:rPr lang="fr-FR" dirty="0"/>
              <a:t>Concevoir une telle plateforme se justifiait à plusieurs titres : elle offre un contrôle total du contenu, contrairement à une simple page sur les réseaux sociaux ; elle constitue un levier de crédibilité auprès des partenaires institutionnels ; et elle représente un outil pérenne de mobilisation des bénévoles et des donateurs.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dirty="0"/>
              <a:t>Afin d'orienter nos choix de conception, nous avons mené une analyse SWOT du système futur.</a:t>
            </a:r>
          </a:p>
          <a:p>
            <a:r>
              <a:rPr lang="fr-FR" dirty="0"/>
              <a:t>Parmi les forces, nous pouvons citer une plateforme centralisée propre à l'ONG, accessible hors ligne grâce à une architecture PWA, avec une gestion autonome des contenus et une notification automatique des abonnés. Du côté des faiblesses, nous notons un compte administrateur unique et une gestion des événements encore dépendante de Google Docs.</a:t>
            </a:r>
          </a:p>
          <a:p>
            <a:r>
              <a:rPr lang="fr-FR" dirty="0"/>
              <a:t>Cette analyse révèle aussi des opportunités intéressantes, comme une crédibilité renforcée auprès des bailleurs ou une évolution possible vers un système multi-administrateurs et des modules de paiement en ligne. Nous avons également identifié des menaces à anticiper, notamment le risque de cyberattaque sur le compte unique et la nécessité d'une maintenance régulière.</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dirty="0"/>
              <a:t>De cette analyse a découlé un cahier des charges structuré autour de sept objectifs spécifiques, que vous pouvez voir à l'écran : analyser les besoins de communication digitale et les limites des solutions actuelles ; concevoir une architecture reposant sur le modèle MVC ; développer une Progressive Web App accessible hors ligne ; mettre en place un système de gestion des actualités et des actions ; intégrer un chatbot d'assistance pour orienter les visiteurs ; mettre en œuvre une newsletter automatisée ; et enfin garantir la sécurité de l'accès administrateur et la confidentialité des données.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dirty="0"/>
              <a:t>Ce cahier des charges établi, nous avons procédé à la modélisation du système futur, que nous vous présentons à travers ses acteurs, ses cas d'utilisation et son diagramme de classes.</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dirty="0"/>
              <a:t>Notre système repose sur deux acteurs principaux.</a:t>
            </a:r>
          </a:p>
          <a:p>
            <a:r>
              <a:rPr lang="fr-FR" dirty="0"/>
              <a:t>Le premier est le Visiteur, qui peut consulter les actualités et les actions de l'ONG, interagir avec le chatbot d'assistance, s'inscrire à la newsletter, ou encore envoyer un message via le formulaire de contact.</a:t>
            </a:r>
          </a:p>
          <a:p>
            <a:r>
              <a:rPr lang="fr-FR" dirty="0"/>
              <a:t>Le second acteur est l'Administrateur, qui s'authentifie via un système sécurisé par token JWT, gère l'ensemble des contenus à travers des opérations de création, lecture, modification et suppression, et consulte les messages ainsi que la liste des abonnés.</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dirty="0"/>
              <a:t>Cette modélisation fonctionnelle s'est ensuite traduite en un diagramme de classes structuré autour de six collections principales : Administrateur, Actualité, Action, Abonné, Message et Testimonial.</a:t>
            </a:r>
          </a:p>
          <a:p>
            <a:r>
              <a:rPr lang="fr-FR" dirty="0"/>
              <a:t>Nous avons opté pour une base de données MongoDB, mais avec une modélisation volontairement proche du relationnel, afin de garantir la cohérence des données malgré la nature NoSQL de la base.</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dirty="0"/>
              <a:t>Passons à présent à la mise en œuvre technique de notre application, en commençant par l'architecture retenue et les outils de travail mobilisés.</a:t>
            </a:r>
          </a:p>
          <a:p>
            <a:r>
              <a:rPr lang="fr-FR" dirty="0"/>
              <a:t>Nous avons adopté une architecture MVC, où la vue est assurée par React sous forme de Progressive Web App, le contrôleur par les routes et contrôleurs Express.js, et le modèle par les schémas MongoDB.</a:t>
            </a:r>
          </a:p>
          <a:p>
            <a:r>
              <a:rPr lang="fr-FR" dirty="0"/>
              <a:t>Sur le plan technologique, notre stack s'appuie sur HTML5, CSS3, JavaScript et TypeScript pour les langages, React et Tailwind CSS pour le frontend, Node.js et Express.js pour le backend, et MongoDB pour la base de données. La sécurité est assurée par JWT et bcrypt, et nous avons travaillé avec des outils comme VS Code, Git et GitHub, Postman, et Nodemailer pour la gestion des emails.</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dirty="0"/>
              <a:t>Après cette présentation technique, nous vous proposons à présent de découvrir l'application elle-même : son interface publique, son espace d'administration, ainsi qu'une démonstration de son fonctionnement.</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dirty="0"/>
              <a:t>Voici un aperçu de l'interface publique destinée aux visiteurs de la plateforme.</a:t>
            </a:r>
          </a:p>
          <a:p>
            <a:r>
              <a:rPr lang="fr-FR" dirty="0"/>
              <a:t>En haut à gauche, la page d'accueil met en avant les piliers d'action de l'ONG. À côté, la rubrique des actualités et actions de terrain permet de suivre en temps réel l'activité de BUSOLA. En bas, nous retrouvons le détail d'une action spécifique, ainsi que le formulaire de contact, qui permet à tout visiteur d'échanger directement avec l'administration.</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dirty="0"/>
              <a:t>Voici à présent l'espace d'administration, conçu comme un CMS sécurisé.</a:t>
            </a:r>
          </a:p>
          <a:p>
            <a:r>
              <a:rPr lang="fr-FR" dirty="0"/>
              <a:t>L'accès se fait via une authentification protégée par JWT et bcrypt. Une fois connecté, l'administrateur accède à un tableau de bord présentant les statistiques clés de la plateforme, ainsi qu'aux interfaces de gestion des contenus permettant les opérations de création, modification et suppression. Il dispose enfin d'un espace dédié à la consultation des messages reçus et des abonnés à la newsletter.</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dirty="0"/>
              <a:t>Au terme de ce travail, nous pouvons affirmer que les objectifs fixés ont été atteints : l'ONG BUSOLA dispose désormais d'un espace institutionnel centralisé, accessible hors ligne, pour diffuser ses actualités et ses actions, gérer ses abonnés et assister ses visiteurs via un chatbot.</a:t>
            </a:r>
          </a:p>
          <a:p>
            <a:r>
              <a:rPr lang="fr-FR" dirty="0"/>
              <a:t>Ce projet ouvre cependant plusieurs perspectives d'évolution, que vous pouvez voir à l'écran : un déploiement cloud sécurisé, l'intégration du paiement mobile pour les dons en ligne, le développement d'une application mobile native, la mise en place d'un système multi-administrateurs, des outils d'analyse d'audience plus poussés, ainsi qu'une traduction en langues nationales.</a:t>
            </a:r>
          </a:p>
          <a:p>
            <a:r>
              <a:rPr lang="fr-FR" dirty="0"/>
              <a:t>Nous sommes convaincus que ce projet illustre le potentiel du numérique au service du développement social, et qu'il pourra inspirer d'autres ONG béninoises à franchir, à leur tour, le pas de la transformation digitale.</a:t>
            </a:r>
          </a:p>
          <a:p>
            <a:r>
              <a:rPr lang="fr-FR" dirty="0"/>
              <a:t>Nous sommes bien conscients que ce travail n'est pas exempt de limites, et nous sollicitons humblement les observations et critiques constructives de ce jury éminent pour nous aider à le perfectionner.</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dirty="0"/>
              <a:t>Nous voici arrivés au terme de notre présentation.</a:t>
            </a:r>
          </a:p>
          <a:p>
            <a:r>
              <a:rPr lang="fr-FR" dirty="0"/>
              <a:t>Nous tenons à exprimer toute notre gratitude à Docteur Meton Meton ATINDEHOU, pour son encadrement tout au long de ce mémoire, ainsi qu'aux autorités de l'IUT et à toute l'équipe de l'ONG BUSOLA pour leur accompagnement précieux durant notre stage.</a:t>
            </a:r>
          </a:p>
          <a:p>
            <a:r>
              <a:rPr lang="fr-FR" dirty="0"/>
              <a:t>Nous vous remercions, Excellence Monsieur le Président du Jury, Honorables membres du Jury, pour votre attention, et nous restons à votre entière disposition pour répondre à vos questions.</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BLANK">
    <p:bg>
      <p:bgPr>
        <a:solidFill>
          <a:srgbClr val="FFFFFF"/>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jp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jpg"/><Relationship Id="rId6" Type="http://schemas.openxmlformats.org/officeDocument/2006/relationships/slideLayout" Target="../slideLayouts/slideLayout1.xml"/><Relationship Id="rId7"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jp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jpg"/><Relationship Id="rId5" Type="http://schemas.openxmlformats.org/officeDocument/2006/relationships/slideLayout" Target="../slideLayouts/slideLayout1.xml"/><Relationship Id="rId6"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jp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jpg"/><Relationship Id="rId3" Type="http://schemas.openxmlformats.org/officeDocument/2006/relationships/slideLayout" Target="../slideLayouts/slideLayout1.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jpg"/><Relationship Id="rId3" Type="http://schemas.openxmlformats.org/officeDocument/2006/relationships/slideLayout" Target="../slideLayouts/slideLayout1.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jp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image" Target="../media/image-18-4.png"/><Relationship Id="rId5" Type="http://schemas.openxmlformats.org/officeDocument/2006/relationships/image" Target="../media/image-18-5.jpg"/><Relationship Id="rId6" Type="http://schemas.openxmlformats.org/officeDocument/2006/relationships/slideLayout" Target="../slideLayouts/slideLayout1.xml"/><Relationship Id="rId7"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image" Target="../media/image-19-4.png"/><Relationship Id="rId5" Type="http://schemas.openxmlformats.org/officeDocument/2006/relationships/image" Target="../media/image-19-5.jpg"/><Relationship Id="rId6" Type="http://schemas.openxmlformats.org/officeDocument/2006/relationships/slideLayout" Target="../slideLayouts/slideLayout1.xml"/><Relationship Id="rId7"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jp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33A61"/>
        </a:solidFill>
      </p:bgPr>
    </p:bg>
    <p:spTree>
      <p:nvGrpSpPr>
        <p:cNvPr id="1" name=""/>
        <p:cNvGrpSpPr/>
        <p:nvPr/>
      </p:nvGrpSpPr>
      <p:grpSpPr>
        <a:xfrm>
          <a:off x="0" y="0"/>
          <a:ext cx="0" cy="0"/>
          <a:chOff x="0" y="0"/>
          <a:chExt cx="0" cy="0"/>
        </a:xfrm>
      </p:grpSpPr>
      <p:sp>
        <p:nvSpPr>
          <p:cNvPr id="2" name="Shape 0"/>
          <p:cNvSpPr/>
          <p:nvPr/>
        </p:nvSpPr>
        <p:spPr>
          <a:xfrm>
            <a:off x="-2011680" y="-2194560"/>
            <a:ext cx="5943600" cy="5943600"/>
          </a:xfrm>
          <a:prstGeom prst="ellipse">
            <a:avLst/>
          </a:prstGeom>
          <a:solidFill>
            <a:srgbClr val="2764AE">
              <a:alpha val="45000"/>
            </a:srgbClr>
          </a:solidFill>
          <a:ln/>
        </p:spPr>
      </p:sp>
      <p:sp>
        <p:nvSpPr>
          <p:cNvPr id="3" name="Shape 1"/>
          <p:cNvSpPr/>
          <p:nvPr/>
        </p:nvSpPr>
        <p:spPr>
          <a:xfrm>
            <a:off x="9265615" y="4114800"/>
            <a:ext cx="5029200" cy="5029200"/>
          </a:xfrm>
          <a:prstGeom prst="ellipse">
            <a:avLst/>
          </a:prstGeom>
          <a:solidFill>
            <a:srgbClr val="3CAF73">
              <a:alpha val="30000"/>
            </a:srgbClr>
          </a:solidFill>
          <a:ln/>
        </p:spPr>
      </p:sp>
      <p:sp>
        <p:nvSpPr>
          <p:cNvPr id="4" name="Shape 2"/>
          <p:cNvSpPr/>
          <p:nvPr/>
        </p:nvSpPr>
        <p:spPr>
          <a:xfrm>
            <a:off x="10728655" y="822960"/>
            <a:ext cx="1005840" cy="1005840"/>
          </a:xfrm>
          <a:prstGeom prst="ellipse">
            <a:avLst/>
          </a:prstGeom>
          <a:solidFill>
            <a:srgbClr val="F6A026">
              <a:alpha val="80000"/>
            </a:srgbClr>
          </a:solidFill>
          <a:ln/>
        </p:spPr>
      </p:sp>
      <p:sp>
        <p:nvSpPr>
          <p:cNvPr id="5" name="Text 3"/>
          <p:cNvSpPr/>
          <p:nvPr/>
        </p:nvSpPr>
        <p:spPr>
          <a:xfrm>
            <a:off x="0" y="2331720"/>
            <a:ext cx="12191695" cy="457200"/>
          </a:xfrm>
          <a:prstGeom prst="rect">
            <a:avLst/>
          </a:prstGeom>
          <a:noFill/>
          <a:ln/>
        </p:spPr>
        <p:txBody>
          <a:bodyPr wrap="square" lIns="0" tIns="0" rIns="0" bIns="0" rtlCol="0" anchor="ctr"/>
          <a:lstStyle/>
          <a:p>
            <a:pPr algn="ctr" indent="0" marL="0">
              <a:buNone/>
            </a:pPr>
            <a:r>
              <a:rPr lang="en-US" sz="1500" b="1" spc="300" kern="0" dirty="0">
                <a:solidFill>
                  <a:srgbClr val="F6A026"/>
                </a:solidFill>
                <a:latin typeface="Poppins" pitchFamily="34" charset="0"/>
                <a:ea typeface="Poppins" pitchFamily="34" charset="-122"/>
                <a:cs typeface="Poppins" pitchFamily="34" charset="-120"/>
              </a:rPr>
              <a:t>SOUTENANCE DE MÉMOIRE</a:t>
            </a:r>
            <a:endParaRPr lang="en-US" sz="1500" dirty="0"/>
          </a:p>
        </p:txBody>
      </p:sp>
      <p:sp>
        <p:nvSpPr>
          <p:cNvPr id="6" name="Text 4"/>
          <p:cNvSpPr/>
          <p:nvPr/>
        </p:nvSpPr>
        <p:spPr>
          <a:xfrm>
            <a:off x="914400" y="2788920"/>
            <a:ext cx="10362895" cy="1737360"/>
          </a:xfrm>
          <a:prstGeom prst="rect">
            <a:avLst/>
          </a:prstGeom>
          <a:noFill/>
          <a:ln/>
        </p:spPr>
        <p:txBody>
          <a:bodyPr wrap="square" lIns="0" tIns="0" rIns="0" bIns="0" rtlCol="0" anchor="ctr"/>
          <a:lstStyle/>
          <a:p>
            <a:pPr algn="ctr" indent="0" marL="0">
              <a:lnSpc>
                <a:spcPct val="115000"/>
              </a:lnSpc>
              <a:buNone/>
            </a:pPr>
            <a:r>
              <a:rPr lang="en-US" sz="2800" b="1" dirty="0">
                <a:solidFill>
                  <a:srgbClr val="FFFFFF"/>
                </a:solidFill>
                <a:latin typeface="Montserrat" pitchFamily="34" charset="0"/>
                <a:ea typeface="Montserrat" pitchFamily="34" charset="-122"/>
                <a:cs typeface="Montserrat" pitchFamily="34" charset="-120"/>
              </a:rPr>
              <a:t>Conception et réalisation d'une plateforme web intégrée</a:t>
            </a:r>
            <a:endParaRPr lang="en-US" sz="2800" dirty="0"/>
          </a:p>
          <a:p>
            <a:pPr algn="ctr" indent="0" marL="0">
              <a:lnSpc>
                <a:spcPct val="115000"/>
              </a:lnSpc>
              <a:buNone/>
            </a:pPr>
            <a:r>
              <a:rPr lang="en-US" sz="2800" b="1" dirty="0">
                <a:solidFill>
                  <a:srgbClr val="FFFFFF"/>
                </a:solidFill>
                <a:latin typeface="Montserrat" pitchFamily="34" charset="0"/>
                <a:ea typeface="Montserrat" pitchFamily="34" charset="-122"/>
                <a:cs typeface="Montserrat" pitchFamily="34" charset="-120"/>
              </a:rPr>
              <a:t>de gestion et de promotion des actions sociales de l'ONG BUSOLA</a:t>
            </a:r>
            <a:endParaRPr lang="en-US" sz="2800" dirty="0"/>
          </a:p>
        </p:txBody>
      </p:sp>
      <p:sp>
        <p:nvSpPr>
          <p:cNvPr id="7" name="Shape 5"/>
          <p:cNvSpPr/>
          <p:nvPr/>
        </p:nvSpPr>
        <p:spPr>
          <a:xfrm>
            <a:off x="5547208" y="4709160"/>
            <a:ext cx="1097280" cy="41148"/>
          </a:xfrm>
          <a:prstGeom prst="rect">
            <a:avLst/>
          </a:prstGeom>
          <a:solidFill>
            <a:srgbClr val="F6A026"/>
          </a:solidFill>
          <a:ln/>
        </p:spPr>
      </p:sp>
      <p:sp>
        <p:nvSpPr>
          <p:cNvPr id="8" name="Text 6"/>
          <p:cNvSpPr/>
          <p:nvPr/>
        </p:nvSpPr>
        <p:spPr>
          <a:xfrm>
            <a:off x="914400" y="4892040"/>
            <a:ext cx="10362895" cy="457200"/>
          </a:xfrm>
          <a:prstGeom prst="rect">
            <a:avLst/>
          </a:prstGeom>
          <a:noFill/>
          <a:ln/>
        </p:spPr>
        <p:txBody>
          <a:bodyPr wrap="square" lIns="0" tIns="0" rIns="0" bIns="0" rtlCol="0" anchor="ctr"/>
          <a:lstStyle/>
          <a:p>
            <a:pPr algn="ctr" indent="0" marL="0">
              <a:buNone/>
            </a:pPr>
            <a:r>
              <a:rPr lang="en-US" sz="1300" dirty="0">
                <a:solidFill>
                  <a:srgbClr val="C7D6E8"/>
                </a:solidFill>
                <a:latin typeface="Poppins" pitchFamily="34" charset="0"/>
                <a:ea typeface="Poppins" pitchFamily="34" charset="-122"/>
                <a:cs typeface="Poppins" pitchFamily="34" charset="-120"/>
              </a:rPr>
              <a:t>En vue de l'obtention du diplôme de Licence Professionnelle — Informatique de Gestion</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417320"/>
          </a:xfrm>
          <a:prstGeom prst="rect">
            <a:avLst/>
          </a:prstGeom>
          <a:solidFill>
            <a:srgbClr val="133A61"/>
          </a:solidFill>
          <a:ln/>
        </p:spPr>
      </p:sp>
      <p:pic>
        <p:nvPicPr>
          <p:cNvPr id="3" name="Image 0" descr="assets/logo_busola.jpg">    </p:cNvPr>
          <p:cNvPicPr>
            <a:picLocks noChangeAspect="1"/>
          </p:cNvPicPr>
          <p:nvPr/>
        </p:nvPicPr>
        <p:blipFill>
          <a:blip r:embed="rId1"/>
          <a:stretch>
            <a:fillRect/>
          </a:stretch>
        </p:blipFill>
        <p:spPr>
          <a:xfrm>
            <a:off x="502920" y="292608"/>
            <a:ext cx="822960" cy="795528"/>
          </a:xfrm>
          <a:prstGeom prst="rect">
            <a:avLst/>
          </a:prstGeom>
        </p:spPr>
      </p:pic>
      <p:sp>
        <p:nvSpPr>
          <p:cNvPr id="4" name="Text 1"/>
          <p:cNvSpPr/>
          <p:nvPr/>
        </p:nvSpPr>
        <p:spPr>
          <a:xfrm>
            <a:off x="1554480" y="256032"/>
            <a:ext cx="7315200" cy="320040"/>
          </a:xfrm>
          <a:prstGeom prst="rect">
            <a:avLst/>
          </a:prstGeom>
          <a:noFill/>
          <a:ln/>
        </p:spPr>
        <p:txBody>
          <a:bodyPr wrap="square" lIns="0" tIns="0" rIns="0" bIns="0" rtlCol="0" anchor="ctr"/>
          <a:lstStyle/>
          <a:p>
            <a:pPr indent="0" marL="0">
              <a:buNone/>
            </a:pPr>
            <a:r>
              <a:rPr lang="en-US" sz="1400" b="1" dirty="0">
                <a:solidFill>
                  <a:srgbClr val="FFFFFF"/>
                </a:solidFill>
                <a:latin typeface="Poppins" pitchFamily="34" charset="0"/>
                <a:ea typeface="Poppins" pitchFamily="34" charset="-122"/>
                <a:cs typeface="Poppins" pitchFamily="34" charset="-120"/>
              </a:rPr>
              <a:t>RÉPUBLIQUE DU BÉNIN</a:t>
            </a:r>
            <a:endParaRPr lang="en-US" sz="1400" dirty="0"/>
          </a:p>
        </p:txBody>
      </p:sp>
      <p:sp>
        <p:nvSpPr>
          <p:cNvPr id="5" name="Text 2"/>
          <p:cNvSpPr/>
          <p:nvPr/>
        </p:nvSpPr>
        <p:spPr>
          <a:xfrm>
            <a:off x="1554480" y="566928"/>
            <a:ext cx="9601200" cy="274320"/>
          </a:xfrm>
          <a:prstGeom prst="rect">
            <a:avLst/>
          </a:prstGeom>
          <a:noFill/>
          <a:ln/>
        </p:spPr>
        <p:txBody>
          <a:bodyPr wrap="square" lIns="0" tIns="0" rIns="0" bIns="0" rtlCol="0" anchor="ctr"/>
          <a:lstStyle/>
          <a:p>
            <a:pPr indent="0" marL="0">
              <a:buNone/>
            </a:pPr>
            <a:r>
              <a:rPr lang="en-US" sz="1050" dirty="0">
                <a:solidFill>
                  <a:srgbClr val="C7D6E8"/>
                </a:solidFill>
                <a:latin typeface="Poppins" pitchFamily="34" charset="0"/>
                <a:ea typeface="Poppins" pitchFamily="34" charset="-122"/>
                <a:cs typeface="Poppins" pitchFamily="34" charset="-120"/>
              </a:rPr>
              <a:t>Ministère de l'Enseignement Supérieur et de la Recherche Scientifique (MESRS)</a:t>
            </a:r>
            <a:endParaRPr lang="en-US" sz="1050" dirty="0"/>
          </a:p>
        </p:txBody>
      </p:sp>
      <p:sp>
        <p:nvSpPr>
          <p:cNvPr id="6" name="Text 3"/>
          <p:cNvSpPr/>
          <p:nvPr/>
        </p:nvSpPr>
        <p:spPr>
          <a:xfrm>
            <a:off x="1554480" y="841248"/>
            <a:ext cx="9601200" cy="274320"/>
          </a:xfrm>
          <a:prstGeom prst="rect">
            <a:avLst/>
          </a:prstGeom>
          <a:noFill/>
          <a:ln/>
        </p:spPr>
        <p:txBody>
          <a:bodyPr wrap="square" lIns="0" tIns="0" rIns="0" bIns="0" rtlCol="0" anchor="ctr"/>
          <a:lstStyle/>
          <a:p>
            <a:pPr indent="0" marL="0">
              <a:buNone/>
            </a:pPr>
            <a:r>
              <a:rPr lang="en-US" sz="1050" dirty="0">
                <a:solidFill>
                  <a:srgbClr val="C7D6E8"/>
                </a:solidFill>
                <a:latin typeface="Poppins" pitchFamily="34" charset="0"/>
                <a:ea typeface="Poppins" pitchFamily="34" charset="-122"/>
                <a:cs typeface="Poppins" pitchFamily="34" charset="-120"/>
              </a:rPr>
              <a:t>Université de Parakou (UP) — Institut Universitaire de Technologie de Parakou (IUT)</a:t>
            </a:r>
            <a:endParaRPr lang="en-US" sz="1050" dirty="0"/>
          </a:p>
        </p:txBody>
      </p:sp>
      <p:sp>
        <p:nvSpPr>
          <p:cNvPr id="7" name="Text 4"/>
          <p:cNvSpPr/>
          <p:nvPr/>
        </p:nvSpPr>
        <p:spPr>
          <a:xfrm>
            <a:off x="548640" y="1783080"/>
            <a:ext cx="11064240" cy="365760"/>
          </a:xfrm>
          <a:prstGeom prst="rect">
            <a:avLst/>
          </a:prstGeom>
          <a:noFill/>
          <a:ln/>
        </p:spPr>
        <p:txBody>
          <a:bodyPr wrap="square" lIns="0" tIns="0" rIns="0" bIns="0" rtlCol="0" anchor="ctr"/>
          <a:lstStyle/>
          <a:p>
            <a:pPr algn="ctr" indent="0" marL="0">
              <a:buNone/>
            </a:pPr>
            <a:r>
              <a:rPr lang="en-US" sz="1200" b="1" spc="150" kern="0" dirty="0">
                <a:solidFill>
                  <a:srgbClr val="F6A026"/>
                </a:solidFill>
                <a:latin typeface="Poppins" pitchFamily="34" charset="0"/>
                <a:ea typeface="Poppins" pitchFamily="34" charset="-122"/>
                <a:cs typeface="Poppins" pitchFamily="34" charset="-120"/>
              </a:rPr>
              <a:t>MÉMOIRE DE FIN DE FORMATION EN LICENCE PROFESSIONNELLE</a:t>
            </a:r>
            <a:endParaRPr lang="en-US" sz="1200" dirty="0"/>
          </a:p>
        </p:txBody>
      </p:sp>
      <p:sp>
        <p:nvSpPr>
          <p:cNvPr id="8" name="Text 5"/>
          <p:cNvSpPr/>
          <p:nvPr/>
        </p:nvSpPr>
        <p:spPr>
          <a:xfrm>
            <a:off x="548640" y="2148840"/>
            <a:ext cx="11064240" cy="320040"/>
          </a:xfrm>
          <a:prstGeom prst="rect">
            <a:avLst/>
          </a:prstGeom>
          <a:noFill/>
          <a:ln/>
        </p:spPr>
        <p:txBody>
          <a:bodyPr wrap="square" lIns="0" tIns="0" rIns="0" bIns="0" rtlCol="0" anchor="ctr"/>
          <a:lstStyle/>
          <a:p>
            <a:pPr algn="ctr" indent="0" marL="0">
              <a:buNone/>
            </a:pPr>
            <a:r>
              <a:rPr lang="en-US" sz="1100" i="1" dirty="0">
                <a:solidFill>
                  <a:srgbClr val="5B6472"/>
                </a:solidFill>
                <a:latin typeface="Poppins" pitchFamily="34" charset="0"/>
                <a:ea typeface="Poppins" pitchFamily="34" charset="-122"/>
                <a:cs typeface="Poppins" pitchFamily="34" charset="-120"/>
              </a:rPr>
              <a:t>23ème Promotion  •  Domaine : Gestion  •  Spécialité : Informatique de Gestion</a:t>
            </a:r>
            <a:endParaRPr lang="en-US" sz="1100" dirty="0"/>
          </a:p>
        </p:txBody>
      </p:sp>
      <p:sp>
        <p:nvSpPr>
          <p:cNvPr id="9" name="Shape 6"/>
          <p:cNvSpPr/>
          <p:nvPr/>
        </p:nvSpPr>
        <p:spPr>
          <a:xfrm>
            <a:off x="1097280" y="2697480"/>
            <a:ext cx="9994392" cy="1600200"/>
          </a:xfrm>
          <a:prstGeom prst="roundRect">
            <a:avLst>
              <a:gd name="adj" fmla="val 6857"/>
            </a:avLst>
          </a:prstGeom>
          <a:solidFill>
            <a:srgbClr val="F2F6FB"/>
          </a:solidFill>
          <a:ln/>
        </p:spPr>
      </p:sp>
      <p:sp>
        <p:nvSpPr>
          <p:cNvPr id="10" name="Text 7"/>
          <p:cNvSpPr/>
          <p:nvPr/>
        </p:nvSpPr>
        <p:spPr>
          <a:xfrm>
            <a:off x="1417320" y="2834640"/>
            <a:ext cx="2743200" cy="274320"/>
          </a:xfrm>
          <a:prstGeom prst="rect">
            <a:avLst/>
          </a:prstGeom>
          <a:noFill/>
          <a:ln/>
        </p:spPr>
        <p:txBody>
          <a:bodyPr wrap="square" lIns="0" tIns="0" rIns="0" bIns="0" rtlCol="0" anchor="ctr"/>
          <a:lstStyle/>
          <a:p>
            <a:pPr indent="0" marL="0">
              <a:buNone/>
            </a:pPr>
            <a:r>
              <a:rPr lang="en-US" sz="1100" b="1" spc="200" kern="0" dirty="0">
                <a:solidFill>
                  <a:srgbClr val="2764AE"/>
                </a:solidFill>
                <a:latin typeface="Poppins" pitchFamily="34" charset="0"/>
                <a:ea typeface="Poppins" pitchFamily="34" charset="-122"/>
                <a:cs typeface="Poppins" pitchFamily="34" charset="-120"/>
              </a:rPr>
              <a:t>THÈME</a:t>
            </a:r>
            <a:endParaRPr lang="en-US" sz="1100" dirty="0"/>
          </a:p>
        </p:txBody>
      </p:sp>
      <p:sp>
        <p:nvSpPr>
          <p:cNvPr id="11" name="Text 8"/>
          <p:cNvSpPr/>
          <p:nvPr/>
        </p:nvSpPr>
        <p:spPr>
          <a:xfrm>
            <a:off x="1417320" y="3108960"/>
            <a:ext cx="9326880" cy="1097280"/>
          </a:xfrm>
          <a:prstGeom prst="rect">
            <a:avLst/>
          </a:prstGeom>
          <a:noFill/>
          <a:ln/>
        </p:spPr>
        <p:txBody>
          <a:bodyPr wrap="square" lIns="0" tIns="0" rIns="0" bIns="0" rtlCol="0" anchor="ctr"/>
          <a:lstStyle/>
          <a:p>
            <a:pPr indent="0" marL="0">
              <a:lnSpc>
                <a:spcPct val="115000"/>
              </a:lnSpc>
              <a:buNone/>
            </a:pPr>
            <a:r>
              <a:rPr lang="en-US" sz="1800" b="1" dirty="0">
                <a:solidFill>
                  <a:srgbClr val="133A61"/>
                </a:solidFill>
                <a:latin typeface="Montserrat" pitchFamily="34" charset="0"/>
                <a:ea typeface="Montserrat" pitchFamily="34" charset="-122"/>
                <a:cs typeface="Montserrat" pitchFamily="34" charset="-120"/>
              </a:rPr>
              <a:t>Conception et réalisation d'une plateforme web intégrée de gestion et de</a:t>
            </a:r>
            <a:endParaRPr lang="en-US" sz="1800" dirty="0"/>
          </a:p>
          <a:p>
            <a:pPr indent="0" marL="0">
              <a:lnSpc>
                <a:spcPct val="115000"/>
              </a:lnSpc>
              <a:buNone/>
            </a:pPr>
            <a:r>
              <a:rPr lang="en-US" sz="1800" b="1" dirty="0">
                <a:solidFill>
                  <a:srgbClr val="133A61"/>
                </a:solidFill>
                <a:latin typeface="Montserrat" pitchFamily="34" charset="0"/>
                <a:ea typeface="Montserrat" pitchFamily="34" charset="-122"/>
                <a:cs typeface="Montserrat" pitchFamily="34" charset="-120"/>
              </a:rPr>
              <a:t>promotion des actions sociales de l'ONG BUSOLA</a:t>
            </a:r>
            <a:endParaRPr lang="en-US" sz="1800" dirty="0"/>
          </a:p>
        </p:txBody>
      </p:sp>
      <p:sp>
        <p:nvSpPr>
          <p:cNvPr id="12" name="Text 9"/>
          <p:cNvSpPr/>
          <p:nvPr/>
        </p:nvSpPr>
        <p:spPr>
          <a:xfrm>
            <a:off x="1097280" y="4526280"/>
            <a:ext cx="2743200" cy="274320"/>
          </a:xfrm>
          <a:prstGeom prst="rect">
            <a:avLst/>
          </a:prstGeom>
          <a:noFill/>
          <a:ln/>
        </p:spPr>
        <p:txBody>
          <a:bodyPr wrap="square" lIns="0" tIns="0" rIns="0" bIns="0" rtlCol="0" anchor="ctr"/>
          <a:lstStyle/>
          <a:p>
            <a:pPr indent="0" marL="0">
              <a:buNone/>
            </a:pPr>
            <a:r>
              <a:rPr lang="en-US" sz="1100" dirty="0">
                <a:solidFill>
                  <a:srgbClr val="5B6472"/>
                </a:solidFill>
                <a:latin typeface="Poppins" pitchFamily="34" charset="0"/>
                <a:ea typeface="Poppins" pitchFamily="34" charset="-122"/>
                <a:cs typeface="Poppins" pitchFamily="34" charset="-120"/>
              </a:rPr>
              <a:t>Réalisé par :</a:t>
            </a:r>
            <a:endParaRPr lang="en-US" sz="1100" dirty="0"/>
          </a:p>
        </p:txBody>
      </p:sp>
      <p:sp>
        <p:nvSpPr>
          <p:cNvPr id="13" name="Text 10"/>
          <p:cNvSpPr/>
          <p:nvPr/>
        </p:nvSpPr>
        <p:spPr>
          <a:xfrm>
            <a:off x="1097280" y="4800600"/>
            <a:ext cx="7315200" cy="365760"/>
          </a:xfrm>
          <a:prstGeom prst="rect">
            <a:avLst/>
          </a:prstGeom>
          <a:noFill/>
          <a:ln/>
        </p:spPr>
        <p:txBody>
          <a:bodyPr wrap="square" lIns="0" tIns="0" rIns="0" bIns="0" rtlCol="0" anchor="ctr"/>
          <a:lstStyle/>
          <a:p>
            <a:pPr indent="0" marL="0">
              <a:buNone/>
            </a:pPr>
            <a:r>
              <a:rPr lang="en-US" sz="1600" b="1" dirty="0">
                <a:solidFill>
                  <a:srgbClr val="133A61"/>
                </a:solidFill>
                <a:latin typeface="Montserrat" pitchFamily="34" charset="0"/>
                <a:ea typeface="Montserrat" pitchFamily="34" charset="-122"/>
                <a:cs typeface="Montserrat" pitchFamily="34" charset="-120"/>
              </a:rPr>
              <a:t>Bhilal CHITOU  &amp;  Jolidon HOUNGUE</a:t>
            </a:r>
            <a:endParaRPr lang="en-US" sz="1600" dirty="0"/>
          </a:p>
        </p:txBody>
      </p:sp>
      <p:sp>
        <p:nvSpPr>
          <p:cNvPr id="14" name="Shape 11"/>
          <p:cNvSpPr/>
          <p:nvPr/>
        </p:nvSpPr>
        <p:spPr>
          <a:xfrm>
            <a:off x="1097280" y="5349240"/>
            <a:ext cx="9994392" cy="0"/>
          </a:xfrm>
          <a:prstGeom prst="line">
            <a:avLst/>
          </a:prstGeom>
          <a:noFill/>
          <a:ln w="12700">
            <a:solidFill>
              <a:srgbClr val="DCE4EE"/>
            </a:solidFill>
            <a:prstDash val="solid"/>
          </a:ln>
        </p:spPr>
      </p:sp>
      <p:sp>
        <p:nvSpPr>
          <p:cNvPr id="15" name="Text 12"/>
          <p:cNvSpPr/>
          <p:nvPr/>
        </p:nvSpPr>
        <p:spPr>
          <a:xfrm>
            <a:off x="1097280" y="5486400"/>
            <a:ext cx="4754880" cy="274320"/>
          </a:xfrm>
          <a:prstGeom prst="rect">
            <a:avLst/>
          </a:prstGeom>
          <a:noFill/>
          <a:ln/>
        </p:spPr>
        <p:txBody>
          <a:bodyPr wrap="square" lIns="0" tIns="0" rIns="0" bIns="0" rtlCol="0" anchor="ctr"/>
          <a:lstStyle/>
          <a:p>
            <a:pPr indent="0" marL="0">
              <a:buNone/>
            </a:pPr>
            <a:r>
              <a:rPr lang="en-US" sz="1000" b="1" spc="150" kern="0" dirty="0">
                <a:solidFill>
                  <a:srgbClr val="F6A026"/>
                </a:solidFill>
                <a:latin typeface="Poppins" pitchFamily="34" charset="0"/>
                <a:ea typeface="Poppins" pitchFamily="34" charset="-122"/>
                <a:cs typeface="Poppins" pitchFamily="34" charset="-120"/>
              </a:rPr>
              <a:t>MAÎTRE DE STAGE</a:t>
            </a:r>
            <a:endParaRPr lang="en-US" sz="1000" dirty="0"/>
          </a:p>
        </p:txBody>
      </p:sp>
      <p:sp>
        <p:nvSpPr>
          <p:cNvPr id="16" name="Text 13"/>
          <p:cNvSpPr/>
          <p:nvPr/>
        </p:nvSpPr>
        <p:spPr>
          <a:xfrm>
            <a:off x="1097280" y="5760720"/>
            <a:ext cx="4754880" cy="548640"/>
          </a:xfrm>
          <a:prstGeom prst="rect">
            <a:avLst/>
          </a:prstGeom>
          <a:noFill/>
          <a:ln/>
        </p:spPr>
        <p:txBody>
          <a:bodyPr wrap="square" lIns="0" tIns="0" rIns="0" bIns="0" rtlCol="0" anchor="ctr"/>
          <a:lstStyle/>
          <a:p>
            <a:pPr indent="0" marL="0">
              <a:lnSpc>
                <a:spcPct val="120000"/>
              </a:lnSpc>
              <a:buNone/>
            </a:pPr>
            <a:r>
              <a:rPr lang="en-US" sz="1250" dirty="0">
                <a:solidFill>
                  <a:srgbClr val="1E2430"/>
                </a:solidFill>
                <a:latin typeface="Poppins" pitchFamily="34" charset="0"/>
                <a:ea typeface="Poppins" pitchFamily="34" charset="-122"/>
                <a:cs typeface="Poppins" pitchFamily="34" charset="-120"/>
              </a:rPr>
              <a:t>Fadel KASSALI</a:t>
            </a:r>
            <a:endParaRPr lang="en-US" sz="1250" dirty="0"/>
          </a:p>
          <a:p>
            <a:pPr indent="0" marL="0">
              <a:lnSpc>
                <a:spcPct val="120000"/>
              </a:lnSpc>
              <a:buNone/>
            </a:pPr>
            <a:r>
              <a:rPr lang="en-US" sz="1250" dirty="0">
                <a:solidFill>
                  <a:srgbClr val="1E2430"/>
                </a:solidFill>
                <a:latin typeface="Poppins" pitchFamily="34" charset="0"/>
                <a:ea typeface="Poppins" pitchFamily="34" charset="-122"/>
                <a:cs typeface="Poppins" pitchFamily="34" charset="-120"/>
              </a:rPr>
              <a:t>Gérauld KAKI</a:t>
            </a:r>
            <a:endParaRPr lang="en-US" sz="1250" dirty="0"/>
          </a:p>
        </p:txBody>
      </p:sp>
      <p:sp>
        <p:nvSpPr>
          <p:cNvPr id="17" name="Text 14"/>
          <p:cNvSpPr/>
          <p:nvPr/>
        </p:nvSpPr>
        <p:spPr>
          <a:xfrm>
            <a:off x="6217920" y="5486400"/>
            <a:ext cx="4754880" cy="274320"/>
          </a:xfrm>
          <a:prstGeom prst="rect">
            <a:avLst/>
          </a:prstGeom>
          <a:noFill/>
          <a:ln/>
        </p:spPr>
        <p:txBody>
          <a:bodyPr wrap="square" lIns="0" tIns="0" rIns="0" bIns="0" rtlCol="0" anchor="ctr"/>
          <a:lstStyle/>
          <a:p>
            <a:pPr indent="0" marL="0">
              <a:buNone/>
            </a:pPr>
            <a:r>
              <a:rPr lang="en-US" sz="1000" b="1" spc="150" kern="0" dirty="0">
                <a:solidFill>
                  <a:srgbClr val="F6A026"/>
                </a:solidFill>
                <a:latin typeface="Poppins" pitchFamily="34" charset="0"/>
                <a:ea typeface="Poppins" pitchFamily="34" charset="-122"/>
                <a:cs typeface="Poppins" pitchFamily="34" charset="-120"/>
              </a:rPr>
              <a:t>MAÎTRE DE MÉMOIRE</a:t>
            </a:r>
            <a:endParaRPr lang="en-US" sz="1000" dirty="0"/>
          </a:p>
        </p:txBody>
      </p:sp>
      <p:sp>
        <p:nvSpPr>
          <p:cNvPr id="18" name="Text 15"/>
          <p:cNvSpPr/>
          <p:nvPr/>
        </p:nvSpPr>
        <p:spPr>
          <a:xfrm>
            <a:off x="6217920" y="5760720"/>
            <a:ext cx="4754880" cy="548640"/>
          </a:xfrm>
          <a:prstGeom prst="rect">
            <a:avLst/>
          </a:prstGeom>
          <a:noFill/>
          <a:ln/>
        </p:spPr>
        <p:txBody>
          <a:bodyPr wrap="square" lIns="0" tIns="0" rIns="0" bIns="0" rtlCol="0" anchor="ctr"/>
          <a:lstStyle/>
          <a:p>
            <a:pPr indent="0" marL="0">
              <a:lnSpc>
                <a:spcPct val="120000"/>
              </a:lnSpc>
              <a:buNone/>
            </a:pPr>
            <a:r>
              <a:rPr lang="en-US" sz="1250" dirty="0">
                <a:solidFill>
                  <a:srgbClr val="1E2430"/>
                </a:solidFill>
                <a:latin typeface="Poppins" pitchFamily="34" charset="0"/>
                <a:ea typeface="Poppins" pitchFamily="34" charset="-122"/>
                <a:cs typeface="Poppins" pitchFamily="34" charset="-120"/>
              </a:rPr>
              <a:t>Dr Meton Meton ATINDEHOU</a:t>
            </a:r>
            <a:endParaRPr lang="en-US" sz="1250" dirty="0"/>
          </a:p>
          <a:p>
            <a:pPr indent="0" marL="0">
              <a:lnSpc>
                <a:spcPct val="120000"/>
              </a:lnSpc>
              <a:buNone/>
            </a:pPr>
            <a:r>
              <a:rPr lang="en-US" sz="1250" dirty="0">
                <a:solidFill>
                  <a:srgbClr val="1E2430"/>
                </a:solidFill>
                <a:latin typeface="Poppins" pitchFamily="34" charset="0"/>
                <a:ea typeface="Poppins" pitchFamily="34" charset="-122"/>
                <a:cs typeface="Poppins" pitchFamily="34" charset="-120"/>
              </a:rPr>
              <a:t>Enseignant à l'IUT Parakou</a:t>
            </a:r>
            <a:endParaRPr lang="en-US" sz="1250" dirty="0"/>
          </a:p>
        </p:txBody>
      </p:sp>
      <p:sp>
        <p:nvSpPr>
          <p:cNvPr id="19" name="Shape 16"/>
          <p:cNvSpPr/>
          <p:nvPr/>
        </p:nvSpPr>
        <p:spPr>
          <a:xfrm>
            <a:off x="11624767" y="6345936"/>
            <a:ext cx="310896" cy="310896"/>
          </a:xfrm>
          <a:prstGeom prst="ellipse">
            <a:avLst/>
          </a:prstGeom>
          <a:solidFill>
            <a:srgbClr val="2764AE"/>
          </a:solidFill>
          <a:ln/>
        </p:spPr>
      </p:sp>
      <p:sp>
        <p:nvSpPr>
          <p:cNvPr id="20" name="Text 17"/>
          <p:cNvSpPr/>
          <p:nvPr/>
        </p:nvSpPr>
        <p:spPr>
          <a:xfrm>
            <a:off x="11624767" y="6345936"/>
            <a:ext cx="310896" cy="310896"/>
          </a:xfrm>
          <a:prstGeom prst="rect">
            <a:avLst/>
          </a:prstGeom>
          <a:noFill/>
          <a:ln/>
        </p:spPr>
        <p:txBody>
          <a:bodyPr wrap="square" lIns="0" tIns="0" rIns="0" bIns="0" rtlCol="0" anchor="ctr"/>
          <a:lstStyle/>
          <a:p>
            <a:pPr algn="ctr" indent="0" marL="0">
              <a:buNone/>
            </a:pPr>
            <a:r>
              <a:rPr lang="en-US" sz="1000" b="1" dirty="0">
                <a:solidFill>
                  <a:srgbClr val="FFFFFF"/>
                </a:solidFill>
                <a:latin typeface="Poppins" pitchFamily="34" charset="0"/>
                <a:ea typeface="Poppins" pitchFamily="34" charset="-122"/>
                <a:cs typeface="Poppins" pitchFamily="34" charset="-120"/>
              </a:rPr>
              <a:t>2</a:t>
            </a:r>
            <a:endParaRPr lang="en-US" sz="1000" dirty="0"/>
          </a:p>
        </p:txBody>
      </p:sp>
      <p:sp>
        <p:nvSpPr>
          <p:cNvPr id="21" name="Text 18"/>
          <p:cNvSpPr/>
          <p:nvPr/>
        </p:nvSpPr>
        <p:spPr>
          <a:xfrm>
            <a:off x="457200" y="6437376"/>
            <a:ext cx="5486400" cy="274320"/>
          </a:xfrm>
          <a:prstGeom prst="rect">
            <a:avLst/>
          </a:prstGeom>
          <a:noFill/>
          <a:ln/>
        </p:spPr>
        <p:txBody>
          <a:bodyPr wrap="square" lIns="0" tIns="0" rIns="0" bIns="0" rtlCol="0" anchor="ctr"/>
          <a:lstStyle/>
          <a:p>
            <a:pPr indent="0" marL="0">
              <a:buNone/>
            </a:pPr>
            <a:r>
              <a:rPr lang="en-US" sz="850" dirty="0">
                <a:solidFill>
                  <a:srgbClr val="5B6472"/>
                </a:solidFill>
                <a:latin typeface="Poppins" pitchFamily="34" charset="0"/>
                <a:ea typeface="Poppins" pitchFamily="34" charset="-122"/>
                <a:cs typeface="Poppins" pitchFamily="34" charset="-120"/>
              </a:rPr>
              <a:t>PLATEFORME WEB ONG BUSOLA</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4206240" cy="6858000"/>
          </a:xfrm>
          <a:prstGeom prst="rect">
            <a:avLst/>
          </a:prstGeom>
          <a:solidFill>
            <a:srgbClr val="133A61"/>
          </a:solidFill>
          <a:ln/>
        </p:spPr>
      </p:sp>
      <p:sp>
        <p:nvSpPr>
          <p:cNvPr id="3" name="Shape 1"/>
          <p:cNvSpPr/>
          <p:nvPr/>
        </p:nvSpPr>
        <p:spPr>
          <a:xfrm>
            <a:off x="-1463040" y="4846320"/>
            <a:ext cx="3657600" cy="3657600"/>
          </a:xfrm>
          <a:prstGeom prst="ellipse">
            <a:avLst/>
          </a:prstGeom>
          <a:solidFill>
            <a:srgbClr val="2764AE">
              <a:alpha val="45000"/>
            </a:srgbClr>
          </a:solidFill>
          <a:ln/>
        </p:spPr>
      </p:sp>
      <p:sp>
        <p:nvSpPr>
          <p:cNvPr id="4" name="Text 2"/>
          <p:cNvSpPr/>
          <p:nvPr/>
        </p:nvSpPr>
        <p:spPr>
          <a:xfrm>
            <a:off x="502920" y="2606040"/>
            <a:ext cx="3291840" cy="365760"/>
          </a:xfrm>
          <a:prstGeom prst="rect">
            <a:avLst/>
          </a:prstGeom>
          <a:noFill/>
          <a:ln/>
        </p:spPr>
        <p:txBody>
          <a:bodyPr wrap="square" lIns="0" tIns="0" rIns="0" bIns="0" rtlCol="0" anchor="ctr"/>
          <a:lstStyle/>
          <a:p>
            <a:pPr indent="0" marL="0">
              <a:buNone/>
            </a:pPr>
            <a:r>
              <a:rPr lang="en-US" sz="1300" b="1" spc="200" kern="0" dirty="0">
                <a:solidFill>
                  <a:srgbClr val="F6A026"/>
                </a:solidFill>
                <a:latin typeface="Poppins" pitchFamily="34" charset="0"/>
                <a:ea typeface="Poppins" pitchFamily="34" charset="-122"/>
                <a:cs typeface="Poppins" pitchFamily="34" charset="-120"/>
              </a:rPr>
              <a:t>SOMMAIRE</a:t>
            </a:r>
            <a:endParaRPr lang="en-US" sz="1300" dirty="0"/>
          </a:p>
        </p:txBody>
      </p:sp>
      <p:sp>
        <p:nvSpPr>
          <p:cNvPr id="5" name="Text 3"/>
          <p:cNvSpPr/>
          <p:nvPr/>
        </p:nvSpPr>
        <p:spPr>
          <a:xfrm>
            <a:off x="502920" y="2971800"/>
            <a:ext cx="3291840" cy="1463040"/>
          </a:xfrm>
          <a:prstGeom prst="rect">
            <a:avLst/>
          </a:prstGeom>
          <a:noFill/>
          <a:ln/>
        </p:spPr>
        <p:txBody>
          <a:bodyPr wrap="square" lIns="0" tIns="0" rIns="0" bIns="0" rtlCol="0" anchor="ctr"/>
          <a:lstStyle/>
          <a:p>
            <a:pPr indent="0" marL="0">
              <a:lnSpc>
                <a:spcPct val="110000"/>
              </a:lnSpc>
              <a:buNone/>
            </a:pPr>
            <a:r>
              <a:rPr lang="en-US" sz="3000" b="1" dirty="0">
                <a:solidFill>
                  <a:srgbClr val="FFFFFF"/>
                </a:solidFill>
                <a:latin typeface="Montserrat" pitchFamily="34" charset="0"/>
                <a:ea typeface="Montserrat" pitchFamily="34" charset="-122"/>
                <a:cs typeface="Montserrat" pitchFamily="34" charset="-120"/>
              </a:rPr>
              <a:t>Plan de la</a:t>
            </a:r>
            <a:endParaRPr lang="en-US" sz="3000" dirty="0"/>
          </a:p>
          <a:p>
            <a:pPr indent="0" marL="0">
              <a:lnSpc>
                <a:spcPct val="110000"/>
              </a:lnSpc>
              <a:buNone/>
            </a:pPr>
            <a:r>
              <a:rPr lang="en-US" sz="3000" b="1" dirty="0">
                <a:solidFill>
                  <a:srgbClr val="FFFFFF"/>
                </a:solidFill>
                <a:latin typeface="Montserrat" pitchFamily="34" charset="0"/>
                <a:ea typeface="Montserrat" pitchFamily="34" charset="-122"/>
                <a:cs typeface="Montserrat" pitchFamily="34" charset="-120"/>
              </a:rPr>
              <a:t>présentation</a:t>
            </a:r>
            <a:endParaRPr lang="en-US" sz="3000" dirty="0"/>
          </a:p>
        </p:txBody>
      </p:sp>
      <p:sp>
        <p:nvSpPr>
          <p:cNvPr id="6" name="Text 4"/>
          <p:cNvSpPr/>
          <p:nvPr/>
        </p:nvSpPr>
        <p:spPr>
          <a:xfrm>
            <a:off x="4617720" y="685800"/>
            <a:ext cx="868680" cy="795528"/>
          </a:xfrm>
          <a:prstGeom prst="rect">
            <a:avLst/>
          </a:prstGeom>
          <a:noFill/>
          <a:ln/>
        </p:spPr>
        <p:txBody>
          <a:bodyPr wrap="square" lIns="0" tIns="0" rIns="0" bIns="0" rtlCol="0" anchor="ctr"/>
          <a:lstStyle/>
          <a:p>
            <a:pPr indent="0" marL="0">
              <a:buNone/>
            </a:pPr>
            <a:r>
              <a:rPr lang="en-US" sz="2600" b="1" dirty="0">
                <a:solidFill>
                  <a:srgbClr val="F6A026"/>
                </a:solidFill>
                <a:latin typeface="Montserrat" pitchFamily="34" charset="0"/>
                <a:ea typeface="Montserrat" pitchFamily="34" charset="-122"/>
                <a:cs typeface="Montserrat" pitchFamily="34" charset="-120"/>
              </a:rPr>
              <a:t>01</a:t>
            </a:r>
            <a:endParaRPr lang="en-US" sz="2600" dirty="0"/>
          </a:p>
        </p:txBody>
      </p:sp>
      <p:sp>
        <p:nvSpPr>
          <p:cNvPr id="7" name="Text 5"/>
          <p:cNvSpPr/>
          <p:nvPr/>
        </p:nvSpPr>
        <p:spPr>
          <a:xfrm>
            <a:off x="5532120" y="685800"/>
            <a:ext cx="6126480" cy="795528"/>
          </a:xfrm>
          <a:prstGeom prst="rect">
            <a:avLst/>
          </a:prstGeom>
          <a:noFill/>
          <a:ln/>
        </p:spPr>
        <p:txBody>
          <a:bodyPr wrap="square" lIns="0" tIns="0" rIns="0" bIns="0" rtlCol="0" anchor="ctr"/>
          <a:lstStyle/>
          <a:p>
            <a:pPr indent="0" marL="0">
              <a:buNone/>
            </a:pPr>
            <a:r>
              <a:rPr lang="en-US" sz="1600" b="1" dirty="0">
                <a:solidFill>
                  <a:srgbClr val="133A61"/>
                </a:solidFill>
                <a:latin typeface="Poppins" pitchFamily="34" charset="0"/>
                <a:ea typeface="Poppins" pitchFamily="34" charset="-122"/>
                <a:cs typeface="Poppins" pitchFamily="34" charset="-120"/>
              </a:rPr>
              <a:t>Présentation du lieu de stage</a:t>
            </a:r>
            <a:endParaRPr lang="en-US" sz="1600" dirty="0"/>
          </a:p>
        </p:txBody>
      </p:sp>
      <p:sp>
        <p:nvSpPr>
          <p:cNvPr id="8" name="Shape 6"/>
          <p:cNvSpPr/>
          <p:nvPr/>
        </p:nvSpPr>
        <p:spPr>
          <a:xfrm>
            <a:off x="4617720" y="1527048"/>
            <a:ext cx="7040880" cy="0"/>
          </a:xfrm>
          <a:prstGeom prst="line">
            <a:avLst/>
          </a:prstGeom>
          <a:noFill/>
          <a:ln w="12700">
            <a:solidFill>
              <a:srgbClr val="E4EAF1"/>
            </a:solidFill>
            <a:prstDash val="solid"/>
          </a:ln>
        </p:spPr>
      </p:sp>
      <p:sp>
        <p:nvSpPr>
          <p:cNvPr id="9" name="Text 7"/>
          <p:cNvSpPr/>
          <p:nvPr/>
        </p:nvSpPr>
        <p:spPr>
          <a:xfrm>
            <a:off x="4617720" y="1618488"/>
            <a:ext cx="868680" cy="795528"/>
          </a:xfrm>
          <a:prstGeom prst="rect">
            <a:avLst/>
          </a:prstGeom>
          <a:noFill/>
          <a:ln/>
        </p:spPr>
        <p:txBody>
          <a:bodyPr wrap="square" lIns="0" tIns="0" rIns="0" bIns="0" rtlCol="0" anchor="ctr"/>
          <a:lstStyle/>
          <a:p>
            <a:pPr indent="0" marL="0">
              <a:buNone/>
            </a:pPr>
            <a:r>
              <a:rPr lang="en-US" sz="2600" b="1" dirty="0">
                <a:solidFill>
                  <a:srgbClr val="F6A026"/>
                </a:solidFill>
                <a:latin typeface="Montserrat" pitchFamily="34" charset="0"/>
                <a:ea typeface="Montserrat" pitchFamily="34" charset="-122"/>
                <a:cs typeface="Montserrat" pitchFamily="34" charset="-120"/>
              </a:rPr>
              <a:t>02</a:t>
            </a:r>
            <a:endParaRPr lang="en-US" sz="2600" dirty="0"/>
          </a:p>
        </p:txBody>
      </p:sp>
      <p:sp>
        <p:nvSpPr>
          <p:cNvPr id="10" name="Text 8"/>
          <p:cNvSpPr/>
          <p:nvPr/>
        </p:nvSpPr>
        <p:spPr>
          <a:xfrm>
            <a:off x="5532120" y="1618488"/>
            <a:ext cx="6126480" cy="795528"/>
          </a:xfrm>
          <a:prstGeom prst="rect">
            <a:avLst/>
          </a:prstGeom>
          <a:noFill/>
          <a:ln/>
        </p:spPr>
        <p:txBody>
          <a:bodyPr wrap="square" lIns="0" tIns="0" rIns="0" bIns="0" rtlCol="0" anchor="ctr"/>
          <a:lstStyle/>
          <a:p>
            <a:pPr indent="0" marL="0">
              <a:buNone/>
            </a:pPr>
            <a:r>
              <a:rPr lang="en-US" sz="1600" b="1" dirty="0">
                <a:solidFill>
                  <a:srgbClr val="133A61"/>
                </a:solidFill>
                <a:latin typeface="Poppins" pitchFamily="34" charset="0"/>
                <a:ea typeface="Poppins" pitchFamily="34" charset="-122"/>
                <a:cs typeface="Poppins" pitchFamily="34" charset="-120"/>
              </a:rPr>
              <a:t>Étude de l'existant</a:t>
            </a:r>
            <a:endParaRPr lang="en-US" sz="1600" dirty="0"/>
          </a:p>
        </p:txBody>
      </p:sp>
      <p:sp>
        <p:nvSpPr>
          <p:cNvPr id="11" name="Shape 9"/>
          <p:cNvSpPr/>
          <p:nvPr/>
        </p:nvSpPr>
        <p:spPr>
          <a:xfrm>
            <a:off x="4617720" y="2459736"/>
            <a:ext cx="7040880" cy="0"/>
          </a:xfrm>
          <a:prstGeom prst="line">
            <a:avLst/>
          </a:prstGeom>
          <a:noFill/>
          <a:ln w="12700">
            <a:solidFill>
              <a:srgbClr val="E4EAF1"/>
            </a:solidFill>
            <a:prstDash val="solid"/>
          </a:ln>
        </p:spPr>
      </p:sp>
      <p:sp>
        <p:nvSpPr>
          <p:cNvPr id="12" name="Text 10"/>
          <p:cNvSpPr/>
          <p:nvPr/>
        </p:nvSpPr>
        <p:spPr>
          <a:xfrm>
            <a:off x="4617720" y="2551176"/>
            <a:ext cx="868680" cy="795528"/>
          </a:xfrm>
          <a:prstGeom prst="rect">
            <a:avLst/>
          </a:prstGeom>
          <a:noFill/>
          <a:ln/>
        </p:spPr>
        <p:txBody>
          <a:bodyPr wrap="square" lIns="0" tIns="0" rIns="0" bIns="0" rtlCol="0" anchor="ctr"/>
          <a:lstStyle/>
          <a:p>
            <a:pPr indent="0" marL="0">
              <a:buNone/>
            </a:pPr>
            <a:r>
              <a:rPr lang="en-US" sz="2600" b="1" dirty="0">
                <a:solidFill>
                  <a:srgbClr val="F6A026"/>
                </a:solidFill>
                <a:latin typeface="Montserrat" pitchFamily="34" charset="0"/>
                <a:ea typeface="Montserrat" pitchFamily="34" charset="-122"/>
                <a:cs typeface="Montserrat" pitchFamily="34" charset="-120"/>
              </a:rPr>
              <a:t>03</a:t>
            </a:r>
            <a:endParaRPr lang="en-US" sz="2600" dirty="0"/>
          </a:p>
        </p:txBody>
      </p:sp>
      <p:sp>
        <p:nvSpPr>
          <p:cNvPr id="13" name="Text 11"/>
          <p:cNvSpPr/>
          <p:nvPr/>
        </p:nvSpPr>
        <p:spPr>
          <a:xfrm>
            <a:off x="5532120" y="2551176"/>
            <a:ext cx="6126480" cy="795528"/>
          </a:xfrm>
          <a:prstGeom prst="rect">
            <a:avLst/>
          </a:prstGeom>
          <a:noFill/>
          <a:ln/>
        </p:spPr>
        <p:txBody>
          <a:bodyPr wrap="square" lIns="0" tIns="0" rIns="0" bIns="0" rtlCol="0" anchor="ctr"/>
          <a:lstStyle/>
          <a:p>
            <a:pPr indent="0" marL="0">
              <a:buNone/>
            </a:pPr>
            <a:r>
              <a:rPr lang="en-US" sz="1600" b="1" dirty="0">
                <a:solidFill>
                  <a:srgbClr val="133A61"/>
                </a:solidFill>
                <a:latin typeface="Poppins" pitchFamily="34" charset="0"/>
                <a:ea typeface="Poppins" pitchFamily="34" charset="-122"/>
                <a:cs typeface="Poppins" pitchFamily="34" charset="-120"/>
              </a:rPr>
              <a:t>Modélisation du système futur</a:t>
            </a:r>
            <a:endParaRPr lang="en-US" sz="1600" dirty="0"/>
          </a:p>
        </p:txBody>
      </p:sp>
      <p:sp>
        <p:nvSpPr>
          <p:cNvPr id="14" name="Shape 12"/>
          <p:cNvSpPr/>
          <p:nvPr/>
        </p:nvSpPr>
        <p:spPr>
          <a:xfrm>
            <a:off x="4617720" y="3392424"/>
            <a:ext cx="7040880" cy="0"/>
          </a:xfrm>
          <a:prstGeom prst="line">
            <a:avLst/>
          </a:prstGeom>
          <a:noFill/>
          <a:ln w="12700">
            <a:solidFill>
              <a:srgbClr val="E4EAF1"/>
            </a:solidFill>
            <a:prstDash val="solid"/>
          </a:ln>
        </p:spPr>
      </p:sp>
      <p:sp>
        <p:nvSpPr>
          <p:cNvPr id="15" name="Text 13"/>
          <p:cNvSpPr/>
          <p:nvPr/>
        </p:nvSpPr>
        <p:spPr>
          <a:xfrm>
            <a:off x="4617720" y="3483864"/>
            <a:ext cx="868680" cy="795528"/>
          </a:xfrm>
          <a:prstGeom prst="rect">
            <a:avLst/>
          </a:prstGeom>
          <a:noFill/>
          <a:ln/>
        </p:spPr>
        <p:txBody>
          <a:bodyPr wrap="square" lIns="0" tIns="0" rIns="0" bIns="0" rtlCol="0" anchor="ctr"/>
          <a:lstStyle/>
          <a:p>
            <a:pPr indent="0" marL="0">
              <a:buNone/>
            </a:pPr>
            <a:r>
              <a:rPr lang="en-US" sz="2600" b="1" dirty="0">
                <a:solidFill>
                  <a:srgbClr val="F6A026"/>
                </a:solidFill>
                <a:latin typeface="Montserrat" pitchFamily="34" charset="0"/>
                <a:ea typeface="Montserrat" pitchFamily="34" charset="-122"/>
                <a:cs typeface="Montserrat" pitchFamily="34" charset="-120"/>
              </a:rPr>
              <a:t>04</a:t>
            </a:r>
            <a:endParaRPr lang="en-US" sz="2600" dirty="0"/>
          </a:p>
        </p:txBody>
      </p:sp>
      <p:sp>
        <p:nvSpPr>
          <p:cNvPr id="16" name="Text 14"/>
          <p:cNvSpPr/>
          <p:nvPr/>
        </p:nvSpPr>
        <p:spPr>
          <a:xfrm>
            <a:off x="5532120" y="3483864"/>
            <a:ext cx="6126480" cy="795528"/>
          </a:xfrm>
          <a:prstGeom prst="rect">
            <a:avLst/>
          </a:prstGeom>
          <a:noFill/>
          <a:ln/>
        </p:spPr>
        <p:txBody>
          <a:bodyPr wrap="square" lIns="0" tIns="0" rIns="0" bIns="0" rtlCol="0" anchor="ctr"/>
          <a:lstStyle/>
          <a:p>
            <a:pPr indent="0" marL="0">
              <a:buNone/>
            </a:pPr>
            <a:r>
              <a:rPr lang="en-US" sz="1600" b="1" dirty="0">
                <a:solidFill>
                  <a:srgbClr val="133A61"/>
                </a:solidFill>
                <a:latin typeface="Poppins" pitchFamily="34" charset="0"/>
                <a:ea typeface="Poppins" pitchFamily="34" charset="-122"/>
                <a:cs typeface="Poppins" pitchFamily="34" charset="-120"/>
              </a:rPr>
              <a:t>Mise en œuvre de l'application</a:t>
            </a:r>
            <a:endParaRPr lang="en-US" sz="1600" dirty="0"/>
          </a:p>
        </p:txBody>
      </p:sp>
      <p:sp>
        <p:nvSpPr>
          <p:cNvPr id="17" name="Shape 15"/>
          <p:cNvSpPr/>
          <p:nvPr/>
        </p:nvSpPr>
        <p:spPr>
          <a:xfrm>
            <a:off x="4617720" y="4325112"/>
            <a:ext cx="7040880" cy="0"/>
          </a:xfrm>
          <a:prstGeom prst="line">
            <a:avLst/>
          </a:prstGeom>
          <a:noFill/>
          <a:ln w="12700">
            <a:solidFill>
              <a:srgbClr val="E4EAF1"/>
            </a:solidFill>
            <a:prstDash val="solid"/>
          </a:ln>
        </p:spPr>
      </p:sp>
      <p:sp>
        <p:nvSpPr>
          <p:cNvPr id="18" name="Text 16"/>
          <p:cNvSpPr/>
          <p:nvPr/>
        </p:nvSpPr>
        <p:spPr>
          <a:xfrm>
            <a:off x="4617720" y="4416552"/>
            <a:ext cx="868680" cy="795528"/>
          </a:xfrm>
          <a:prstGeom prst="rect">
            <a:avLst/>
          </a:prstGeom>
          <a:noFill/>
          <a:ln/>
        </p:spPr>
        <p:txBody>
          <a:bodyPr wrap="square" lIns="0" tIns="0" rIns="0" bIns="0" rtlCol="0" anchor="ctr"/>
          <a:lstStyle/>
          <a:p>
            <a:pPr indent="0" marL="0">
              <a:buNone/>
            </a:pPr>
            <a:r>
              <a:rPr lang="en-US" sz="2600" b="1" dirty="0">
                <a:solidFill>
                  <a:srgbClr val="F6A026"/>
                </a:solidFill>
                <a:latin typeface="Montserrat" pitchFamily="34" charset="0"/>
                <a:ea typeface="Montserrat" pitchFamily="34" charset="-122"/>
                <a:cs typeface="Montserrat" pitchFamily="34" charset="-120"/>
              </a:rPr>
              <a:t>05</a:t>
            </a:r>
            <a:endParaRPr lang="en-US" sz="2600" dirty="0"/>
          </a:p>
        </p:txBody>
      </p:sp>
      <p:sp>
        <p:nvSpPr>
          <p:cNvPr id="19" name="Text 17"/>
          <p:cNvSpPr/>
          <p:nvPr/>
        </p:nvSpPr>
        <p:spPr>
          <a:xfrm>
            <a:off x="5532120" y="4416552"/>
            <a:ext cx="6126480" cy="795528"/>
          </a:xfrm>
          <a:prstGeom prst="rect">
            <a:avLst/>
          </a:prstGeom>
          <a:noFill/>
          <a:ln/>
        </p:spPr>
        <p:txBody>
          <a:bodyPr wrap="square" lIns="0" tIns="0" rIns="0" bIns="0" rtlCol="0" anchor="ctr"/>
          <a:lstStyle/>
          <a:p>
            <a:pPr indent="0" marL="0">
              <a:buNone/>
            </a:pPr>
            <a:r>
              <a:rPr lang="en-US" sz="1600" b="1" dirty="0">
                <a:solidFill>
                  <a:srgbClr val="133A61"/>
                </a:solidFill>
                <a:latin typeface="Poppins" pitchFamily="34" charset="0"/>
                <a:ea typeface="Poppins" pitchFamily="34" charset="-122"/>
                <a:cs typeface="Poppins" pitchFamily="34" charset="-120"/>
              </a:rPr>
              <a:t>Présentation de l'application &amp; tests</a:t>
            </a:r>
            <a:endParaRPr lang="en-US" sz="1600" dirty="0"/>
          </a:p>
        </p:txBody>
      </p:sp>
      <p:sp>
        <p:nvSpPr>
          <p:cNvPr id="20" name="Shape 18"/>
          <p:cNvSpPr/>
          <p:nvPr/>
        </p:nvSpPr>
        <p:spPr>
          <a:xfrm>
            <a:off x="4617720" y="5257800"/>
            <a:ext cx="7040880" cy="0"/>
          </a:xfrm>
          <a:prstGeom prst="line">
            <a:avLst/>
          </a:prstGeom>
          <a:noFill/>
          <a:ln w="12700">
            <a:solidFill>
              <a:srgbClr val="E4EAF1"/>
            </a:solidFill>
            <a:prstDash val="solid"/>
          </a:ln>
        </p:spPr>
      </p:sp>
      <p:sp>
        <p:nvSpPr>
          <p:cNvPr id="21" name="Text 19"/>
          <p:cNvSpPr/>
          <p:nvPr/>
        </p:nvSpPr>
        <p:spPr>
          <a:xfrm>
            <a:off x="4617720" y="5349240"/>
            <a:ext cx="868680" cy="795528"/>
          </a:xfrm>
          <a:prstGeom prst="rect">
            <a:avLst/>
          </a:prstGeom>
          <a:noFill/>
          <a:ln/>
        </p:spPr>
        <p:txBody>
          <a:bodyPr wrap="square" lIns="0" tIns="0" rIns="0" bIns="0" rtlCol="0" anchor="ctr"/>
          <a:lstStyle/>
          <a:p>
            <a:pPr indent="0" marL="0">
              <a:buNone/>
            </a:pPr>
            <a:endParaRPr lang="en-US" sz="2600" dirty="0"/>
          </a:p>
        </p:txBody>
      </p:sp>
      <p:sp>
        <p:nvSpPr>
          <p:cNvPr id="22" name="Text 20"/>
          <p:cNvSpPr/>
          <p:nvPr/>
        </p:nvSpPr>
        <p:spPr>
          <a:xfrm>
            <a:off x="5532120" y="5349240"/>
            <a:ext cx="6126480" cy="795528"/>
          </a:xfrm>
          <a:prstGeom prst="rect">
            <a:avLst/>
          </a:prstGeom>
          <a:noFill/>
          <a:ln/>
        </p:spPr>
        <p:txBody>
          <a:bodyPr wrap="square" lIns="0" tIns="0" rIns="0" bIns="0" rtlCol="0" anchor="ctr"/>
          <a:lstStyle/>
          <a:p>
            <a:pPr indent="0" marL="0">
              <a:buNone/>
            </a:pPr>
            <a:r>
              <a:rPr lang="en-US" sz="1600" b="1" dirty="0">
                <a:solidFill>
                  <a:srgbClr val="133A61"/>
                </a:solidFill>
                <a:latin typeface="Poppins" pitchFamily="34" charset="0"/>
                <a:ea typeface="Poppins" pitchFamily="34" charset="-122"/>
                <a:cs typeface="Poppins" pitchFamily="34" charset="-120"/>
              </a:rPr>
              <a:t>Conclusion &amp; perspectives</a:t>
            </a:r>
            <a:endParaRPr lang="en-US" sz="1600" dirty="0"/>
          </a:p>
        </p:txBody>
      </p:sp>
      <p:sp>
        <p:nvSpPr>
          <p:cNvPr id="23" name="Shape 21"/>
          <p:cNvSpPr/>
          <p:nvPr/>
        </p:nvSpPr>
        <p:spPr>
          <a:xfrm>
            <a:off x="11624767" y="6345936"/>
            <a:ext cx="310896" cy="310896"/>
          </a:xfrm>
          <a:prstGeom prst="ellipse">
            <a:avLst/>
          </a:prstGeom>
          <a:solidFill>
            <a:srgbClr val="2764AE"/>
          </a:solidFill>
          <a:ln/>
        </p:spPr>
      </p:sp>
      <p:sp>
        <p:nvSpPr>
          <p:cNvPr id="24" name="Text 22"/>
          <p:cNvSpPr/>
          <p:nvPr/>
        </p:nvSpPr>
        <p:spPr>
          <a:xfrm>
            <a:off x="11624767" y="6345936"/>
            <a:ext cx="310896" cy="310896"/>
          </a:xfrm>
          <a:prstGeom prst="rect">
            <a:avLst/>
          </a:prstGeom>
          <a:noFill/>
          <a:ln/>
        </p:spPr>
        <p:txBody>
          <a:bodyPr wrap="square" lIns="0" tIns="0" rIns="0" bIns="0" rtlCol="0" anchor="ctr"/>
          <a:lstStyle/>
          <a:p>
            <a:pPr algn="ctr" indent="0" marL="0">
              <a:buNone/>
            </a:pPr>
            <a:r>
              <a:rPr lang="en-US" sz="1000" b="1" dirty="0">
                <a:solidFill>
                  <a:srgbClr val="FFFFFF"/>
                </a:solidFill>
                <a:latin typeface="Poppins" pitchFamily="34" charset="0"/>
                <a:ea typeface="Poppins" pitchFamily="34" charset="-122"/>
                <a:cs typeface="Poppins" pitchFamily="34" charset="-120"/>
              </a:rPr>
              <a:t>3</a:t>
            </a:r>
            <a:endParaRPr lang="en-US" sz="1000" dirty="0"/>
          </a:p>
        </p:txBody>
      </p:sp>
      <p:sp>
        <p:nvSpPr>
          <p:cNvPr id="25" name="Text 23"/>
          <p:cNvSpPr/>
          <p:nvPr/>
        </p:nvSpPr>
        <p:spPr>
          <a:xfrm>
            <a:off x="457200" y="6437376"/>
            <a:ext cx="5486400" cy="274320"/>
          </a:xfrm>
          <a:prstGeom prst="rect">
            <a:avLst/>
          </a:prstGeom>
          <a:noFill/>
          <a:ln/>
        </p:spPr>
        <p:txBody>
          <a:bodyPr wrap="square" lIns="0" tIns="0" rIns="0" bIns="0" rtlCol="0" anchor="ctr"/>
          <a:lstStyle/>
          <a:p>
            <a:pPr indent="0" marL="0">
              <a:buNone/>
            </a:pPr>
            <a:r>
              <a:rPr lang="en-US" sz="850" dirty="0">
                <a:solidFill>
                  <a:srgbClr val="5B6472"/>
                </a:solidFill>
                <a:latin typeface="Poppins" pitchFamily="34" charset="0"/>
                <a:ea typeface="Poppins" pitchFamily="34" charset="-122"/>
                <a:cs typeface="Poppins" pitchFamily="34" charset="-120"/>
              </a:rPr>
              <a:t>PLATEFORME WEB ONG BUSOLA</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33A61"/>
        </a:solidFill>
      </p:bgPr>
    </p:bg>
    <p:spTree>
      <p:nvGrpSpPr>
        <p:cNvPr id="1" name=""/>
        <p:cNvGrpSpPr/>
        <p:nvPr/>
      </p:nvGrpSpPr>
      <p:grpSpPr>
        <a:xfrm>
          <a:off x="0" y="0"/>
          <a:ext cx="0" cy="0"/>
          <a:chOff x="0" y="0"/>
          <a:chExt cx="0" cy="0"/>
        </a:xfrm>
      </p:grpSpPr>
      <p:sp>
        <p:nvSpPr>
          <p:cNvPr id="2" name="Shape 0"/>
          <p:cNvSpPr/>
          <p:nvPr/>
        </p:nvSpPr>
        <p:spPr>
          <a:xfrm>
            <a:off x="9448495" y="-1828800"/>
            <a:ext cx="5486400" cy="5486400"/>
          </a:xfrm>
          <a:prstGeom prst="ellipse">
            <a:avLst/>
          </a:prstGeom>
          <a:solidFill>
            <a:srgbClr val="2764AE">
              <a:alpha val="45000"/>
            </a:srgbClr>
          </a:solidFill>
          <a:ln/>
        </p:spPr>
      </p:sp>
      <p:sp>
        <p:nvSpPr>
          <p:cNvPr id="3" name="Shape 1"/>
          <p:cNvSpPr/>
          <p:nvPr/>
        </p:nvSpPr>
        <p:spPr>
          <a:xfrm>
            <a:off x="-1828800" y="4663440"/>
            <a:ext cx="4572000" cy="4572000"/>
          </a:xfrm>
          <a:prstGeom prst="ellipse">
            <a:avLst/>
          </a:prstGeom>
          <a:solidFill>
            <a:srgbClr val="3CAF73">
              <a:alpha val="30000"/>
            </a:srgbClr>
          </a:solidFill>
          <a:ln/>
        </p:spPr>
      </p:sp>
      <p:sp>
        <p:nvSpPr>
          <p:cNvPr id="4" name="Text 2"/>
          <p:cNvSpPr/>
          <p:nvPr/>
        </p:nvSpPr>
        <p:spPr>
          <a:xfrm>
            <a:off x="822960" y="2331720"/>
            <a:ext cx="2743200" cy="1463040"/>
          </a:xfrm>
          <a:prstGeom prst="rect">
            <a:avLst/>
          </a:prstGeom>
          <a:noFill/>
          <a:ln/>
        </p:spPr>
        <p:txBody>
          <a:bodyPr wrap="square" lIns="0" tIns="0" rIns="0" bIns="0" rtlCol="0" anchor="ctr"/>
          <a:lstStyle/>
          <a:p>
            <a:pPr indent="0" marL="0">
              <a:buNone/>
            </a:pPr>
            <a:r>
              <a:rPr lang="en-US" sz="9000" b="1" dirty="0">
                <a:solidFill>
                  <a:srgbClr val="2E5F94"/>
                </a:solidFill>
                <a:latin typeface="Montserrat" pitchFamily="34" charset="0"/>
                <a:ea typeface="Montserrat" pitchFamily="34" charset="-122"/>
                <a:cs typeface="Montserrat" pitchFamily="34" charset="-120"/>
              </a:rPr>
              <a:t>I</a:t>
            </a:r>
            <a:endParaRPr lang="en-US" sz="9000" dirty="0"/>
          </a:p>
        </p:txBody>
      </p:sp>
      <p:sp>
        <p:nvSpPr>
          <p:cNvPr id="5" name="Shape 3"/>
          <p:cNvSpPr/>
          <p:nvPr/>
        </p:nvSpPr>
        <p:spPr>
          <a:xfrm>
            <a:off x="3246120" y="2606040"/>
            <a:ext cx="54864" cy="1737360"/>
          </a:xfrm>
          <a:prstGeom prst="rect">
            <a:avLst/>
          </a:prstGeom>
          <a:solidFill>
            <a:srgbClr val="F6A026"/>
          </a:solidFill>
          <a:ln/>
        </p:spPr>
      </p:sp>
      <p:sp>
        <p:nvSpPr>
          <p:cNvPr id="6" name="Text 4"/>
          <p:cNvSpPr/>
          <p:nvPr/>
        </p:nvSpPr>
        <p:spPr>
          <a:xfrm>
            <a:off x="3566160" y="2697480"/>
            <a:ext cx="7863840" cy="1005840"/>
          </a:xfrm>
          <a:prstGeom prst="rect">
            <a:avLst/>
          </a:prstGeom>
          <a:noFill/>
          <a:ln/>
        </p:spPr>
        <p:txBody>
          <a:bodyPr wrap="square" lIns="0" tIns="0" rIns="0" bIns="0" rtlCol="0" anchor="ctr"/>
          <a:lstStyle/>
          <a:p>
            <a:pPr indent="0" marL="0">
              <a:lnSpc>
                <a:spcPct val="110000"/>
              </a:lnSpc>
              <a:buNone/>
            </a:pPr>
            <a:r>
              <a:rPr lang="en-US" sz="3200" b="1" dirty="0">
                <a:solidFill>
                  <a:srgbClr val="FFFFFF"/>
                </a:solidFill>
                <a:latin typeface="Montserrat" pitchFamily="34" charset="0"/>
                <a:ea typeface="Montserrat" pitchFamily="34" charset="-122"/>
                <a:cs typeface="Montserrat" pitchFamily="34" charset="-120"/>
              </a:rPr>
              <a:t>Introduction</a:t>
            </a:r>
            <a:endParaRPr lang="en-US" sz="3200" dirty="0"/>
          </a:p>
        </p:txBody>
      </p:sp>
      <p:sp>
        <p:nvSpPr>
          <p:cNvPr id="7" name="Text 5"/>
          <p:cNvSpPr/>
          <p:nvPr/>
        </p:nvSpPr>
        <p:spPr>
          <a:xfrm>
            <a:off x="3566160" y="3566160"/>
            <a:ext cx="7863840" cy="640080"/>
          </a:xfrm>
          <a:prstGeom prst="rect">
            <a:avLst/>
          </a:prstGeom>
          <a:noFill/>
          <a:ln/>
        </p:spPr>
        <p:txBody>
          <a:bodyPr wrap="square" lIns="0" tIns="0" rIns="0" bIns="0" rtlCol="0" anchor="ctr"/>
          <a:lstStyle/>
          <a:p>
            <a:pPr indent="0" marL="0">
              <a:buNone/>
            </a:pPr>
            <a:r>
              <a:rPr lang="en-US" sz="1400" i="1" dirty="0">
                <a:solidFill>
                  <a:srgbClr val="C7D6E8"/>
                </a:solidFill>
                <a:latin typeface="Poppins" pitchFamily="34" charset="0"/>
                <a:ea typeface="Poppins" pitchFamily="34" charset="-122"/>
                <a:cs typeface="Poppins" pitchFamily="34" charset="-120"/>
              </a:rPr>
              <a:t>Contexte, problématique, objectifs et structure d'accueil</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548640" y="384048"/>
            <a:ext cx="9144000" cy="320040"/>
          </a:xfrm>
          <a:prstGeom prst="rect">
            <a:avLst/>
          </a:prstGeom>
          <a:noFill/>
          <a:ln/>
        </p:spPr>
        <p:txBody>
          <a:bodyPr wrap="square" lIns="0" tIns="0" rIns="0" bIns="0" rtlCol="0" anchor="ctr"/>
          <a:lstStyle/>
          <a:p>
            <a:pPr indent="0" marL="0">
              <a:buNone/>
            </a:pPr>
            <a:r>
              <a:rPr lang="en-US" sz="1300" b="1" spc="200" kern="0" dirty="0">
                <a:solidFill>
                  <a:srgbClr val="F6A026"/>
                </a:solidFill>
                <a:latin typeface="Poppins" pitchFamily="34" charset="0"/>
                <a:ea typeface="Poppins" pitchFamily="34" charset="-122"/>
                <a:cs typeface="Poppins" pitchFamily="34" charset="-120"/>
              </a:rPr>
              <a:t>INTRODUCTION</a:t>
            </a:r>
            <a:endParaRPr lang="en-US" sz="1300" dirty="0"/>
          </a:p>
        </p:txBody>
      </p:sp>
      <p:sp>
        <p:nvSpPr>
          <p:cNvPr id="3" name="Text 1"/>
          <p:cNvSpPr/>
          <p:nvPr/>
        </p:nvSpPr>
        <p:spPr>
          <a:xfrm>
            <a:off x="548640" y="658368"/>
            <a:ext cx="10607040" cy="777240"/>
          </a:xfrm>
          <a:prstGeom prst="rect">
            <a:avLst/>
          </a:prstGeom>
          <a:noFill/>
          <a:ln/>
        </p:spPr>
        <p:txBody>
          <a:bodyPr wrap="square" lIns="0" tIns="0" rIns="0" bIns="0" rtlCol="0" anchor="ctr"/>
          <a:lstStyle/>
          <a:p>
            <a:pPr indent="0" marL="0">
              <a:lnSpc>
                <a:spcPts val="3200"/>
              </a:lnSpc>
              <a:buNone/>
            </a:pPr>
            <a:r>
              <a:rPr lang="en-US" sz="3000" b="1" dirty="0">
                <a:solidFill>
                  <a:srgbClr val="133A61"/>
                </a:solidFill>
                <a:latin typeface="Montserrat" pitchFamily="34" charset="0"/>
                <a:ea typeface="Montserrat" pitchFamily="34" charset="-122"/>
                <a:cs typeface="Montserrat" pitchFamily="34" charset="-120"/>
              </a:rPr>
              <a:t>Contexte et justification</a:t>
            </a:r>
            <a:endParaRPr lang="en-US" sz="3000" dirty="0"/>
          </a:p>
        </p:txBody>
      </p:sp>
      <p:sp>
        <p:nvSpPr>
          <p:cNvPr id="4" name="Shape 2"/>
          <p:cNvSpPr/>
          <p:nvPr/>
        </p:nvSpPr>
        <p:spPr>
          <a:xfrm>
            <a:off x="548640" y="1600200"/>
            <a:ext cx="6492240" cy="4572000"/>
          </a:xfrm>
          <a:prstGeom prst="roundRect">
            <a:avLst>
              <a:gd name="adj" fmla="val 2000"/>
            </a:avLst>
          </a:prstGeom>
          <a:solidFill>
            <a:srgbClr val="F2F6FB"/>
          </a:solidFill>
          <a:ln/>
        </p:spPr>
      </p:sp>
      <p:sp>
        <p:nvSpPr>
          <p:cNvPr id="5" name="Shape 3"/>
          <p:cNvSpPr/>
          <p:nvPr/>
        </p:nvSpPr>
        <p:spPr>
          <a:xfrm>
            <a:off x="868680" y="1947672"/>
            <a:ext cx="128016" cy="128016"/>
          </a:xfrm>
          <a:prstGeom prst="ellipse">
            <a:avLst/>
          </a:prstGeom>
          <a:solidFill>
            <a:srgbClr val="F6A026"/>
          </a:solidFill>
          <a:ln/>
        </p:spPr>
      </p:sp>
      <p:sp>
        <p:nvSpPr>
          <p:cNvPr id="6" name="Text 4"/>
          <p:cNvSpPr/>
          <p:nvPr/>
        </p:nvSpPr>
        <p:spPr>
          <a:xfrm>
            <a:off x="1143000" y="1764792"/>
            <a:ext cx="5715000" cy="1188720"/>
          </a:xfrm>
          <a:prstGeom prst="rect">
            <a:avLst/>
          </a:prstGeom>
          <a:noFill/>
          <a:ln/>
        </p:spPr>
        <p:txBody>
          <a:bodyPr wrap="square" lIns="0" tIns="0" rIns="0" bIns="0" rtlCol="0" anchor="ctr"/>
          <a:lstStyle/>
          <a:p>
            <a:pPr indent="0" marL="0">
              <a:lnSpc>
                <a:spcPct val="125000"/>
              </a:lnSpc>
              <a:buNone/>
            </a:pPr>
            <a:r>
              <a:rPr lang="en-US" sz="1350" dirty="0">
                <a:solidFill>
                  <a:srgbClr val="1E2430"/>
                </a:solidFill>
                <a:latin typeface="Poppins" pitchFamily="34" charset="0"/>
                <a:ea typeface="Poppins" pitchFamily="34" charset="-122"/>
                <a:cs typeface="Poppins" pitchFamily="34" charset="-120"/>
              </a:rPr>
              <a:t>La 4ᵉ révolution industrielle fait du numérique un moteur de changement social, porté au Bénin par le PAG 2021-2026.</a:t>
            </a:r>
            <a:endParaRPr lang="en-US" sz="1350" dirty="0"/>
          </a:p>
        </p:txBody>
      </p:sp>
      <p:sp>
        <p:nvSpPr>
          <p:cNvPr id="7" name="Shape 5"/>
          <p:cNvSpPr/>
          <p:nvPr/>
        </p:nvSpPr>
        <p:spPr>
          <a:xfrm>
            <a:off x="868680" y="3364992"/>
            <a:ext cx="128016" cy="128016"/>
          </a:xfrm>
          <a:prstGeom prst="ellipse">
            <a:avLst/>
          </a:prstGeom>
          <a:solidFill>
            <a:srgbClr val="F6A026"/>
          </a:solidFill>
          <a:ln/>
        </p:spPr>
      </p:sp>
      <p:sp>
        <p:nvSpPr>
          <p:cNvPr id="8" name="Text 6"/>
          <p:cNvSpPr/>
          <p:nvPr/>
        </p:nvSpPr>
        <p:spPr>
          <a:xfrm>
            <a:off x="1143000" y="3182112"/>
            <a:ext cx="5715000" cy="1188720"/>
          </a:xfrm>
          <a:prstGeom prst="rect">
            <a:avLst/>
          </a:prstGeom>
          <a:noFill/>
          <a:ln/>
        </p:spPr>
        <p:txBody>
          <a:bodyPr wrap="square" lIns="0" tIns="0" rIns="0" bIns="0" rtlCol="0" anchor="ctr"/>
          <a:lstStyle/>
          <a:p>
            <a:pPr indent="0" marL="0">
              <a:lnSpc>
                <a:spcPct val="125000"/>
              </a:lnSpc>
              <a:buNone/>
            </a:pPr>
            <a:r>
              <a:rPr lang="en-US" sz="1350" dirty="0">
                <a:solidFill>
                  <a:srgbClr val="1E2430"/>
                </a:solidFill>
                <a:latin typeface="Poppins" pitchFamily="34" charset="0"/>
                <a:ea typeface="Poppins" pitchFamily="34" charset="-122"/>
                <a:cs typeface="Poppins" pitchFamily="34" charset="-120"/>
              </a:rPr>
              <a:t>Le développement communautaire reste pourtant sous-exploité par la transformation digitale, contrairement à la santé ou la finance.</a:t>
            </a:r>
            <a:endParaRPr lang="en-US" sz="1350" dirty="0"/>
          </a:p>
        </p:txBody>
      </p:sp>
      <p:sp>
        <p:nvSpPr>
          <p:cNvPr id="9" name="Shape 7"/>
          <p:cNvSpPr/>
          <p:nvPr/>
        </p:nvSpPr>
        <p:spPr>
          <a:xfrm>
            <a:off x="868680" y="4782312"/>
            <a:ext cx="128016" cy="128016"/>
          </a:xfrm>
          <a:prstGeom prst="ellipse">
            <a:avLst/>
          </a:prstGeom>
          <a:solidFill>
            <a:srgbClr val="F6A026"/>
          </a:solidFill>
          <a:ln/>
        </p:spPr>
      </p:sp>
      <p:sp>
        <p:nvSpPr>
          <p:cNvPr id="10" name="Text 8"/>
          <p:cNvSpPr/>
          <p:nvPr/>
        </p:nvSpPr>
        <p:spPr>
          <a:xfrm>
            <a:off x="1143000" y="4599432"/>
            <a:ext cx="5715000" cy="1188720"/>
          </a:xfrm>
          <a:prstGeom prst="rect">
            <a:avLst/>
          </a:prstGeom>
          <a:noFill/>
          <a:ln/>
        </p:spPr>
        <p:txBody>
          <a:bodyPr wrap="square" lIns="0" tIns="0" rIns="0" bIns="0" rtlCol="0" anchor="ctr"/>
          <a:lstStyle/>
          <a:p>
            <a:pPr indent="0" marL="0">
              <a:lnSpc>
                <a:spcPct val="125000"/>
              </a:lnSpc>
              <a:buNone/>
            </a:pPr>
            <a:r>
              <a:rPr lang="en-US" sz="1350" dirty="0">
                <a:solidFill>
                  <a:srgbClr val="1E2430"/>
                </a:solidFill>
                <a:latin typeface="Poppins" pitchFamily="34" charset="0"/>
                <a:ea typeface="Poppins" pitchFamily="34" charset="-122"/>
                <a:cs typeface="Poppins" pitchFamily="34" charset="-120"/>
              </a:rPr>
              <a:t>Pour une ONG, exister numériquement, c'est exister aux yeux du monde pour mieux servir ses bénéficiaires — la vision portée par BUSOLA.</a:t>
            </a:r>
            <a:endParaRPr lang="en-US" sz="1350" dirty="0"/>
          </a:p>
        </p:txBody>
      </p:sp>
      <p:sp>
        <p:nvSpPr>
          <p:cNvPr id="11" name="Shape 9"/>
          <p:cNvSpPr/>
          <p:nvPr/>
        </p:nvSpPr>
        <p:spPr>
          <a:xfrm>
            <a:off x="7315200" y="1600200"/>
            <a:ext cx="4343400" cy="4572000"/>
          </a:xfrm>
          <a:prstGeom prst="roundRect">
            <a:avLst>
              <a:gd name="adj" fmla="val 2105"/>
            </a:avLst>
          </a:prstGeom>
          <a:solidFill>
            <a:srgbClr val="3CAF73"/>
          </a:solidFill>
          <a:ln/>
        </p:spPr>
      </p:sp>
      <p:sp>
        <p:nvSpPr>
          <p:cNvPr id="12" name="Text 10"/>
          <p:cNvSpPr/>
          <p:nvPr/>
        </p:nvSpPr>
        <p:spPr>
          <a:xfrm>
            <a:off x="7635240" y="1965960"/>
            <a:ext cx="3703320" cy="3017520"/>
          </a:xfrm>
          <a:prstGeom prst="rect">
            <a:avLst/>
          </a:prstGeom>
          <a:noFill/>
          <a:ln/>
        </p:spPr>
        <p:txBody>
          <a:bodyPr wrap="square" lIns="0" tIns="0" rIns="0" bIns="0" rtlCol="0" anchor="ctr"/>
          <a:lstStyle/>
          <a:p>
            <a:pPr indent="0" marL="0">
              <a:lnSpc>
                <a:spcPct val="130000"/>
              </a:lnSpc>
              <a:buNone/>
            </a:pPr>
            <a:r>
              <a:rPr lang="en-US" sz="1550" b="1" i="1" dirty="0">
                <a:solidFill>
                  <a:srgbClr val="FFFFFF"/>
                </a:solidFill>
                <a:latin typeface="Montserrat" pitchFamily="34" charset="0"/>
                <a:ea typeface="Montserrat" pitchFamily="34" charset="-122"/>
                <a:cs typeface="Montserrat" pitchFamily="34" charset="-120"/>
              </a:rPr>
              <a:t>« Pour une organisation de la société civile, exister numériquement, c'est avant tout exister aux yeux du monde pour mieux servir ses bénéficiaires. »</a:t>
            </a:r>
            <a:endParaRPr lang="en-US" sz="1550" dirty="0"/>
          </a:p>
        </p:txBody>
      </p:sp>
      <p:sp>
        <p:nvSpPr>
          <p:cNvPr id="13" name="Shape 11"/>
          <p:cNvSpPr/>
          <p:nvPr/>
        </p:nvSpPr>
        <p:spPr>
          <a:xfrm>
            <a:off x="7635240" y="5212080"/>
            <a:ext cx="548640" cy="41148"/>
          </a:xfrm>
          <a:prstGeom prst="rect">
            <a:avLst/>
          </a:prstGeom>
          <a:solidFill>
            <a:srgbClr val="FFFFFF"/>
          </a:solidFill>
          <a:ln/>
        </p:spPr>
      </p:sp>
      <p:sp>
        <p:nvSpPr>
          <p:cNvPr id="14" name="Text 12"/>
          <p:cNvSpPr/>
          <p:nvPr/>
        </p:nvSpPr>
        <p:spPr>
          <a:xfrm>
            <a:off x="7635240" y="5349240"/>
            <a:ext cx="3657600" cy="365760"/>
          </a:xfrm>
          <a:prstGeom prst="rect">
            <a:avLst/>
          </a:prstGeom>
          <a:noFill/>
          <a:ln/>
        </p:spPr>
        <p:txBody>
          <a:bodyPr wrap="square" lIns="0" tIns="0" rIns="0" bIns="0" rtlCol="0" anchor="ctr"/>
          <a:lstStyle/>
          <a:p>
            <a:pPr indent="0" marL="0">
              <a:buNone/>
            </a:pPr>
            <a:r>
              <a:rPr lang="en-US" sz="1200" b="1" dirty="0">
                <a:solidFill>
                  <a:srgbClr val="E7FFF2"/>
                </a:solidFill>
                <a:latin typeface="Poppins" pitchFamily="34" charset="0"/>
                <a:ea typeface="Poppins" pitchFamily="34" charset="-122"/>
                <a:cs typeface="Poppins" pitchFamily="34" charset="-120"/>
              </a:rPr>
              <a:t>Vision de l'ONG BUSOLA</a:t>
            </a:r>
            <a:endParaRPr lang="en-US" sz="1200" dirty="0"/>
          </a:p>
        </p:txBody>
      </p:sp>
      <p:pic>
        <p:nvPicPr>
          <p:cNvPr id="15" name="Image 0" descr="assets/logo_busola.jpg">    </p:cNvPr>
          <p:cNvPicPr>
            <a:picLocks noChangeAspect="1"/>
          </p:cNvPicPr>
          <p:nvPr/>
        </p:nvPicPr>
        <p:blipFill>
          <a:blip r:embed="rId1"/>
          <a:stretch>
            <a:fillRect/>
          </a:stretch>
        </p:blipFill>
        <p:spPr>
          <a:xfrm>
            <a:off x="11140135" y="320040"/>
            <a:ext cx="566928" cy="548640"/>
          </a:xfrm>
          <a:prstGeom prst="rect">
            <a:avLst/>
          </a:prstGeom>
        </p:spPr>
      </p:pic>
      <p:sp>
        <p:nvSpPr>
          <p:cNvPr id="16" name="Shape 13"/>
          <p:cNvSpPr/>
          <p:nvPr/>
        </p:nvSpPr>
        <p:spPr>
          <a:xfrm>
            <a:off x="11624767" y="6345936"/>
            <a:ext cx="310896" cy="310896"/>
          </a:xfrm>
          <a:prstGeom prst="ellipse">
            <a:avLst/>
          </a:prstGeom>
          <a:solidFill>
            <a:srgbClr val="2764AE"/>
          </a:solidFill>
          <a:ln/>
        </p:spPr>
      </p:sp>
      <p:sp>
        <p:nvSpPr>
          <p:cNvPr id="17" name="Text 14"/>
          <p:cNvSpPr/>
          <p:nvPr/>
        </p:nvSpPr>
        <p:spPr>
          <a:xfrm>
            <a:off x="11624767" y="6345936"/>
            <a:ext cx="310896" cy="310896"/>
          </a:xfrm>
          <a:prstGeom prst="rect">
            <a:avLst/>
          </a:prstGeom>
          <a:noFill/>
          <a:ln/>
        </p:spPr>
        <p:txBody>
          <a:bodyPr wrap="square" lIns="0" tIns="0" rIns="0" bIns="0" rtlCol="0" anchor="ctr"/>
          <a:lstStyle/>
          <a:p>
            <a:pPr algn="ctr" indent="0" marL="0">
              <a:buNone/>
            </a:pPr>
            <a:r>
              <a:rPr lang="en-US" sz="1000" b="1" dirty="0">
                <a:solidFill>
                  <a:srgbClr val="FFFFFF"/>
                </a:solidFill>
                <a:latin typeface="Poppins" pitchFamily="34" charset="0"/>
                <a:ea typeface="Poppins" pitchFamily="34" charset="-122"/>
                <a:cs typeface="Poppins" pitchFamily="34" charset="-120"/>
              </a:rPr>
              <a:t>5</a:t>
            </a:r>
            <a:endParaRPr lang="en-US" sz="1000" dirty="0"/>
          </a:p>
        </p:txBody>
      </p:sp>
      <p:sp>
        <p:nvSpPr>
          <p:cNvPr id="18" name="Text 15"/>
          <p:cNvSpPr/>
          <p:nvPr/>
        </p:nvSpPr>
        <p:spPr>
          <a:xfrm>
            <a:off x="457200" y="6437376"/>
            <a:ext cx="5486400" cy="274320"/>
          </a:xfrm>
          <a:prstGeom prst="rect">
            <a:avLst/>
          </a:prstGeom>
          <a:noFill/>
          <a:ln/>
        </p:spPr>
        <p:txBody>
          <a:bodyPr wrap="square" lIns="0" tIns="0" rIns="0" bIns="0" rtlCol="0" anchor="ctr"/>
          <a:lstStyle/>
          <a:p>
            <a:pPr indent="0" marL="0">
              <a:buNone/>
            </a:pPr>
            <a:r>
              <a:rPr lang="en-US" sz="850" dirty="0">
                <a:solidFill>
                  <a:srgbClr val="5B6472"/>
                </a:solidFill>
                <a:latin typeface="Poppins" pitchFamily="34" charset="0"/>
                <a:ea typeface="Poppins" pitchFamily="34" charset="-122"/>
                <a:cs typeface="Poppins" pitchFamily="34" charset="-120"/>
              </a:rPr>
              <a:t>PLATEFORME WEB ONG BUSOLA</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548640" y="384048"/>
            <a:ext cx="9144000" cy="320040"/>
          </a:xfrm>
          <a:prstGeom prst="rect">
            <a:avLst/>
          </a:prstGeom>
          <a:noFill/>
          <a:ln/>
        </p:spPr>
        <p:txBody>
          <a:bodyPr wrap="square" lIns="0" tIns="0" rIns="0" bIns="0" rtlCol="0" anchor="ctr"/>
          <a:lstStyle/>
          <a:p>
            <a:pPr indent="0" marL="0">
              <a:buNone/>
            </a:pPr>
            <a:r>
              <a:rPr lang="en-US" sz="1300" b="1" spc="200" kern="0" dirty="0">
                <a:solidFill>
                  <a:srgbClr val="F6A026"/>
                </a:solidFill>
                <a:latin typeface="Poppins" pitchFamily="34" charset="0"/>
                <a:ea typeface="Poppins" pitchFamily="34" charset="-122"/>
                <a:cs typeface="Poppins" pitchFamily="34" charset="-120"/>
              </a:rPr>
              <a:t>INTRODUCTION</a:t>
            </a:r>
            <a:endParaRPr lang="en-US" sz="1300" dirty="0"/>
          </a:p>
        </p:txBody>
      </p:sp>
      <p:sp>
        <p:nvSpPr>
          <p:cNvPr id="3" name="Text 1"/>
          <p:cNvSpPr/>
          <p:nvPr/>
        </p:nvSpPr>
        <p:spPr>
          <a:xfrm>
            <a:off x="548640" y="658368"/>
            <a:ext cx="10607040" cy="777240"/>
          </a:xfrm>
          <a:prstGeom prst="rect">
            <a:avLst/>
          </a:prstGeom>
          <a:noFill/>
          <a:ln/>
        </p:spPr>
        <p:txBody>
          <a:bodyPr wrap="square" lIns="0" tIns="0" rIns="0" bIns="0" rtlCol="0" anchor="ctr"/>
          <a:lstStyle/>
          <a:p>
            <a:pPr indent="0" marL="0">
              <a:lnSpc>
                <a:spcPts val="3200"/>
              </a:lnSpc>
              <a:buNone/>
            </a:pPr>
            <a:r>
              <a:rPr lang="en-US" sz="3000" b="1" dirty="0">
                <a:solidFill>
                  <a:srgbClr val="133A61"/>
                </a:solidFill>
                <a:latin typeface="Montserrat" pitchFamily="34" charset="0"/>
                <a:ea typeface="Montserrat" pitchFamily="34" charset="-122"/>
                <a:cs typeface="Montserrat" pitchFamily="34" charset="-120"/>
              </a:rPr>
              <a:t>Problématique</a:t>
            </a:r>
            <a:endParaRPr lang="en-US" sz="3000" dirty="0"/>
          </a:p>
        </p:txBody>
      </p:sp>
      <p:sp>
        <p:nvSpPr>
          <p:cNvPr id="4" name="Text 2"/>
          <p:cNvSpPr/>
          <p:nvPr/>
        </p:nvSpPr>
        <p:spPr>
          <a:xfrm>
            <a:off x="548640" y="1645920"/>
            <a:ext cx="6492240" cy="1463040"/>
          </a:xfrm>
          <a:prstGeom prst="rect">
            <a:avLst/>
          </a:prstGeom>
          <a:noFill/>
          <a:ln/>
        </p:spPr>
        <p:txBody>
          <a:bodyPr wrap="square" lIns="0" tIns="0" rIns="0" bIns="0" rtlCol="0" anchor="ctr"/>
          <a:lstStyle/>
          <a:p>
            <a:pPr indent="0" marL="0">
              <a:lnSpc>
                <a:spcPct val="130000"/>
              </a:lnSpc>
              <a:buNone/>
            </a:pPr>
            <a:r>
              <a:rPr lang="en-US" sz="1450" dirty="0">
                <a:solidFill>
                  <a:srgbClr val="1E2430"/>
                </a:solidFill>
                <a:latin typeface="Poppins" pitchFamily="34" charset="0"/>
                <a:ea typeface="Poppins" pitchFamily="34" charset="-122"/>
                <a:cs typeface="Poppins" pitchFamily="34" charset="-120"/>
              </a:rPr>
              <a:t>Fondée en 2020 à Parakou, </a:t>
            </a:r>
            <a:pPr indent="0" marL="0">
              <a:lnSpc>
                <a:spcPct val="130000"/>
              </a:lnSpc>
              <a:buNone/>
            </a:pPr>
            <a:r>
              <a:rPr lang="en-US" sz="1450" b="1" dirty="0">
                <a:solidFill>
                  <a:srgbClr val="2764AE"/>
                </a:solidFill>
                <a:latin typeface="Poppins" pitchFamily="34" charset="0"/>
                <a:ea typeface="Poppins" pitchFamily="34" charset="-122"/>
                <a:cs typeface="Poppins" pitchFamily="34" charset="-120"/>
              </a:rPr>
              <a:t>BUSOLA</a:t>
            </a:r>
            <a:pPr indent="0" marL="0">
              <a:lnSpc>
                <a:spcPct val="130000"/>
              </a:lnSpc>
              <a:buNone/>
            </a:pPr>
            <a:r>
              <a:rPr lang="en-US" sz="1450" dirty="0">
                <a:solidFill>
                  <a:srgbClr val="1E2430"/>
                </a:solidFill>
                <a:latin typeface="Poppins" pitchFamily="34" charset="0"/>
                <a:ea typeface="Poppins" pitchFamily="34" charset="-122"/>
                <a:cs typeface="Poppins" pitchFamily="34" charset="-120"/>
              </a:rPr>
              <a:t> mène un travail de terrain remarquable pour l'autonomisation des femmes et l'épanouissement des jeunes (DSSR, VBG, Paix et Cohésion Sociale, Leadership).</a:t>
            </a:r>
            <a:endParaRPr lang="en-US" sz="1450" dirty="0"/>
          </a:p>
        </p:txBody>
      </p:sp>
      <p:sp>
        <p:nvSpPr>
          <p:cNvPr id="5" name="Shape 3"/>
          <p:cNvSpPr/>
          <p:nvPr/>
        </p:nvSpPr>
        <p:spPr>
          <a:xfrm>
            <a:off x="548640" y="3246120"/>
            <a:ext cx="6492240" cy="2651760"/>
          </a:xfrm>
          <a:prstGeom prst="roundRect">
            <a:avLst>
              <a:gd name="adj" fmla="val 3448"/>
            </a:avLst>
          </a:prstGeom>
          <a:solidFill>
            <a:srgbClr val="133A61"/>
          </a:solidFill>
          <a:ln/>
        </p:spPr>
      </p:sp>
      <p:sp>
        <p:nvSpPr>
          <p:cNvPr id="6" name="Text 4"/>
          <p:cNvSpPr/>
          <p:nvPr/>
        </p:nvSpPr>
        <p:spPr>
          <a:xfrm>
            <a:off x="868680" y="3474720"/>
            <a:ext cx="5852160" cy="1371600"/>
          </a:xfrm>
          <a:prstGeom prst="rect">
            <a:avLst/>
          </a:prstGeom>
          <a:noFill/>
          <a:ln/>
        </p:spPr>
        <p:txBody>
          <a:bodyPr wrap="square" lIns="0" tIns="0" rIns="0" bIns="0" rtlCol="0" anchor="ctr"/>
          <a:lstStyle/>
          <a:p>
            <a:pPr indent="0" marL="0">
              <a:lnSpc>
                <a:spcPct val="130000"/>
              </a:lnSpc>
              <a:buNone/>
            </a:pPr>
            <a:r>
              <a:rPr lang="en-US" sz="1500" b="1" i="1" dirty="0">
                <a:solidFill>
                  <a:srgbClr val="FFFFFF"/>
                </a:solidFill>
                <a:latin typeface="Montserrat" pitchFamily="34" charset="0"/>
                <a:ea typeface="Montserrat" pitchFamily="34" charset="-122"/>
                <a:cs typeface="Montserrat" pitchFamily="34" charset="-120"/>
              </a:rPr>
              <a:t>« Malgré un impact réel, l'organisation se heurte à un mur de silence numérique : information dispersée, visibilité limitée, témoignages difficiles à capitaliser. »</a:t>
            </a:r>
            <a:endParaRPr lang="en-US" sz="1500" dirty="0"/>
          </a:p>
        </p:txBody>
      </p:sp>
      <p:sp>
        <p:nvSpPr>
          <p:cNvPr id="7" name="Text 5"/>
          <p:cNvSpPr/>
          <p:nvPr/>
        </p:nvSpPr>
        <p:spPr>
          <a:xfrm>
            <a:off x="868680" y="4892040"/>
            <a:ext cx="5852160" cy="868680"/>
          </a:xfrm>
          <a:prstGeom prst="rect">
            <a:avLst/>
          </a:prstGeom>
          <a:noFill/>
          <a:ln/>
        </p:spPr>
        <p:txBody>
          <a:bodyPr wrap="square" lIns="0" tIns="0" rIns="0" bIns="0" rtlCol="0" anchor="ctr"/>
          <a:lstStyle/>
          <a:p>
            <a:pPr indent="0" marL="0">
              <a:lnSpc>
                <a:spcPct val="125000"/>
              </a:lnSpc>
              <a:buNone/>
            </a:pPr>
            <a:r>
              <a:rPr lang="en-US" sz="1250" i="1" dirty="0">
                <a:solidFill>
                  <a:srgbClr val="F6A026"/>
                </a:solidFill>
                <a:latin typeface="Poppins" pitchFamily="34" charset="0"/>
                <a:ea typeface="Poppins" pitchFamily="34" charset="-122"/>
                <a:cs typeface="Poppins" pitchFamily="34" charset="-120"/>
              </a:rPr>
              <a:t>Comment transformer des actions de terrain souvent invisibles en une vitrine d'impact accessible partout et à tout moment ?</a:t>
            </a:r>
            <a:endParaRPr lang="en-US" sz="1250" dirty="0"/>
          </a:p>
        </p:txBody>
      </p:sp>
      <p:pic>
        <p:nvPicPr>
          <p:cNvPr id="8" name="Image 0" descr="icons/warn_orange.png">    </p:cNvPr>
          <p:cNvPicPr>
            <a:picLocks noChangeAspect="1"/>
          </p:cNvPicPr>
          <p:nvPr/>
        </p:nvPicPr>
        <p:blipFill>
          <a:blip r:embed="rId1"/>
          <a:stretch>
            <a:fillRect/>
          </a:stretch>
        </p:blipFill>
        <p:spPr>
          <a:xfrm>
            <a:off x="7635240" y="1691640"/>
            <a:ext cx="1463040" cy="1463040"/>
          </a:xfrm>
          <a:prstGeom prst="rect">
            <a:avLst/>
          </a:prstGeom>
        </p:spPr>
      </p:pic>
      <p:sp>
        <p:nvSpPr>
          <p:cNvPr id="9" name="Shape 6"/>
          <p:cNvSpPr/>
          <p:nvPr/>
        </p:nvSpPr>
        <p:spPr>
          <a:xfrm>
            <a:off x="7315200" y="3429000"/>
            <a:ext cx="4343400" cy="2651760"/>
          </a:xfrm>
          <a:prstGeom prst="roundRect">
            <a:avLst>
              <a:gd name="adj" fmla="val 3448"/>
            </a:avLst>
          </a:prstGeom>
          <a:solidFill>
            <a:srgbClr val="F2F6FB"/>
          </a:solidFill>
          <a:ln/>
        </p:spPr>
      </p:sp>
      <p:sp>
        <p:nvSpPr>
          <p:cNvPr id="10" name="Text 7"/>
          <p:cNvSpPr/>
          <p:nvPr/>
        </p:nvSpPr>
        <p:spPr>
          <a:xfrm>
            <a:off x="7635240" y="3611880"/>
            <a:ext cx="3657600" cy="320040"/>
          </a:xfrm>
          <a:prstGeom prst="rect">
            <a:avLst/>
          </a:prstGeom>
          <a:noFill/>
          <a:ln/>
        </p:spPr>
        <p:txBody>
          <a:bodyPr wrap="square" lIns="0" tIns="0" rIns="0" bIns="0" rtlCol="0" anchor="ctr"/>
          <a:lstStyle/>
          <a:p>
            <a:pPr indent="0" marL="0">
              <a:buNone/>
            </a:pPr>
            <a:r>
              <a:rPr lang="en-US" sz="1200" b="1" spc="100" kern="0" dirty="0">
                <a:solidFill>
                  <a:srgbClr val="2764AE"/>
                </a:solidFill>
                <a:latin typeface="Poppins" pitchFamily="34" charset="0"/>
                <a:ea typeface="Poppins" pitchFamily="34" charset="-122"/>
                <a:cs typeface="Poppins" pitchFamily="34" charset="-120"/>
              </a:rPr>
              <a:t>Constats clés</a:t>
            </a:r>
            <a:endParaRPr lang="en-US" sz="1200" dirty="0"/>
          </a:p>
        </p:txBody>
      </p:sp>
      <p:sp>
        <p:nvSpPr>
          <p:cNvPr id="11" name="Text 8"/>
          <p:cNvSpPr/>
          <p:nvPr/>
        </p:nvSpPr>
        <p:spPr>
          <a:xfrm>
            <a:off x="7635240" y="3977640"/>
            <a:ext cx="3703320" cy="548640"/>
          </a:xfrm>
          <a:prstGeom prst="rect">
            <a:avLst/>
          </a:prstGeom>
          <a:noFill/>
          <a:ln/>
        </p:spPr>
        <p:txBody>
          <a:bodyPr wrap="square" lIns="0" tIns="0" rIns="0" bIns="0" rtlCol="0" anchor="ctr"/>
          <a:lstStyle/>
          <a:p>
            <a:pPr indent="0" marL="0">
              <a:lnSpc>
                <a:spcPct val="120000"/>
              </a:lnSpc>
              <a:buNone/>
            </a:pPr>
            <a:r>
              <a:rPr lang="en-US" sz="1200" dirty="0">
                <a:solidFill>
                  <a:srgbClr val="1E2430"/>
                </a:solidFill>
                <a:latin typeface="Poppins" pitchFamily="34" charset="0"/>
                <a:ea typeface="Poppins" pitchFamily="34" charset="-122"/>
                <a:cs typeface="Poppins" pitchFamily="34" charset="-120"/>
              </a:rPr>
              <a:t>•  Aucune présence numérique structurée</a:t>
            </a:r>
            <a:endParaRPr lang="en-US" sz="1200" dirty="0"/>
          </a:p>
        </p:txBody>
      </p:sp>
      <p:sp>
        <p:nvSpPr>
          <p:cNvPr id="12" name="Text 9"/>
          <p:cNvSpPr/>
          <p:nvPr/>
        </p:nvSpPr>
        <p:spPr>
          <a:xfrm>
            <a:off x="7635240" y="4599432"/>
            <a:ext cx="3703320" cy="548640"/>
          </a:xfrm>
          <a:prstGeom prst="rect">
            <a:avLst/>
          </a:prstGeom>
          <a:noFill/>
          <a:ln/>
        </p:spPr>
        <p:txBody>
          <a:bodyPr wrap="square" lIns="0" tIns="0" rIns="0" bIns="0" rtlCol="0" anchor="ctr"/>
          <a:lstStyle/>
          <a:p>
            <a:pPr indent="0" marL="0">
              <a:lnSpc>
                <a:spcPct val="120000"/>
              </a:lnSpc>
              <a:buNone/>
            </a:pPr>
            <a:r>
              <a:rPr lang="en-US" sz="1200" dirty="0">
                <a:solidFill>
                  <a:srgbClr val="1E2430"/>
                </a:solidFill>
                <a:latin typeface="Poppins" pitchFamily="34" charset="0"/>
                <a:ea typeface="Poppins" pitchFamily="34" charset="-122"/>
                <a:cs typeface="Poppins" pitchFamily="34" charset="-120"/>
              </a:rPr>
              <a:t>•  Gestion dispersée : tableurs, messagerie</a:t>
            </a:r>
            <a:endParaRPr lang="en-US" sz="1200" dirty="0"/>
          </a:p>
        </p:txBody>
      </p:sp>
      <p:sp>
        <p:nvSpPr>
          <p:cNvPr id="13" name="Text 10"/>
          <p:cNvSpPr/>
          <p:nvPr/>
        </p:nvSpPr>
        <p:spPr>
          <a:xfrm>
            <a:off x="7635240" y="5221224"/>
            <a:ext cx="3703320" cy="548640"/>
          </a:xfrm>
          <a:prstGeom prst="rect">
            <a:avLst/>
          </a:prstGeom>
          <a:noFill/>
          <a:ln/>
        </p:spPr>
        <p:txBody>
          <a:bodyPr wrap="square" lIns="0" tIns="0" rIns="0" bIns="0" rtlCol="0" anchor="ctr"/>
          <a:lstStyle/>
          <a:p>
            <a:pPr indent="0" marL="0">
              <a:lnSpc>
                <a:spcPct val="120000"/>
              </a:lnSpc>
              <a:buNone/>
            </a:pPr>
            <a:r>
              <a:rPr lang="en-US" sz="1200" dirty="0">
                <a:solidFill>
                  <a:srgbClr val="1E2430"/>
                </a:solidFill>
                <a:latin typeface="Poppins" pitchFamily="34" charset="0"/>
                <a:ea typeface="Poppins" pitchFamily="34" charset="-122"/>
                <a:cs typeface="Poppins" pitchFamily="34" charset="-120"/>
              </a:rPr>
              <a:t>•  Aucun canal automatisé vers les abonnés</a:t>
            </a:r>
            <a:endParaRPr lang="en-US" sz="1200" dirty="0"/>
          </a:p>
        </p:txBody>
      </p:sp>
      <p:pic>
        <p:nvPicPr>
          <p:cNvPr id="14" name="Image 1" descr="assets/logo_busola.jpg">    </p:cNvPr>
          <p:cNvPicPr>
            <a:picLocks noChangeAspect="1"/>
          </p:cNvPicPr>
          <p:nvPr/>
        </p:nvPicPr>
        <p:blipFill>
          <a:blip r:embed="rId2"/>
          <a:stretch>
            <a:fillRect/>
          </a:stretch>
        </p:blipFill>
        <p:spPr>
          <a:xfrm>
            <a:off x="11140135" y="320040"/>
            <a:ext cx="566928" cy="548640"/>
          </a:xfrm>
          <a:prstGeom prst="rect">
            <a:avLst/>
          </a:prstGeom>
        </p:spPr>
      </p:pic>
      <p:sp>
        <p:nvSpPr>
          <p:cNvPr id="15" name="Shape 11"/>
          <p:cNvSpPr/>
          <p:nvPr/>
        </p:nvSpPr>
        <p:spPr>
          <a:xfrm>
            <a:off x="11624767" y="6345936"/>
            <a:ext cx="310896" cy="310896"/>
          </a:xfrm>
          <a:prstGeom prst="ellipse">
            <a:avLst/>
          </a:prstGeom>
          <a:solidFill>
            <a:srgbClr val="2764AE"/>
          </a:solidFill>
          <a:ln/>
        </p:spPr>
      </p:sp>
      <p:sp>
        <p:nvSpPr>
          <p:cNvPr id="16" name="Text 12"/>
          <p:cNvSpPr/>
          <p:nvPr/>
        </p:nvSpPr>
        <p:spPr>
          <a:xfrm>
            <a:off x="11624767" y="6345936"/>
            <a:ext cx="310896" cy="310896"/>
          </a:xfrm>
          <a:prstGeom prst="rect">
            <a:avLst/>
          </a:prstGeom>
          <a:noFill/>
          <a:ln/>
        </p:spPr>
        <p:txBody>
          <a:bodyPr wrap="square" lIns="0" tIns="0" rIns="0" bIns="0" rtlCol="0" anchor="ctr"/>
          <a:lstStyle/>
          <a:p>
            <a:pPr algn="ctr" indent="0" marL="0">
              <a:buNone/>
            </a:pPr>
            <a:r>
              <a:rPr lang="en-US" sz="1000" b="1" dirty="0">
                <a:solidFill>
                  <a:srgbClr val="FFFFFF"/>
                </a:solidFill>
                <a:latin typeface="Poppins" pitchFamily="34" charset="0"/>
                <a:ea typeface="Poppins" pitchFamily="34" charset="-122"/>
                <a:cs typeface="Poppins" pitchFamily="34" charset="-120"/>
              </a:rPr>
              <a:t>6</a:t>
            </a:r>
            <a:endParaRPr lang="en-US" sz="1000" dirty="0"/>
          </a:p>
        </p:txBody>
      </p:sp>
      <p:sp>
        <p:nvSpPr>
          <p:cNvPr id="17" name="Text 13"/>
          <p:cNvSpPr/>
          <p:nvPr/>
        </p:nvSpPr>
        <p:spPr>
          <a:xfrm>
            <a:off x="457200" y="6437376"/>
            <a:ext cx="5486400" cy="274320"/>
          </a:xfrm>
          <a:prstGeom prst="rect">
            <a:avLst/>
          </a:prstGeom>
          <a:noFill/>
          <a:ln/>
        </p:spPr>
        <p:txBody>
          <a:bodyPr wrap="square" lIns="0" tIns="0" rIns="0" bIns="0" rtlCol="0" anchor="ctr"/>
          <a:lstStyle/>
          <a:p>
            <a:pPr indent="0" marL="0">
              <a:buNone/>
            </a:pPr>
            <a:r>
              <a:rPr lang="en-US" sz="850" dirty="0">
                <a:solidFill>
                  <a:srgbClr val="5B6472"/>
                </a:solidFill>
                <a:latin typeface="Poppins" pitchFamily="34" charset="0"/>
                <a:ea typeface="Poppins" pitchFamily="34" charset="-122"/>
                <a:cs typeface="Poppins" pitchFamily="34" charset="-120"/>
              </a:rPr>
              <a:t>PLATEFORME WEB ONG BUSOLA</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548640" y="384048"/>
            <a:ext cx="9144000" cy="320040"/>
          </a:xfrm>
          <a:prstGeom prst="rect">
            <a:avLst/>
          </a:prstGeom>
          <a:noFill/>
          <a:ln/>
        </p:spPr>
        <p:txBody>
          <a:bodyPr wrap="square" lIns="0" tIns="0" rIns="0" bIns="0" rtlCol="0" anchor="ctr"/>
          <a:lstStyle/>
          <a:p>
            <a:pPr indent="0" marL="0">
              <a:buNone/>
            </a:pPr>
            <a:r>
              <a:rPr lang="en-US" sz="1300" b="1" spc="200" kern="0" dirty="0">
                <a:solidFill>
                  <a:srgbClr val="F6A026"/>
                </a:solidFill>
                <a:latin typeface="Poppins" pitchFamily="34" charset="0"/>
                <a:ea typeface="Poppins" pitchFamily="34" charset="-122"/>
                <a:cs typeface="Poppins" pitchFamily="34" charset="-120"/>
              </a:rPr>
              <a:t>INTRODUCTION</a:t>
            </a:r>
            <a:endParaRPr lang="en-US" sz="1300" dirty="0"/>
          </a:p>
        </p:txBody>
      </p:sp>
      <p:sp>
        <p:nvSpPr>
          <p:cNvPr id="3" name="Text 1"/>
          <p:cNvSpPr/>
          <p:nvPr/>
        </p:nvSpPr>
        <p:spPr>
          <a:xfrm>
            <a:off x="548640" y="658368"/>
            <a:ext cx="10607040" cy="777240"/>
          </a:xfrm>
          <a:prstGeom prst="rect">
            <a:avLst/>
          </a:prstGeom>
          <a:noFill/>
          <a:ln/>
        </p:spPr>
        <p:txBody>
          <a:bodyPr wrap="square" lIns="0" tIns="0" rIns="0" bIns="0" rtlCol="0" anchor="ctr"/>
          <a:lstStyle/>
          <a:p>
            <a:pPr indent="0" marL="0">
              <a:lnSpc>
                <a:spcPts val="3200"/>
              </a:lnSpc>
              <a:buNone/>
            </a:pPr>
            <a:r>
              <a:rPr lang="en-US" sz="3000" b="1" dirty="0">
                <a:solidFill>
                  <a:srgbClr val="133A61"/>
                </a:solidFill>
                <a:latin typeface="Montserrat" pitchFamily="34" charset="0"/>
                <a:ea typeface="Montserrat" pitchFamily="34" charset="-122"/>
                <a:cs typeface="Montserrat" pitchFamily="34" charset="-120"/>
              </a:rPr>
              <a:t>Objectifs de la recherche</a:t>
            </a:r>
            <a:endParaRPr lang="en-US" sz="3000" dirty="0"/>
          </a:p>
        </p:txBody>
      </p:sp>
      <p:sp>
        <p:nvSpPr>
          <p:cNvPr id="4" name="Shape 2"/>
          <p:cNvSpPr/>
          <p:nvPr/>
        </p:nvSpPr>
        <p:spPr>
          <a:xfrm>
            <a:off x="548640" y="1600200"/>
            <a:ext cx="11109960" cy="1051560"/>
          </a:xfrm>
          <a:prstGeom prst="roundRect">
            <a:avLst>
              <a:gd name="adj" fmla="val 8696"/>
            </a:avLst>
          </a:prstGeom>
          <a:solidFill>
            <a:srgbClr val="2764AE"/>
          </a:solidFill>
          <a:ln/>
        </p:spPr>
      </p:sp>
      <p:sp>
        <p:nvSpPr>
          <p:cNvPr id="5" name="Text 3"/>
          <p:cNvSpPr/>
          <p:nvPr/>
        </p:nvSpPr>
        <p:spPr>
          <a:xfrm>
            <a:off x="868680" y="1709928"/>
            <a:ext cx="2743200" cy="274320"/>
          </a:xfrm>
          <a:prstGeom prst="rect">
            <a:avLst/>
          </a:prstGeom>
          <a:noFill/>
          <a:ln/>
        </p:spPr>
        <p:txBody>
          <a:bodyPr wrap="square" lIns="0" tIns="0" rIns="0" bIns="0" rtlCol="0" anchor="ctr"/>
          <a:lstStyle/>
          <a:p>
            <a:pPr indent="0" marL="0">
              <a:buNone/>
            </a:pPr>
            <a:r>
              <a:rPr lang="en-US" sz="1100" b="1" spc="150" kern="0" dirty="0">
                <a:solidFill>
                  <a:srgbClr val="D8E7F8"/>
                </a:solidFill>
                <a:latin typeface="Poppins" pitchFamily="34" charset="0"/>
                <a:ea typeface="Poppins" pitchFamily="34" charset="-122"/>
                <a:cs typeface="Poppins" pitchFamily="34" charset="-120"/>
              </a:rPr>
              <a:t>Objectif général</a:t>
            </a:r>
            <a:endParaRPr lang="en-US" sz="1100" dirty="0"/>
          </a:p>
        </p:txBody>
      </p:sp>
      <p:sp>
        <p:nvSpPr>
          <p:cNvPr id="6" name="Text 4"/>
          <p:cNvSpPr/>
          <p:nvPr/>
        </p:nvSpPr>
        <p:spPr>
          <a:xfrm>
            <a:off x="868680" y="1984248"/>
            <a:ext cx="10515600" cy="594360"/>
          </a:xfrm>
          <a:prstGeom prst="rect">
            <a:avLst/>
          </a:prstGeom>
          <a:noFill/>
          <a:ln/>
        </p:spPr>
        <p:txBody>
          <a:bodyPr wrap="square" lIns="0" tIns="0" rIns="0" bIns="0" rtlCol="0" anchor="ctr"/>
          <a:lstStyle/>
          <a:p>
            <a:pPr indent="0" marL="0">
              <a:lnSpc>
                <a:spcPct val="120000"/>
              </a:lnSpc>
              <a:buNone/>
            </a:pPr>
            <a:r>
              <a:rPr lang="en-US" sz="1350" dirty="0">
                <a:solidFill>
                  <a:srgbClr val="FFFFFF"/>
                </a:solidFill>
                <a:latin typeface="Poppins" pitchFamily="34" charset="0"/>
                <a:ea typeface="Poppins" pitchFamily="34" charset="-122"/>
                <a:cs typeface="Poppins" pitchFamily="34" charset="-120"/>
              </a:rPr>
              <a:t>Concevoir et déployer une solution web complète qui centralise la gestion administrative et amplifie la portée des actions de l'ONG BUSOLA.</a:t>
            </a:r>
            <a:endParaRPr lang="en-US" sz="1350" dirty="0"/>
          </a:p>
        </p:txBody>
      </p:sp>
      <p:sp>
        <p:nvSpPr>
          <p:cNvPr id="7" name="Shape 5"/>
          <p:cNvSpPr/>
          <p:nvPr/>
        </p:nvSpPr>
        <p:spPr>
          <a:xfrm>
            <a:off x="548640" y="2926080"/>
            <a:ext cx="5394960" cy="1463040"/>
          </a:xfrm>
          <a:prstGeom prst="roundRect">
            <a:avLst>
              <a:gd name="adj" fmla="val 6250"/>
            </a:avLst>
          </a:prstGeom>
          <a:solidFill>
            <a:srgbClr val="F2F6FB"/>
          </a:solidFill>
          <a:ln/>
        </p:spPr>
      </p:sp>
      <p:pic>
        <p:nvPicPr>
          <p:cNvPr id="8" name="Image 0" descr="icons/cogs_blue.png">    </p:cNvPr>
          <p:cNvPicPr>
            <a:picLocks noChangeAspect="1"/>
          </p:cNvPicPr>
          <p:nvPr/>
        </p:nvPicPr>
        <p:blipFill>
          <a:blip r:embed="rId1"/>
          <a:stretch>
            <a:fillRect/>
          </a:stretch>
        </p:blipFill>
        <p:spPr>
          <a:xfrm>
            <a:off x="822960" y="3246120"/>
            <a:ext cx="822960" cy="822960"/>
          </a:xfrm>
          <a:prstGeom prst="rect">
            <a:avLst/>
          </a:prstGeom>
        </p:spPr>
      </p:pic>
      <p:sp>
        <p:nvSpPr>
          <p:cNvPr id="9" name="Text 6"/>
          <p:cNvSpPr/>
          <p:nvPr/>
        </p:nvSpPr>
        <p:spPr>
          <a:xfrm>
            <a:off x="1828800" y="3090672"/>
            <a:ext cx="3840480" cy="1143000"/>
          </a:xfrm>
          <a:prstGeom prst="rect">
            <a:avLst/>
          </a:prstGeom>
          <a:noFill/>
          <a:ln/>
        </p:spPr>
        <p:txBody>
          <a:bodyPr wrap="square" lIns="0" tIns="0" rIns="0" bIns="0" rtlCol="0" anchor="ctr"/>
          <a:lstStyle/>
          <a:p>
            <a:pPr indent="0" marL="0">
              <a:lnSpc>
                <a:spcPct val="120000"/>
              </a:lnSpc>
              <a:buNone/>
            </a:pPr>
            <a:r>
              <a:rPr lang="en-US" sz="1250" dirty="0">
                <a:solidFill>
                  <a:srgbClr val="1E2430"/>
                </a:solidFill>
                <a:latin typeface="Poppins" pitchFamily="34" charset="0"/>
                <a:ea typeface="Poppins" pitchFamily="34" charset="-122"/>
                <a:cs typeface="Poppins" pitchFamily="34" charset="-120"/>
              </a:rPr>
              <a:t>Architecture full-stack robuste pour une gestion fluide et sécurisée des données</a:t>
            </a:r>
            <a:endParaRPr lang="en-US" sz="1250" dirty="0"/>
          </a:p>
        </p:txBody>
      </p:sp>
      <p:sp>
        <p:nvSpPr>
          <p:cNvPr id="10" name="Shape 7"/>
          <p:cNvSpPr/>
          <p:nvPr/>
        </p:nvSpPr>
        <p:spPr>
          <a:xfrm>
            <a:off x="6263640" y="2926080"/>
            <a:ext cx="5394960" cy="1463040"/>
          </a:xfrm>
          <a:prstGeom prst="roundRect">
            <a:avLst>
              <a:gd name="adj" fmla="val 6250"/>
            </a:avLst>
          </a:prstGeom>
          <a:solidFill>
            <a:srgbClr val="F2F6FB"/>
          </a:solidFill>
          <a:ln/>
        </p:spPr>
      </p:sp>
      <p:pic>
        <p:nvPicPr>
          <p:cNvPr id="11" name="Image 1" descr="icons/laptop_blue.png">    </p:cNvPr>
          <p:cNvPicPr>
            <a:picLocks noChangeAspect="1"/>
          </p:cNvPicPr>
          <p:nvPr/>
        </p:nvPicPr>
        <p:blipFill>
          <a:blip r:embed="rId2"/>
          <a:stretch>
            <a:fillRect/>
          </a:stretch>
        </p:blipFill>
        <p:spPr>
          <a:xfrm>
            <a:off x="6537960" y="3246120"/>
            <a:ext cx="822960" cy="822960"/>
          </a:xfrm>
          <a:prstGeom prst="rect">
            <a:avLst/>
          </a:prstGeom>
        </p:spPr>
      </p:pic>
      <p:sp>
        <p:nvSpPr>
          <p:cNvPr id="12" name="Text 8"/>
          <p:cNvSpPr/>
          <p:nvPr/>
        </p:nvSpPr>
        <p:spPr>
          <a:xfrm>
            <a:off x="7543800" y="3090672"/>
            <a:ext cx="3840480" cy="1143000"/>
          </a:xfrm>
          <a:prstGeom prst="rect">
            <a:avLst/>
          </a:prstGeom>
          <a:noFill/>
          <a:ln/>
        </p:spPr>
        <p:txBody>
          <a:bodyPr wrap="square" lIns="0" tIns="0" rIns="0" bIns="0" rtlCol="0" anchor="ctr"/>
          <a:lstStyle/>
          <a:p>
            <a:pPr indent="0" marL="0">
              <a:lnSpc>
                <a:spcPct val="120000"/>
              </a:lnSpc>
              <a:buNone/>
            </a:pPr>
            <a:r>
              <a:rPr lang="en-US" sz="1250" dirty="0">
                <a:solidFill>
                  <a:srgbClr val="1E2430"/>
                </a:solidFill>
                <a:latin typeface="Poppins" pitchFamily="34" charset="0"/>
                <a:ea typeface="Poppins" pitchFamily="34" charset="-122"/>
                <a:cs typeface="Poppins" pitchFamily="34" charset="-120"/>
              </a:rPr>
              <a:t>Un CMS sur mesure pour publier de façon autonome actualités, projets et témoignages</a:t>
            </a:r>
            <a:endParaRPr lang="en-US" sz="1250" dirty="0"/>
          </a:p>
        </p:txBody>
      </p:sp>
      <p:sp>
        <p:nvSpPr>
          <p:cNvPr id="13" name="Shape 9"/>
          <p:cNvSpPr/>
          <p:nvPr/>
        </p:nvSpPr>
        <p:spPr>
          <a:xfrm>
            <a:off x="548640" y="4617720"/>
            <a:ext cx="5394960" cy="1463040"/>
          </a:xfrm>
          <a:prstGeom prst="roundRect">
            <a:avLst>
              <a:gd name="adj" fmla="val 6250"/>
            </a:avLst>
          </a:prstGeom>
          <a:solidFill>
            <a:srgbClr val="F2F6FB"/>
          </a:solidFill>
          <a:ln/>
        </p:spPr>
      </p:sp>
      <p:pic>
        <p:nvPicPr>
          <p:cNvPr id="14" name="Image 2" descr="icons/users_blue.png">    </p:cNvPr>
          <p:cNvPicPr>
            <a:picLocks noChangeAspect="1"/>
          </p:cNvPicPr>
          <p:nvPr/>
        </p:nvPicPr>
        <p:blipFill>
          <a:blip r:embed="rId3"/>
          <a:stretch>
            <a:fillRect/>
          </a:stretch>
        </p:blipFill>
        <p:spPr>
          <a:xfrm>
            <a:off x="822960" y="4937760"/>
            <a:ext cx="822960" cy="822960"/>
          </a:xfrm>
          <a:prstGeom prst="rect">
            <a:avLst/>
          </a:prstGeom>
        </p:spPr>
      </p:pic>
      <p:sp>
        <p:nvSpPr>
          <p:cNvPr id="15" name="Text 10"/>
          <p:cNvSpPr/>
          <p:nvPr/>
        </p:nvSpPr>
        <p:spPr>
          <a:xfrm>
            <a:off x="1828800" y="4782312"/>
            <a:ext cx="3840480" cy="1143000"/>
          </a:xfrm>
          <a:prstGeom prst="rect">
            <a:avLst/>
          </a:prstGeom>
          <a:noFill/>
          <a:ln/>
        </p:spPr>
        <p:txBody>
          <a:bodyPr wrap="square" lIns="0" tIns="0" rIns="0" bIns="0" rtlCol="0" anchor="ctr"/>
          <a:lstStyle/>
          <a:p>
            <a:pPr indent="0" marL="0">
              <a:lnSpc>
                <a:spcPct val="120000"/>
              </a:lnSpc>
              <a:buNone/>
            </a:pPr>
            <a:r>
              <a:rPr lang="en-US" sz="1250" dirty="0">
                <a:solidFill>
                  <a:srgbClr val="1E2430"/>
                </a:solidFill>
                <a:latin typeface="Poppins" pitchFamily="34" charset="0"/>
                <a:ea typeface="Poppins" pitchFamily="34" charset="-122"/>
                <a:cs typeface="Poppins" pitchFamily="34" charset="-120"/>
              </a:rPr>
              <a:t>Un mécanisme d'interaction communautaire : newsletter automatisée pour les abonnés</a:t>
            </a:r>
            <a:endParaRPr lang="en-US" sz="1250" dirty="0"/>
          </a:p>
        </p:txBody>
      </p:sp>
      <p:sp>
        <p:nvSpPr>
          <p:cNvPr id="16" name="Shape 11"/>
          <p:cNvSpPr/>
          <p:nvPr/>
        </p:nvSpPr>
        <p:spPr>
          <a:xfrm>
            <a:off x="6263640" y="4617720"/>
            <a:ext cx="5394960" cy="1463040"/>
          </a:xfrm>
          <a:prstGeom prst="roundRect">
            <a:avLst>
              <a:gd name="adj" fmla="val 6250"/>
            </a:avLst>
          </a:prstGeom>
          <a:solidFill>
            <a:srgbClr val="F2F6FB"/>
          </a:solidFill>
          <a:ln/>
        </p:spPr>
      </p:sp>
      <p:pic>
        <p:nvPicPr>
          <p:cNvPr id="17" name="Image 3" descr="icons/chart_blue.png">    </p:cNvPr>
          <p:cNvPicPr>
            <a:picLocks noChangeAspect="1"/>
          </p:cNvPicPr>
          <p:nvPr/>
        </p:nvPicPr>
        <p:blipFill>
          <a:blip r:embed="rId4"/>
          <a:stretch>
            <a:fillRect/>
          </a:stretch>
        </p:blipFill>
        <p:spPr>
          <a:xfrm>
            <a:off x="6537960" y="4937760"/>
            <a:ext cx="822960" cy="822960"/>
          </a:xfrm>
          <a:prstGeom prst="rect">
            <a:avLst/>
          </a:prstGeom>
        </p:spPr>
      </p:pic>
      <p:sp>
        <p:nvSpPr>
          <p:cNvPr id="18" name="Text 12"/>
          <p:cNvSpPr/>
          <p:nvPr/>
        </p:nvSpPr>
        <p:spPr>
          <a:xfrm>
            <a:off x="7543800" y="4782312"/>
            <a:ext cx="3840480" cy="1143000"/>
          </a:xfrm>
          <a:prstGeom prst="rect">
            <a:avLst/>
          </a:prstGeom>
          <a:noFill/>
          <a:ln/>
        </p:spPr>
        <p:txBody>
          <a:bodyPr wrap="square" lIns="0" tIns="0" rIns="0" bIns="0" rtlCol="0" anchor="ctr"/>
          <a:lstStyle/>
          <a:p>
            <a:pPr indent="0" marL="0">
              <a:lnSpc>
                <a:spcPct val="120000"/>
              </a:lnSpc>
              <a:buNone/>
            </a:pPr>
            <a:r>
              <a:rPr lang="en-US" sz="1250" dirty="0">
                <a:solidFill>
                  <a:srgbClr val="1E2430"/>
                </a:solidFill>
                <a:latin typeface="Poppins" pitchFamily="34" charset="0"/>
                <a:ea typeface="Poppins" pitchFamily="34" charset="-122"/>
                <a:cs typeface="Poppins" pitchFamily="34" charset="-120"/>
              </a:rPr>
              <a:t>Des outils de suivi d'audience pour orienter la stratégie de communication</a:t>
            </a:r>
            <a:endParaRPr lang="en-US" sz="1250" dirty="0"/>
          </a:p>
        </p:txBody>
      </p:sp>
      <p:pic>
        <p:nvPicPr>
          <p:cNvPr id="19" name="Image 4" descr="assets/logo_busola.jpg">    </p:cNvPr>
          <p:cNvPicPr>
            <a:picLocks noChangeAspect="1"/>
          </p:cNvPicPr>
          <p:nvPr/>
        </p:nvPicPr>
        <p:blipFill>
          <a:blip r:embed="rId5"/>
          <a:stretch>
            <a:fillRect/>
          </a:stretch>
        </p:blipFill>
        <p:spPr>
          <a:xfrm>
            <a:off x="11140135" y="320040"/>
            <a:ext cx="566928" cy="548640"/>
          </a:xfrm>
          <a:prstGeom prst="rect">
            <a:avLst/>
          </a:prstGeom>
        </p:spPr>
      </p:pic>
      <p:sp>
        <p:nvSpPr>
          <p:cNvPr id="20" name="Shape 13"/>
          <p:cNvSpPr/>
          <p:nvPr/>
        </p:nvSpPr>
        <p:spPr>
          <a:xfrm>
            <a:off x="11624767" y="6345936"/>
            <a:ext cx="310896" cy="310896"/>
          </a:xfrm>
          <a:prstGeom prst="ellipse">
            <a:avLst/>
          </a:prstGeom>
          <a:solidFill>
            <a:srgbClr val="2764AE"/>
          </a:solidFill>
          <a:ln/>
        </p:spPr>
      </p:sp>
      <p:sp>
        <p:nvSpPr>
          <p:cNvPr id="21" name="Text 14"/>
          <p:cNvSpPr/>
          <p:nvPr/>
        </p:nvSpPr>
        <p:spPr>
          <a:xfrm>
            <a:off x="11624767" y="6345936"/>
            <a:ext cx="310896" cy="310896"/>
          </a:xfrm>
          <a:prstGeom prst="rect">
            <a:avLst/>
          </a:prstGeom>
          <a:noFill/>
          <a:ln/>
        </p:spPr>
        <p:txBody>
          <a:bodyPr wrap="square" lIns="0" tIns="0" rIns="0" bIns="0" rtlCol="0" anchor="ctr"/>
          <a:lstStyle/>
          <a:p>
            <a:pPr algn="ctr" indent="0" marL="0">
              <a:buNone/>
            </a:pPr>
            <a:r>
              <a:rPr lang="en-US" sz="1000" b="1" dirty="0">
                <a:solidFill>
                  <a:srgbClr val="FFFFFF"/>
                </a:solidFill>
                <a:latin typeface="Poppins" pitchFamily="34" charset="0"/>
                <a:ea typeface="Poppins" pitchFamily="34" charset="-122"/>
                <a:cs typeface="Poppins" pitchFamily="34" charset="-120"/>
              </a:rPr>
              <a:t>7</a:t>
            </a:r>
            <a:endParaRPr lang="en-US" sz="1000" dirty="0"/>
          </a:p>
        </p:txBody>
      </p:sp>
      <p:sp>
        <p:nvSpPr>
          <p:cNvPr id="22" name="Text 15"/>
          <p:cNvSpPr/>
          <p:nvPr/>
        </p:nvSpPr>
        <p:spPr>
          <a:xfrm>
            <a:off x="457200" y="6437376"/>
            <a:ext cx="5486400" cy="274320"/>
          </a:xfrm>
          <a:prstGeom prst="rect">
            <a:avLst/>
          </a:prstGeom>
          <a:noFill/>
          <a:ln/>
        </p:spPr>
        <p:txBody>
          <a:bodyPr wrap="square" lIns="0" tIns="0" rIns="0" bIns="0" rtlCol="0" anchor="ctr"/>
          <a:lstStyle/>
          <a:p>
            <a:pPr indent="0" marL="0">
              <a:buNone/>
            </a:pPr>
            <a:r>
              <a:rPr lang="en-US" sz="850" dirty="0">
                <a:solidFill>
                  <a:srgbClr val="5B6472"/>
                </a:solidFill>
                <a:latin typeface="Poppins" pitchFamily="34" charset="0"/>
                <a:ea typeface="Poppins" pitchFamily="34" charset="-122"/>
                <a:cs typeface="Poppins" pitchFamily="34" charset="-120"/>
              </a:rPr>
              <a:t>PLATEFORME WEB ONG BUSOLA</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548640" y="384048"/>
            <a:ext cx="9144000" cy="320040"/>
          </a:xfrm>
          <a:prstGeom prst="rect">
            <a:avLst/>
          </a:prstGeom>
          <a:noFill/>
          <a:ln/>
        </p:spPr>
        <p:txBody>
          <a:bodyPr wrap="square" lIns="0" tIns="0" rIns="0" bIns="0" rtlCol="0" anchor="ctr"/>
          <a:lstStyle/>
          <a:p>
            <a:pPr indent="0" marL="0">
              <a:buNone/>
            </a:pPr>
            <a:r>
              <a:rPr lang="en-US" sz="1300" b="1" spc="200" kern="0" dirty="0">
                <a:solidFill>
                  <a:srgbClr val="F6A026"/>
                </a:solidFill>
                <a:latin typeface="Poppins" pitchFamily="34" charset="0"/>
                <a:ea typeface="Poppins" pitchFamily="34" charset="-122"/>
                <a:cs typeface="Poppins" pitchFamily="34" charset="-120"/>
              </a:rPr>
              <a:t>CHAPITRE 1 — LIEU DE STAGE</a:t>
            </a:r>
            <a:endParaRPr lang="en-US" sz="1300" dirty="0"/>
          </a:p>
        </p:txBody>
      </p:sp>
      <p:sp>
        <p:nvSpPr>
          <p:cNvPr id="3" name="Text 1"/>
          <p:cNvSpPr/>
          <p:nvPr/>
        </p:nvSpPr>
        <p:spPr>
          <a:xfrm>
            <a:off x="548640" y="658368"/>
            <a:ext cx="10607040" cy="777240"/>
          </a:xfrm>
          <a:prstGeom prst="rect">
            <a:avLst/>
          </a:prstGeom>
          <a:noFill/>
          <a:ln/>
        </p:spPr>
        <p:txBody>
          <a:bodyPr wrap="square" lIns="0" tIns="0" rIns="0" bIns="0" rtlCol="0" anchor="ctr"/>
          <a:lstStyle/>
          <a:p>
            <a:pPr indent="0" marL="0">
              <a:lnSpc>
                <a:spcPts val="3200"/>
              </a:lnSpc>
              <a:buNone/>
            </a:pPr>
            <a:r>
              <a:rPr lang="en-US" sz="3000" b="1" dirty="0">
                <a:solidFill>
                  <a:srgbClr val="133A61"/>
                </a:solidFill>
                <a:latin typeface="Montserrat" pitchFamily="34" charset="0"/>
                <a:ea typeface="Montserrat" pitchFamily="34" charset="-122"/>
                <a:cs typeface="Montserrat" pitchFamily="34" charset="-120"/>
              </a:rPr>
              <a:t>L'ONG BUSOLA</a:t>
            </a:r>
            <a:endParaRPr lang="en-US" sz="3000" dirty="0"/>
          </a:p>
        </p:txBody>
      </p:sp>
      <p:sp>
        <p:nvSpPr>
          <p:cNvPr id="4" name="Text 2"/>
          <p:cNvSpPr/>
          <p:nvPr/>
        </p:nvSpPr>
        <p:spPr>
          <a:xfrm>
            <a:off x="548640" y="1645920"/>
            <a:ext cx="6400800" cy="1554480"/>
          </a:xfrm>
          <a:prstGeom prst="rect">
            <a:avLst/>
          </a:prstGeom>
          <a:noFill/>
          <a:ln/>
        </p:spPr>
        <p:txBody>
          <a:bodyPr wrap="square" lIns="0" tIns="0" rIns="0" bIns="0" rtlCol="0" anchor="ctr"/>
          <a:lstStyle/>
          <a:p>
            <a:pPr indent="0" marL="0">
              <a:lnSpc>
                <a:spcPct val="130000"/>
              </a:lnSpc>
              <a:buNone/>
            </a:pPr>
            <a:r>
              <a:rPr lang="en-US" sz="1350" b="1" dirty="0">
                <a:solidFill>
                  <a:srgbClr val="2764AE"/>
                </a:solidFill>
                <a:latin typeface="Poppins" pitchFamily="34" charset="0"/>
                <a:ea typeface="Poppins" pitchFamily="34" charset="-122"/>
                <a:cs typeface="Poppins" pitchFamily="34" charset="-120"/>
              </a:rPr>
              <a:t>BUSOLA</a:t>
            </a:r>
            <a:pPr indent="0" marL="0">
              <a:lnSpc>
                <a:spcPct val="130000"/>
              </a:lnSpc>
              <a:buNone/>
            </a:pPr>
            <a:r>
              <a:rPr lang="en-US" sz="1350" dirty="0">
                <a:solidFill>
                  <a:srgbClr val="1E2430"/>
                </a:solidFill>
                <a:latin typeface="Poppins" pitchFamily="34" charset="0"/>
                <a:ea typeface="Poppins" pitchFamily="34" charset="-122"/>
                <a:cs typeface="Poppins" pitchFamily="34" charset="-120"/>
              </a:rPr>
              <a:t> (Bien-être, Union, Solidarité, Orientation et Liberté d'Action) est une organisation à but non lucratif basée à Parakou, fondée en 2020. Sa devise : </a:t>
            </a:r>
            <a:pPr indent="0" marL="0">
              <a:lnSpc>
                <a:spcPct val="130000"/>
              </a:lnSpc>
              <a:buNone/>
            </a:pPr>
            <a:r>
              <a:rPr lang="en-US" sz="1350" b="1" i="1" dirty="0">
                <a:solidFill>
                  <a:srgbClr val="3CAF73"/>
                </a:solidFill>
                <a:latin typeface="Poppins" pitchFamily="34" charset="0"/>
                <a:ea typeface="Poppins" pitchFamily="34" charset="-122"/>
                <a:cs typeface="Poppins" pitchFamily="34" charset="-120"/>
              </a:rPr>
              <a:t>« Changer des vies, inspirer l'avenir. »</a:t>
            </a:r>
            <a:endParaRPr lang="en-US" sz="1350" dirty="0"/>
          </a:p>
        </p:txBody>
      </p:sp>
      <p:sp>
        <p:nvSpPr>
          <p:cNvPr id="5" name="Text 3"/>
          <p:cNvSpPr/>
          <p:nvPr/>
        </p:nvSpPr>
        <p:spPr>
          <a:xfrm>
            <a:off x="548640" y="3200400"/>
            <a:ext cx="5486400" cy="320040"/>
          </a:xfrm>
          <a:prstGeom prst="rect">
            <a:avLst/>
          </a:prstGeom>
          <a:noFill/>
          <a:ln/>
        </p:spPr>
        <p:txBody>
          <a:bodyPr wrap="square" lIns="0" tIns="0" rIns="0" bIns="0" rtlCol="0" anchor="ctr"/>
          <a:lstStyle/>
          <a:p>
            <a:pPr indent="0" marL="0">
              <a:buNone/>
            </a:pPr>
            <a:r>
              <a:rPr lang="en-US" sz="1250" b="1" dirty="0">
                <a:solidFill>
                  <a:srgbClr val="2764AE"/>
                </a:solidFill>
                <a:latin typeface="Poppins" pitchFamily="34" charset="0"/>
                <a:ea typeface="Poppins" pitchFamily="34" charset="-122"/>
                <a:cs typeface="Poppins" pitchFamily="34" charset="-120"/>
              </a:rPr>
              <a:t>5 axes stratégiques d'intervention</a:t>
            </a:r>
            <a:endParaRPr lang="en-US" sz="1250" dirty="0"/>
          </a:p>
        </p:txBody>
      </p:sp>
      <p:sp>
        <p:nvSpPr>
          <p:cNvPr id="6" name="Shape 4"/>
          <p:cNvSpPr/>
          <p:nvPr/>
        </p:nvSpPr>
        <p:spPr>
          <a:xfrm>
            <a:off x="548640" y="3611880"/>
            <a:ext cx="329184" cy="329184"/>
          </a:xfrm>
          <a:prstGeom prst="ellipse">
            <a:avLst/>
          </a:prstGeom>
          <a:solidFill>
            <a:srgbClr val="F6A026"/>
          </a:solidFill>
          <a:ln/>
        </p:spPr>
      </p:sp>
      <p:sp>
        <p:nvSpPr>
          <p:cNvPr id="7" name="Text 5"/>
          <p:cNvSpPr/>
          <p:nvPr/>
        </p:nvSpPr>
        <p:spPr>
          <a:xfrm>
            <a:off x="548640" y="3611880"/>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Poppins" pitchFamily="34" charset="0"/>
                <a:ea typeface="Poppins" pitchFamily="34" charset="-122"/>
                <a:cs typeface="Poppins" pitchFamily="34" charset="-120"/>
              </a:rPr>
              <a:t>1</a:t>
            </a:r>
            <a:endParaRPr lang="en-US" sz="1200" dirty="0"/>
          </a:p>
        </p:txBody>
      </p:sp>
      <p:sp>
        <p:nvSpPr>
          <p:cNvPr id="8" name="Text 6"/>
          <p:cNvSpPr/>
          <p:nvPr/>
        </p:nvSpPr>
        <p:spPr>
          <a:xfrm>
            <a:off x="1005840" y="3593592"/>
            <a:ext cx="6035040" cy="384048"/>
          </a:xfrm>
          <a:prstGeom prst="rect">
            <a:avLst/>
          </a:prstGeom>
          <a:noFill/>
          <a:ln/>
        </p:spPr>
        <p:txBody>
          <a:bodyPr wrap="square" lIns="0" tIns="0" rIns="0" bIns="0" rtlCol="0" anchor="ctr"/>
          <a:lstStyle/>
          <a:p>
            <a:pPr indent="0" marL="0">
              <a:buNone/>
            </a:pPr>
            <a:r>
              <a:rPr lang="en-US" sz="1200" dirty="0">
                <a:solidFill>
                  <a:srgbClr val="1E2430"/>
                </a:solidFill>
                <a:latin typeface="Poppins" pitchFamily="34" charset="0"/>
                <a:ea typeface="Poppins" pitchFamily="34" charset="-122"/>
                <a:cs typeface="Poppins" pitchFamily="34" charset="-120"/>
              </a:rPr>
              <a:t>Santé et Droits Sexuels et Reproductifs (SDSR)</a:t>
            </a:r>
            <a:endParaRPr lang="en-US" sz="1200" dirty="0"/>
          </a:p>
        </p:txBody>
      </p:sp>
      <p:sp>
        <p:nvSpPr>
          <p:cNvPr id="9" name="Shape 7"/>
          <p:cNvSpPr/>
          <p:nvPr/>
        </p:nvSpPr>
        <p:spPr>
          <a:xfrm>
            <a:off x="548640" y="4069080"/>
            <a:ext cx="329184" cy="329184"/>
          </a:xfrm>
          <a:prstGeom prst="ellipse">
            <a:avLst/>
          </a:prstGeom>
          <a:solidFill>
            <a:srgbClr val="3CAF73"/>
          </a:solidFill>
          <a:ln/>
        </p:spPr>
      </p:sp>
      <p:sp>
        <p:nvSpPr>
          <p:cNvPr id="10" name="Text 8"/>
          <p:cNvSpPr/>
          <p:nvPr/>
        </p:nvSpPr>
        <p:spPr>
          <a:xfrm>
            <a:off x="548640" y="4069080"/>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Poppins" pitchFamily="34" charset="0"/>
                <a:ea typeface="Poppins" pitchFamily="34" charset="-122"/>
                <a:cs typeface="Poppins" pitchFamily="34" charset="-120"/>
              </a:rPr>
              <a:t>2</a:t>
            </a:r>
            <a:endParaRPr lang="en-US" sz="1200" dirty="0"/>
          </a:p>
        </p:txBody>
      </p:sp>
      <p:sp>
        <p:nvSpPr>
          <p:cNvPr id="11" name="Text 9"/>
          <p:cNvSpPr/>
          <p:nvPr/>
        </p:nvSpPr>
        <p:spPr>
          <a:xfrm>
            <a:off x="1005840" y="4050792"/>
            <a:ext cx="6035040" cy="384048"/>
          </a:xfrm>
          <a:prstGeom prst="rect">
            <a:avLst/>
          </a:prstGeom>
          <a:noFill/>
          <a:ln/>
        </p:spPr>
        <p:txBody>
          <a:bodyPr wrap="square" lIns="0" tIns="0" rIns="0" bIns="0" rtlCol="0" anchor="ctr"/>
          <a:lstStyle/>
          <a:p>
            <a:pPr indent="0" marL="0">
              <a:buNone/>
            </a:pPr>
            <a:r>
              <a:rPr lang="en-US" sz="1200" dirty="0">
                <a:solidFill>
                  <a:srgbClr val="1E2430"/>
                </a:solidFill>
                <a:latin typeface="Poppins" pitchFamily="34" charset="0"/>
                <a:ea typeface="Poppins" pitchFamily="34" charset="-122"/>
                <a:cs typeface="Poppins" pitchFamily="34" charset="-120"/>
              </a:rPr>
              <a:t>Prévention et réponse aux Violences Basées sur le Genre (VBG)</a:t>
            </a:r>
            <a:endParaRPr lang="en-US" sz="1200" dirty="0"/>
          </a:p>
        </p:txBody>
      </p:sp>
      <p:sp>
        <p:nvSpPr>
          <p:cNvPr id="12" name="Shape 10"/>
          <p:cNvSpPr/>
          <p:nvPr/>
        </p:nvSpPr>
        <p:spPr>
          <a:xfrm>
            <a:off x="548640" y="4526280"/>
            <a:ext cx="329184" cy="329184"/>
          </a:xfrm>
          <a:prstGeom prst="ellipse">
            <a:avLst/>
          </a:prstGeom>
          <a:solidFill>
            <a:srgbClr val="2764AE"/>
          </a:solidFill>
          <a:ln/>
        </p:spPr>
      </p:sp>
      <p:sp>
        <p:nvSpPr>
          <p:cNvPr id="13" name="Text 11"/>
          <p:cNvSpPr/>
          <p:nvPr/>
        </p:nvSpPr>
        <p:spPr>
          <a:xfrm>
            <a:off x="548640" y="4526280"/>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Poppins" pitchFamily="34" charset="0"/>
                <a:ea typeface="Poppins" pitchFamily="34" charset="-122"/>
                <a:cs typeface="Poppins" pitchFamily="34" charset="-120"/>
              </a:rPr>
              <a:t>3</a:t>
            </a:r>
            <a:endParaRPr lang="en-US" sz="1200" dirty="0"/>
          </a:p>
        </p:txBody>
      </p:sp>
      <p:sp>
        <p:nvSpPr>
          <p:cNvPr id="14" name="Text 12"/>
          <p:cNvSpPr/>
          <p:nvPr/>
        </p:nvSpPr>
        <p:spPr>
          <a:xfrm>
            <a:off x="1005840" y="4507992"/>
            <a:ext cx="6035040" cy="384048"/>
          </a:xfrm>
          <a:prstGeom prst="rect">
            <a:avLst/>
          </a:prstGeom>
          <a:noFill/>
          <a:ln/>
        </p:spPr>
        <p:txBody>
          <a:bodyPr wrap="square" lIns="0" tIns="0" rIns="0" bIns="0" rtlCol="0" anchor="ctr"/>
          <a:lstStyle/>
          <a:p>
            <a:pPr indent="0" marL="0">
              <a:buNone/>
            </a:pPr>
            <a:r>
              <a:rPr lang="en-US" sz="1200" dirty="0">
                <a:solidFill>
                  <a:srgbClr val="1E2430"/>
                </a:solidFill>
                <a:latin typeface="Poppins" pitchFamily="34" charset="0"/>
                <a:ea typeface="Poppins" pitchFamily="34" charset="-122"/>
                <a:cs typeface="Poppins" pitchFamily="34" charset="-120"/>
              </a:rPr>
              <a:t>Leadership, éducation et autonomisation</a:t>
            </a:r>
            <a:endParaRPr lang="en-US" sz="1200" dirty="0"/>
          </a:p>
        </p:txBody>
      </p:sp>
      <p:sp>
        <p:nvSpPr>
          <p:cNvPr id="15" name="Shape 13"/>
          <p:cNvSpPr/>
          <p:nvPr/>
        </p:nvSpPr>
        <p:spPr>
          <a:xfrm>
            <a:off x="548640" y="4983480"/>
            <a:ext cx="329184" cy="329184"/>
          </a:xfrm>
          <a:prstGeom prst="ellipse">
            <a:avLst/>
          </a:prstGeom>
          <a:solidFill>
            <a:srgbClr val="F6A026"/>
          </a:solidFill>
          <a:ln/>
        </p:spPr>
      </p:sp>
      <p:sp>
        <p:nvSpPr>
          <p:cNvPr id="16" name="Text 14"/>
          <p:cNvSpPr/>
          <p:nvPr/>
        </p:nvSpPr>
        <p:spPr>
          <a:xfrm>
            <a:off x="548640" y="4983480"/>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Poppins" pitchFamily="34" charset="0"/>
                <a:ea typeface="Poppins" pitchFamily="34" charset="-122"/>
                <a:cs typeface="Poppins" pitchFamily="34" charset="-120"/>
              </a:rPr>
              <a:t>4</a:t>
            </a:r>
            <a:endParaRPr lang="en-US" sz="1200" dirty="0"/>
          </a:p>
        </p:txBody>
      </p:sp>
      <p:sp>
        <p:nvSpPr>
          <p:cNvPr id="17" name="Text 15"/>
          <p:cNvSpPr/>
          <p:nvPr/>
        </p:nvSpPr>
        <p:spPr>
          <a:xfrm>
            <a:off x="1005840" y="4965192"/>
            <a:ext cx="6035040" cy="384048"/>
          </a:xfrm>
          <a:prstGeom prst="rect">
            <a:avLst/>
          </a:prstGeom>
          <a:noFill/>
          <a:ln/>
        </p:spPr>
        <p:txBody>
          <a:bodyPr wrap="square" lIns="0" tIns="0" rIns="0" bIns="0" rtlCol="0" anchor="ctr"/>
          <a:lstStyle/>
          <a:p>
            <a:pPr indent="0" marL="0">
              <a:buNone/>
            </a:pPr>
            <a:r>
              <a:rPr lang="en-US" sz="1200" dirty="0">
                <a:solidFill>
                  <a:srgbClr val="1E2430"/>
                </a:solidFill>
                <a:latin typeface="Poppins" pitchFamily="34" charset="0"/>
                <a:ea typeface="Poppins" pitchFamily="34" charset="-122"/>
                <a:cs typeface="Poppins" pitchFamily="34" charset="-120"/>
              </a:rPr>
              <a:t>Paix, cohésion sociale et citoyenneté</a:t>
            </a:r>
            <a:endParaRPr lang="en-US" sz="1200" dirty="0"/>
          </a:p>
        </p:txBody>
      </p:sp>
      <p:sp>
        <p:nvSpPr>
          <p:cNvPr id="18" name="Shape 16"/>
          <p:cNvSpPr/>
          <p:nvPr/>
        </p:nvSpPr>
        <p:spPr>
          <a:xfrm>
            <a:off x="548640" y="5440680"/>
            <a:ext cx="329184" cy="329184"/>
          </a:xfrm>
          <a:prstGeom prst="ellipse">
            <a:avLst/>
          </a:prstGeom>
          <a:solidFill>
            <a:srgbClr val="3CAF73"/>
          </a:solidFill>
          <a:ln/>
        </p:spPr>
      </p:sp>
      <p:sp>
        <p:nvSpPr>
          <p:cNvPr id="19" name="Text 17"/>
          <p:cNvSpPr/>
          <p:nvPr/>
        </p:nvSpPr>
        <p:spPr>
          <a:xfrm>
            <a:off x="548640" y="5440680"/>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Poppins" pitchFamily="34" charset="0"/>
                <a:ea typeface="Poppins" pitchFamily="34" charset="-122"/>
                <a:cs typeface="Poppins" pitchFamily="34" charset="-120"/>
              </a:rPr>
              <a:t>5</a:t>
            </a:r>
            <a:endParaRPr lang="en-US" sz="1200" dirty="0"/>
          </a:p>
        </p:txBody>
      </p:sp>
      <p:sp>
        <p:nvSpPr>
          <p:cNvPr id="20" name="Text 18"/>
          <p:cNvSpPr/>
          <p:nvPr/>
        </p:nvSpPr>
        <p:spPr>
          <a:xfrm>
            <a:off x="1005840" y="5422392"/>
            <a:ext cx="6035040" cy="384048"/>
          </a:xfrm>
          <a:prstGeom prst="rect">
            <a:avLst/>
          </a:prstGeom>
          <a:noFill/>
          <a:ln/>
        </p:spPr>
        <p:txBody>
          <a:bodyPr wrap="square" lIns="0" tIns="0" rIns="0" bIns="0" rtlCol="0" anchor="ctr"/>
          <a:lstStyle/>
          <a:p>
            <a:pPr indent="0" marL="0">
              <a:buNone/>
            </a:pPr>
            <a:r>
              <a:rPr lang="en-US" sz="1200" dirty="0">
                <a:solidFill>
                  <a:srgbClr val="1E2430"/>
                </a:solidFill>
                <a:latin typeface="Poppins" pitchFamily="34" charset="0"/>
                <a:ea typeface="Poppins" pitchFamily="34" charset="-122"/>
                <a:cs typeface="Poppins" pitchFamily="34" charset="-120"/>
              </a:rPr>
              <a:t>Protection de l'environnement</a:t>
            </a:r>
            <a:endParaRPr lang="en-US" sz="1200" dirty="0"/>
          </a:p>
        </p:txBody>
      </p:sp>
      <p:pic>
        <p:nvPicPr>
          <p:cNvPr id="21" name="Image 0" descr="assets/organigramme.png">    </p:cNvPr>
          <p:cNvPicPr>
            <a:picLocks noChangeAspect="1"/>
          </p:cNvPicPr>
          <p:nvPr/>
        </p:nvPicPr>
        <p:blipFill>
          <a:blip r:embed="rId1"/>
          <a:stretch>
            <a:fillRect/>
          </a:stretch>
        </p:blipFill>
        <p:spPr>
          <a:xfrm>
            <a:off x="7360920" y="1645920"/>
            <a:ext cx="4343400" cy="3063240"/>
          </a:xfrm>
          <a:prstGeom prst="rect">
            <a:avLst/>
          </a:prstGeom>
        </p:spPr>
      </p:pic>
      <p:sp>
        <p:nvSpPr>
          <p:cNvPr id="22" name="Text 19"/>
          <p:cNvSpPr/>
          <p:nvPr/>
        </p:nvSpPr>
        <p:spPr>
          <a:xfrm>
            <a:off x="7360920" y="4754880"/>
            <a:ext cx="4343400" cy="274320"/>
          </a:xfrm>
          <a:prstGeom prst="rect">
            <a:avLst/>
          </a:prstGeom>
          <a:noFill/>
          <a:ln/>
        </p:spPr>
        <p:txBody>
          <a:bodyPr wrap="square" lIns="0" tIns="0" rIns="0" bIns="0" rtlCol="0" anchor="ctr"/>
          <a:lstStyle/>
          <a:p>
            <a:pPr algn="ctr" indent="0" marL="0">
              <a:buNone/>
            </a:pPr>
            <a:r>
              <a:rPr lang="en-US" sz="950" i="1" dirty="0">
                <a:solidFill>
                  <a:srgbClr val="5B6472"/>
                </a:solidFill>
                <a:latin typeface="Poppins" pitchFamily="34" charset="0"/>
                <a:ea typeface="Poppins" pitchFamily="34" charset="-122"/>
                <a:cs typeface="Poppins" pitchFamily="34" charset="-120"/>
              </a:rPr>
              <a:t>Figure — Organigramme de l'ONG BUSOLA</a:t>
            </a:r>
            <a:endParaRPr lang="en-US" sz="950" dirty="0"/>
          </a:p>
        </p:txBody>
      </p:sp>
      <p:sp>
        <p:nvSpPr>
          <p:cNvPr id="23" name="Shape 20"/>
          <p:cNvSpPr/>
          <p:nvPr/>
        </p:nvSpPr>
        <p:spPr>
          <a:xfrm>
            <a:off x="7360920" y="5120640"/>
            <a:ext cx="4343400" cy="1051560"/>
          </a:xfrm>
          <a:prstGeom prst="roundRect">
            <a:avLst>
              <a:gd name="adj" fmla="val 8696"/>
            </a:avLst>
          </a:prstGeom>
          <a:solidFill>
            <a:srgbClr val="133A61"/>
          </a:solidFill>
          <a:ln/>
        </p:spPr>
      </p:sp>
      <p:sp>
        <p:nvSpPr>
          <p:cNvPr id="24" name="Text 21"/>
          <p:cNvSpPr/>
          <p:nvPr/>
        </p:nvSpPr>
        <p:spPr>
          <a:xfrm>
            <a:off x="7635240" y="5257800"/>
            <a:ext cx="3794760" cy="822960"/>
          </a:xfrm>
          <a:prstGeom prst="rect">
            <a:avLst/>
          </a:prstGeom>
          <a:noFill/>
          <a:ln/>
        </p:spPr>
        <p:txBody>
          <a:bodyPr wrap="square" lIns="0" tIns="0" rIns="0" bIns="0" rtlCol="0" anchor="ctr"/>
          <a:lstStyle/>
          <a:p>
            <a:pPr indent="0" marL="0">
              <a:lnSpc>
                <a:spcPct val="120000"/>
              </a:lnSpc>
              <a:buNone/>
            </a:pPr>
            <a:r>
              <a:rPr lang="en-US" sz="1100" dirty="0">
                <a:solidFill>
                  <a:srgbClr val="FFFFFF"/>
                </a:solidFill>
                <a:latin typeface="Poppins" pitchFamily="34" charset="0"/>
                <a:ea typeface="Poppins" pitchFamily="34" charset="-122"/>
                <a:cs typeface="Poppins" pitchFamily="34" charset="-120"/>
              </a:rPr>
              <a:t>Stage : 3 mois — Conception et développement du site web officiel de l'ONG BUSOLA</a:t>
            </a:r>
            <a:endParaRPr lang="en-US" sz="1100" dirty="0"/>
          </a:p>
        </p:txBody>
      </p:sp>
      <p:pic>
        <p:nvPicPr>
          <p:cNvPr id="25" name="Image 1" descr="assets/logo_busola.jpg">    </p:cNvPr>
          <p:cNvPicPr>
            <a:picLocks noChangeAspect="1"/>
          </p:cNvPicPr>
          <p:nvPr/>
        </p:nvPicPr>
        <p:blipFill>
          <a:blip r:embed="rId2"/>
          <a:stretch>
            <a:fillRect/>
          </a:stretch>
        </p:blipFill>
        <p:spPr>
          <a:xfrm>
            <a:off x="11140135" y="320040"/>
            <a:ext cx="566928" cy="548640"/>
          </a:xfrm>
          <a:prstGeom prst="rect">
            <a:avLst/>
          </a:prstGeom>
        </p:spPr>
      </p:pic>
      <p:sp>
        <p:nvSpPr>
          <p:cNvPr id="26" name="Shape 22"/>
          <p:cNvSpPr/>
          <p:nvPr/>
        </p:nvSpPr>
        <p:spPr>
          <a:xfrm>
            <a:off x="11624767" y="6345936"/>
            <a:ext cx="310896" cy="310896"/>
          </a:xfrm>
          <a:prstGeom prst="ellipse">
            <a:avLst/>
          </a:prstGeom>
          <a:solidFill>
            <a:srgbClr val="2764AE"/>
          </a:solidFill>
          <a:ln/>
        </p:spPr>
      </p:sp>
      <p:sp>
        <p:nvSpPr>
          <p:cNvPr id="27" name="Text 23"/>
          <p:cNvSpPr/>
          <p:nvPr/>
        </p:nvSpPr>
        <p:spPr>
          <a:xfrm>
            <a:off x="11624767" y="6345936"/>
            <a:ext cx="310896" cy="310896"/>
          </a:xfrm>
          <a:prstGeom prst="rect">
            <a:avLst/>
          </a:prstGeom>
          <a:noFill/>
          <a:ln/>
        </p:spPr>
        <p:txBody>
          <a:bodyPr wrap="square" lIns="0" tIns="0" rIns="0" bIns="0" rtlCol="0" anchor="ctr"/>
          <a:lstStyle/>
          <a:p>
            <a:pPr algn="ctr" indent="0" marL="0">
              <a:buNone/>
            </a:pPr>
            <a:r>
              <a:rPr lang="en-US" sz="1000" b="1" dirty="0">
                <a:solidFill>
                  <a:srgbClr val="FFFFFF"/>
                </a:solidFill>
                <a:latin typeface="Poppins" pitchFamily="34" charset="0"/>
                <a:ea typeface="Poppins" pitchFamily="34" charset="-122"/>
                <a:cs typeface="Poppins" pitchFamily="34" charset="-120"/>
              </a:rPr>
              <a:t>8</a:t>
            </a:r>
            <a:endParaRPr lang="en-US" sz="1000" dirty="0"/>
          </a:p>
        </p:txBody>
      </p:sp>
      <p:sp>
        <p:nvSpPr>
          <p:cNvPr id="28" name="Text 24"/>
          <p:cNvSpPr/>
          <p:nvPr/>
        </p:nvSpPr>
        <p:spPr>
          <a:xfrm>
            <a:off x="457200" y="6437376"/>
            <a:ext cx="5486400" cy="274320"/>
          </a:xfrm>
          <a:prstGeom prst="rect">
            <a:avLst/>
          </a:prstGeom>
          <a:noFill/>
          <a:ln/>
        </p:spPr>
        <p:txBody>
          <a:bodyPr wrap="square" lIns="0" tIns="0" rIns="0" bIns="0" rtlCol="0" anchor="ctr"/>
          <a:lstStyle/>
          <a:p>
            <a:pPr indent="0" marL="0">
              <a:buNone/>
            </a:pPr>
            <a:r>
              <a:rPr lang="en-US" sz="850" dirty="0">
                <a:solidFill>
                  <a:srgbClr val="5B6472"/>
                </a:solidFill>
                <a:latin typeface="Poppins" pitchFamily="34" charset="0"/>
                <a:ea typeface="Poppins" pitchFamily="34" charset="-122"/>
                <a:cs typeface="Poppins" pitchFamily="34" charset="-120"/>
              </a:rPr>
              <a:t>PLATEFORME WEB ONG BUSOLA</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33A61"/>
        </a:solidFill>
      </p:bgPr>
    </p:bg>
    <p:spTree>
      <p:nvGrpSpPr>
        <p:cNvPr id="1" name=""/>
        <p:cNvGrpSpPr/>
        <p:nvPr/>
      </p:nvGrpSpPr>
      <p:grpSpPr>
        <a:xfrm>
          <a:off x="0" y="0"/>
          <a:ext cx="0" cy="0"/>
          <a:chOff x="0" y="0"/>
          <a:chExt cx="0" cy="0"/>
        </a:xfrm>
      </p:grpSpPr>
      <p:sp>
        <p:nvSpPr>
          <p:cNvPr id="2" name="Shape 0"/>
          <p:cNvSpPr/>
          <p:nvPr/>
        </p:nvSpPr>
        <p:spPr>
          <a:xfrm>
            <a:off x="9448495" y="-1828800"/>
            <a:ext cx="5486400" cy="5486400"/>
          </a:xfrm>
          <a:prstGeom prst="ellipse">
            <a:avLst/>
          </a:prstGeom>
          <a:solidFill>
            <a:srgbClr val="2764AE">
              <a:alpha val="45000"/>
            </a:srgbClr>
          </a:solidFill>
          <a:ln/>
        </p:spPr>
      </p:sp>
      <p:sp>
        <p:nvSpPr>
          <p:cNvPr id="3" name="Shape 1"/>
          <p:cNvSpPr/>
          <p:nvPr/>
        </p:nvSpPr>
        <p:spPr>
          <a:xfrm>
            <a:off x="-1828800" y="4663440"/>
            <a:ext cx="4572000" cy="4572000"/>
          </a:xfrm>
          <a:prstGeom prst="ellipse">
            <a:avLst/>
          </a:prstGeom>
          <a:solidFill>
            <a:srgbClr val="3CAF73">
              <a:alpha val="30000"/>
            </a:srgbClr>
          </a:solidFill>
          <a:ln/>
        </p:spPr>
      </p:sp>
      <p:sp>
        <p:nvSpPr>
          <p:cNvPr id="4" name="Text 2"/>
          <p:cNvSpPr/>
          <p:nvPr/>
        </p:nvSpPr>
        <p:spPr>
          <a:xfrm>
            <a:off x="822960" y="2331720"/>
            <a:ext cx="2743200" cy="1463040"/>
          </a:xfrm>
          <a:prstGeom prst="rect">
            <a:avLst/>
          </a:prstGeom>
          <a:noFill/>
          <a:ln/>
        </p:spPr>
        <p:txBody>
          <a:bodyPr wrap="square" lIns="0" tIns="0" rIns="0" bIns="0" rtlCol="0" anchor="ctr"/>
          <a:lstStyle/>
          <a:p>
            <a:pPr indent="0" marL="0">
              <a:buNone/>
            </a:pPr>
            <a:r>
              <a:rPr lang="en-US" sz="9000" b="1" dirty="0">
                <a:solidFill>
                  <a:srgbClr val="2E5F94"/>
                </a:solidFill>
                <a:latin typeface="Montserrat" pitchFamily="34" charset="0"/>
                <a:ea typeface="Montserrat" pitchFamily="34" charset="-122"/>
                <a:cs typeface="Montserrat" pitchFamily="34" charset="-120"/>
              </a:rPr>
              <a:t>II</a:t>
            </a:r>
            <a:endParaRPr lang="en-US" sz="9000" dirty="0"/>
          </a:p>
        </p:txBody>
      </p:sp>
      <p:sp>
        <p:nvSpPr>
          <p:cNvPr id="5" name="Shape 3"/>
          <p:cNvSpPr/>
          <p:nvPr/>
        </p:nvSpPr>
        <p:spPr>
          <a:xfrm>
            <a:off x="3246120" y="2606040"/>
            <a:ext cx="54864" cy="1737360"/>
          </a:xfrm>
          <a:prstGeom prst="rect">
            <a:avLst/>
          </a:prstGeom>
          <a:solidFill>
            <a:srgbClr val="F6A026"/>
          </a:solidFill>
          <a:ln/>
        </p:spPr>
      </p:sp>
      <p:sp>
        <p:nvSpPr>
          <p:cNvPr id="6" name="Text 4"/>
          <p:cNvSpPr/>
          <p:nvPr/>
        </p:nvSpPr>
        <p:spPr>
          <a:xfrm>
            <a:off x="3566160" y="2697480"/>
            <a:ext cx="7863840" cy="1005840"/>
          </a:xfrm>
          <a:prstGeom prst="rect">
            <a:avLst/>
          </a:prstGeom>
          <a:noFill/>
          <a:ln/>
        </p:spPr>
        <p:txBody>
          <a:bodyPr wrap="square" lIns="0" tIns="0" rIns="0" bIns="0" rtlCol="0" anchor="ctr"/>
          <a:lstStyle/>
          <a:p>
            <a:pPr indent="0" marL="0">
              <a:lnSpc>
                <a:spcPct val="110000"/>
              </a:lnSpc>
              <a:buNone/>
            </a:pPr>
            <a:r>
              <a:rPr lang="en-US" sz="3200" b="1" dirty="0">
                <a:solidFill>
                  <a:srgbClr val="FFFFFF"/>
                </a:solidFill>
                <a:latin typeface="Montserrat" pitchFamily="34" charset="0"/>
                <a:ea typeface="Montserrat" pitchFamily="34" charset="-122"/>
                <a:cs typeface="Montserrat" pitchFamily="34" charset="-120"/>
              </a:rPr>
              <a:t>Étude de l'existant</a:t>
            </a:r>
            <a:endParaRPr lang="en-US" sz="3200" dirty="0"/>
          </a:p>
        </p:txBody>
      </p:sp>
      <p:sp>
        <p:nvSpPr>
          <p:cNvPr id="7" name="Text 5"/>
          <p:cNvSpPr/>
          <p:nvPr/>
        </p:nvSpPr>
        <p:spPr>
          <a:xfrm>
            <a:off x="3566160" y="3566160"/>
            <a:ext cx="7863840" cy="640080"/>
          </a:xfrm>
          <a:prstGeom prst="rect">
            <a:avLst/>
          </a:prstGeom>
          <a:noFill/>
          <a:ln/>
        </p:spPr>
        <p:txBody>
          <a:bodyPr wrap="square" lIns="0" tIns="0" rIns="0" bIns="0" rtlCol="0" anchor="ctr"/>
          <a:lstStyle/>
          <a:p>
            <a:pPr indent="0" marL="0">
              <a:buNone/>
            </a:pPr>
            <a:r>
              <a:rPr lang="en-US" sz="1400" i="1" dirty="0">
                <a:solidFill>
                  <a:srgbClr val="C7D6E8"/>
                </a:solidFill>
                <a:latin typeface="Poppins" pitchFamily="34" charset="0"/>
                <a:ea typeface="Poppins" pitchFamily="34" charset="-122"/>
                <a:cs typeface="Poppins" pitchFamily="34" charset="-120"/>
              </a:rPr>
              <a:t>Problématique, analyse SWOT et cahier des charges</a:t>
            </a: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548640" y="384048"/>
            <a:ext cx="9144000" cy="320040"/>
          </a:xfrm>
          <a:prstGeom prst="rect">
            <a:avLst/>
          </a:prstGeom>
          <a:noFill/>
          <a:ln/>
        </p:spPr>
        <p:txBody>
          <a:bodyPr wrap="square" lIns="0" tIns="0" rIns="0" bIns="0" rtlCol="0" anchor="ctr"/>
          <a:lstStyle/>
          <a:p>
            <a:pPr indent="0" marL="0">
              <a:buNone/>
            </a:pPr>
            <a:r>
              <a:rPr lang="en-US" sz="1300" b="1" spc="200" kern="0" dirty="0">
                <a:solidFill>
                  <a:srgbClr val="F6A026"/>
                </a:solidFill>
                <a:latin typeface="Poppins" pitchFamily="34" charset="0"/>
                <a:ea typeface="Poppins" pitchFamily="34" charset="-122"/>
                <a:cs typeface="Poppins" pitchFamily="34" charset="-120"/>
              </a:rPr>
              <a:t>CHAPITRE 2 — ÉTUDE DE L'EXISTANT</a:t>
            </a:r>
            <a:endParaRPr lang="en-US" sz="1300" dirty="0"/>
          </a:p>
        </p:txBody>
      </p:sp>
      <p:sp>
        <p:nvSpPr>
          <p:cNvPr id="3" name="Text 1"/>
          <p:cNvSpPr/>
          <p:nvPr/>
        </p:nvSpPr>
        <p:spPr>
          <a:xfrm>
            <a:off x="548640" y="658368"/>
            <a:ext cx="10607040" cy="777240"/>
          </a:xfrm>
          <a:prstGeom prst="rect">
            <a:avLst/>
          </a:prstGeom>
          <a:noFill/>
          <a:ln/>
        </p:spPr>
        <p:txBody>
          <a:bodyPr wrap="square" lIns="0" tIns="0" rIns="0" bIns="0" rtlCol="0" anchor="ctr"/>
          <a:lstStyle/>
          <a:p>
            <a:pPr indent="0" marL="0">
              <a:lnSpc>
                <a:spcPts val="3200"/>
              </a:lnSpc>
              <a:buNone/>
            </a:pPr>
            <a:r>
              <a:rPr lang="en-US" sz="3000" b="1" dirty="0">
                <a:solidFill>
                  <a:srgbClr val="133A61"/>
                </a:solidFill>
                <a:latin typeface="Montserrat" pitchFamily="34" charset="0"/>
                <a:ea typeface="Montserrat" pitchFamily="34" charset="-122"/>
                <a:cs typeface="Montserrat" pitchFamily="34" charset="-120"/>
              </a:rPr>
              <a:t>Problématique &amp; intérêt du projet</a:t>
            </a:r>
            <a:endParaRPr lang="en-US" sz="3000" dirty="0"/>
          </a:p>
        </p:txBody>
      </p:sp>
      <p:sp>
        <p:nvSpPr>
          <p:cNvPr id="4" name="Shape 2"/>
          <p:cNvSpPr/>
          <p:nvPr/>
        </p:nvSpPr>
        <p:spPr>
          <a:xfrm>
            <a:off x="548640" y="1645920"/>
            <a:ext cx="11109960" cy="1600200"/>
          </a:xfrm>
          <a:prstGeom prst="roundRect">
            <a:avLst>
              <a:gd name="adj" fmla="val 5714"/>
            </a:avLst>
          </a:prstGeom>
          <a:solidFill>
            <a:srgbClr val="F2F6FB"/>
          </a:solidFill>
          <a:ln/>
        </p:spPr>
      </p:sp>
      <p:sp>
        <p:nvSpPr>
          <p:cNvPr id="5" name="Text 3"/>
          <p:cNvSpPr/>
          <p:nvPr/>
        </p:nvSpPr>
        <p:spPr>
          <a:xfrm>
            <a:off x="822960" y="1783080"/>
            <a:ext cx="3657600" cy="274320"/>
          </a:xfrm>
          <a:prstGeom prst="rect">
            <a:avLst/>
          </a:prstGeom>
          <a:noFill/>
          <a:ln/>
        </p:spPr>
        <p:txBody>
          <a:bodyPr wrap="square" lIns="0" tIns="0" rIns="0" bIns="0" rtlCol="0" anchor="ctr"/>
          <a:lstStyle/>
          <a:p>
            <a:pPr indent="0" marL="0">
              <a:buNone/>
            </a:pPr>
            <a:r>
              <a:rPr lang="en-US" sz="1150" b="1" spc="150" kern="0" dirty="0">
                <a:solidFill>
                  <a:srgbClr val="2764AE"/>
                </a:solidFill>
                <a:latin typeface="Poppins" pitchFamily="34" charset="0"/>
                <a:ea typeface="Poppins" pitchFamily="34" charset="-122"/>
                <a:cs typeface="Poppins" pitchFamily="34" charset="-120"/>
              </a:rPr>
              <a:t>Problématique</a:t>
            </a:r>
            <a:endParaRPr lang="en-US" sz="1150" dirty="0"/>
          </a:p>
        </p:txBody>
      </p:sp>
      <p:sp>
        <p:nvSpPr>
          <p:cNvPr id="6" name="Text 4"/>
          <p:cNvSpPr/>
          <p:nvPr/>
        </p:nvSpPr>
        <p:spPr>
          <a:xfrm>
            <a:off x="822960" y="2084832"/>
            <a:ext cx="10561320" cy="1097280"/>
          </a:xfrm>
          <a:prstGeom prst="rect">
            <a:avLst/>
          </a:prstGeom>
          <a:noFill/>
          <a:ln/>
        </p:spPr>
        <p:txBody>
          <a:bodyPr wrap="square" lIns="0" tIns="0" rIns="0" bIns="0" rtlCol="0" anchor="ctr"/>
          <a:lstStyle/>
          <a:p>
            <a:pPr indent="0" marL="0">
              <a:lnSpc>
                <a:spcPct val="125000"/>
              </a:lnSpc>
              <a:buNone/>
            </a:pPr>
            <a:r>
              <a:rPr lang="en-US" sz="1300" i="1" dirty="0">
                <a:solidFill>
                  <a:srgbClr val="1E2430"/>
                </a:solidFill>
                <a:latin typeface="Poppins" pitchFamily="34" charset="0"/>
                <a:ea typeface="Poppins" pitchFamily="34" charset="-122"/>
                <a:cs typeface="Poppins" pitchFamily="34" charset="-120"/>
              </a:rPr>
              <a:t>Comment concevoir et développer une plateforme web permettant à l'ONG BUSOLA de centraliser la diffusion de ses contenus, de renforcer sa visibilité et de fluidifier sa communication avec ses bénévoles et abonnés, tout en garantissant une gestion simple et sécurisée pour un administrateur unique ?</a:t>
            </a:r>
            <a:endParaRPr lang="en-US" sz="1300" dirty="0"/>
          </a:p>
        </p:txBody>
      </p:sp>
      <p:sp>
        <p:nvSpPr>
          <p:cNvPr id="7" name="Text 5"/>
          <p:cNvSpPr/>
          <p:nvPr/>
        </p:nvSpPr>
        <p:spPr>
          <a:xfrm>
            <a:off x="548640" y="3520440"/>
            <a:ext cx="7315200" cy="365760"/>
          </a:xfrm>
          <a:prstGeom prst="rect">
            <a:avLst/>
          </a:prstGeom>
          <a:noFill/>
          <a:ln/>
        </p:spPr>
        <p:txBody>
          <a:bodyPr wrap="square" lIns="0" tIns="0" rIns="0" bIns="0" rtlCol="0" anchor="ctr"/>
          <a:lstStyle/>
          <a:p>
            <a:pPr indent="0" marL="0">
              <a:buNone/>
            </a:pPr>
            <a:r>
              <a:rPr lang="en-US" sz="1600" b="1" dirty="0">
                <a:solidFill>
                  <a:srgbClr val="133A61"/>
                </a:solidFill>
                <a:latin typeface="Montserrat" pitchFamily="34" charset="0"/>
                <a:ea typeface="Montserrat" pitchFamily="34" charset="-122"/>
                <a:cs typeface="Montserrat" pitchFamily="34" charset="-120"/>
              </a:rPr>
              <a:t>Pourquoi concevoir cette plateforme ?</a:t>
            </a:r>
            <a:endParaRPr lang="en-US" sz="1600" dirty="0"/>
          </a:p>
        </p:txBody>
      </p:sp>
      <p:sp>
        <p:nvSpPr>
          <p:cNvPr id="8" name="Shape 6"/>
          <p:cNvSpPr/>
          <p:nvPr/>
        </p:nvSpPr>
        <p:spPr>
          <a:xfrm>
            <a:off x="548640" y="3977640"/>
            <a:ext cx="3520440" cy="2194560"/>
          </a:xfrm>
          <a:prstGeom prst="roundRect">
            <a:avLst>
              <a:gd name="adj" fmla="val 4167"/>
            </a:avLst>
          </a:prstGeom>
          <a:solidFill>
            <a:srgbClr val="F2F6FB"/>
          </a:solidFill>
          <a:ln/>
        </p:spPr>
      </p:sp>
      <p:pic>
        <p:nvPicPr>
          <p:cNvPr id="9" name="Image 0" descr="icons/check_blue.png">    </p:cNvPr>
          <p:cNvPicPr>
            <a:picLocks noChangeAspect="1"/>
          </p:cNvPicPr>
          <p:nvPr/>
        </p:nvPicPr>
        <p:blipFill>
          <a:blip r:embed="rId1"/>
          <a:stretch>
            <a:fillRect/>
          </a:stretch>
        </p:blipFill>
        <p:spPr>
          <a:xfrm>
            <a:off x="804672" y="4206240"/>
            <a:ext cx="640080" cy="640080"/>
          </a:xfrm>
          <a:prstGeom prst="rect">
            <a:avLst/>
          </a:prstGeom>
        </p:spPr>
      </p:pic>
      <p:sp>
        <p:nvSpPr>
          <p:cNvPr id="10" name="Text 7"/>
          <p:cNvSpPr/>
          <p:nvPr/>
        </p:nvSpPr>
        <p:spPr>
          <a:xfrm>
            <a:off x="804672" y="4937760"/>
            <a:ext cx="3017520" cy="1143000"/>
          </a:xfrm>
          <a:prstGeom prst="rect">
            <a:avLst/>
          </a:prstGeom>
          <a:noFill/>
          <a:ln/>
        </p:spPr>
        <p:txBody>
          <a:bodyPr wrap="square" lIns="0" tIns="0" rIns="0" bIns="0" rtlCol="0" anchor="ctr"/>
          <a:lstStyle/>
          <a:p>
            <a:pPr indent="0" marL="0">
              <a:lnSpc>
                <a:spcPct val="120000"/>
              </a:lnSpc>
              <a:buNone/>
            </a:pPr>
            <a:r>
              <a:rPr lang="en-US" sz="1200" dirty="0">
                <a:solidFill>
                  <a:srgbClr val="1E2430"/>
                </a:solidFill>
                <a:latin typeface="Poppins" pitchFamily="34" charset="0"/>
                <a:ea typeface="Poppins" pitchFamily="34" charset="-122"/>
                <a:cs typeface="Poppins" pitchFamily="34" charset="-120"/>
              </a:rPr>
              <a:t>Contrôle total du contenu, contrairement à une simple page réseau social</a:t>
            </a:r>
            <a:endParaRPr lang="en-US" sz="1200" dirty="0"/>
          </a:p>
        </p:txBody>
      </p:sp>
      <p:sp>
        <p:nvSpPr>
          <p:cNvPr id="11" name="Shape 8"/>
          <p:cNvSpPr/>
          <p:nvPr/>
        </p:nvSpPr>
        <p:spPr>
          <a:xfrm>
            <a:off x="4297680" y="3977640"/>
            <a:ext cx="3520440" cy="2194560"/>
          </a:xfrm>
          <a:prstGeom prst="roundRect">
            <a:avLst>
              <a:gd name="adj" fmla="val 4167"/>
            </a:avLst>
          </a:prstGeom>
          <a:solidFill>
            <a:srgbClr val="3CAF73"/>
          </a:solidFill>
          <a:ln/>
        </p:spPr>
      </p:sp>
      <p:pic>
        <p:nvPicPr>
          <p:cNvPr id="12" name="Image 1" descr="icons/shield_white.png">    </p:cNvPr>
          <p:cNvPicPr>
            <a:picLocks noChangeAspect="1"/>
          </p:cNvPicPr>
          <p:nvPr/>
        </p:nvPicPr>
        <p:blipFill>
          <a:blip r:embed="rId2"/>
          <a:stretch>
            <a:fillRect/>
          </a:stretch>
        </p:blipFill>
        <p:spPr>
          <a:xfrm>
            <a:off x="4553712" y="4206240"/>
            <a:ext cx="640080" cy="640080"/>
          </a:xfrm>
          <a:prstGeom prst="rect">
            <a:avLst/>
          </a:prstGeom>
        </p:spPr>
      </p:pic>
      <p:sp>
        <p:nvSpPr>
          <p:cNvPr id="13" name="Text 9"/>
          <p:cNvSpPr/>
          <p:nvPr/>
        </p:nvSpPr>
        <p:spPr>
          <a:xfrm>
            <a:off x="4553712" y="4937760"/>
            <a:ext cx="3017520" cy="1143000"/>
          </a:xfrm>
          <a:prstGeom prst="rect">
            <a:avLst/>
          </a:prstGeom>
          <a:noFill/>
          <a:ln/>
        </p:spPr>
        <p:txBody>
          <a:bodyPr wrap="square" lIns="0" tIns="0" rIns="0" bIns="0" rtlCol="0" anchor="ctr"/>
          <a:lstStyle/>
          <a:p>
            <a:pPr indent="0" marL="0">
              <a:lnSpc>
                <a:spcPct val="120000"/>
              </a:lnSpc>
              <a:buNone/>
            </a:pPr>
            <a:r>
              <a:rPr lang="en-US" sz="1200" dirty="0">
                <a:solidFill>
                  <a:srgbClr val="FFFFFF"/>
                </a:solidFill>
                <a:latin typeface="Poppins" pitchFamily="34" charset="0"/>
                <a:ea typeface="Poppins" pitchFamily="34" charset="-122"/>
                <a:cs typeface="Poppins" pitchFamily="34" charset="-120"/>
              </a:rPr>
              <a:t>Levier de crédibilité auprès des partenaires institutionnels</a:t>
            </a:r>
            <a:endParaRPr lang="en-US" sz="1200" dirty="0"/>
          </a:p>
        </p:txBody>
      </p:sp>
      <p:sp>
        <p:nvSpPr>
          <p:cNvPr id="14" name="Shape 10"/>
          <p:cNvSpPr/>
          <p:nvPr/>
        </p:nvSpPr>
        <p:spPr>
          <a:xfrm>
            <a:off x="8046720" y="3977640"/>
            <a:ext cx="3520440" cy="2194560"/>
          </a:xfrm>
          <a:prstGeom prst="roundRect">
            <a:avLst>
              <a:gd name="adj" fmla="val 4167"/>
            </a:avLst>
          </a:prstGeom>
          <a:solidFill>
            <a:srgbClr val="F2F6FB"/>
          </a:solidFill>
          <a:ln/>
        </p:spPr>
      </p:sp>
      <p:pic>
        <p:nvPicPr>
          <p:cNvPr id="15" name="Image 2" descr="icons/handshake_blue.png">    </p:cNvPr>
          <p:cNvPicPr>
            <a:picLocks noChangeAspect="1"/>
          </p:cNvPicPr>
          <p:nvPr/>
        </p:nvPicPr>
        <p:blipFill>
          <a:blip r:embed="rId3"/>
          <a:stretch>
            <a:fillRect/>
          </a:stretch>
        </p:blipFill>
        <p:spPr>
          <a:xfrm>
            <a:off x="8302752" y="4206240"/>
            <a:ext cx="640080" cy="640080"/>
          </a:xfrm>
          <a:prstGeom prst="rect">
            <a:avLst/>
          </a:prstGeom>
        </p:spPr>
      </p:pic>
      <p:sp>
        <p:nvSpPr>
          <p:cNvPr id="16" name="Text 11"/>
          <p:cNvSpPr/>
          <p:nvPr/>
        </p:nvSpPr>
        <p:spPr>
          <a:xfrm>
            <a:off x="8302752" y="4937760"/>
            <a:ext cx="3017520" cy="1143000"/>
          </a:xfrm>
          <a:prstGeom prst="rect">
            <a:avLst/>
          </a:prstGeom>
          <a:noFill/>
          <a:ln/>
        </p:spPr>
        <p:txBody>
          <a:bodyPr wrap="square" lIns="0" tIns="0" rIns="0" bIns="0" rtlCol="0" anchor="ctr"/>
          <a:lstStyle/>
          <a:p>
            <a:pPr indent="0" marL="0">
              <a:lnSpc>
                <a:spcPct val="120000"/>
              </a:lnSpc>
              <a:buNone/>
            </a:pPr>
            <a:r>
              <a:rPr lang="en-US" sz="1200" dirty="0">
                <a:solidFill>
                  <a:srgbClr val="1E2430"/>
                </a:solidFill>
                <a:latin typeface="Poppins" pitchFamily="34" charset="0"/>
                <a:ea typeface="Poppins" pitchFamily="34" charset="-122"/>
                <a:cs typeface="Poppins" pitchFamily="34" charset="-120"/>
              </a:rPr>
              <a:t>Outil pérenne de mobilisation des bénévoles et donateurs</a:t>
            </a:r>
            <a:endParaRPr lang="en-US" sz="1200" dirty="0"/>
          </a:p>
        </p:txBody>
      </p:sp>
      <p:pic>
        <p:nvPicPr>
          <p:cNvPr id="17" name="Image 3" descr="assets/logo_busola.jpg">    </p:cNvPr>
          <p:cNvPicPr>
            <a:picLocks noChangeAspect="1"/>
          </p:cNvPicPr>
          <p:nvPr/>
        </p:nvPicPr>
        <p:blipFill>
          <a:blip r:embed="rId4"/>
          <a:stretch>
            <a:fillRect/>
          </a:stretch>
        </p:blipFill>
        <p:spPr>
          <a:xfrm>
            <a:off x="11140135" y="320040"/>
            <a:ext cx="566928" cy="548640"/>
          </a:xfrm>
          <a:prstGeom prst="rect">
            <a:avLst/>
          </a:prstGeom>
        </p:spPr>
      </p:pic>
      <p:sp>
        <p:nvSpPr>
          <p:cNvPr id="18" name="Shape 12"/>
          <p:cNvSpPr/>
          <p:nvPr/>
        </p:nvSpPr>
        <p:spPr>
          <a:xfrm>
            <a:off x="11624767" y="6345936"/>
            <a:ext cx="310896" cy="310896"/>
          </a:xfrm>
          <a:prstGeom prst="ellipse">
            <a:avLst/>
          </a:prstGeom>
          <a:solidFill>
            <a:srgbClr val="2764AE"/>
          </a:solidFill>
          <a:ln/>
        </p:spPr>
      </p:sp>
      <p:sp>
        <p:nvSpPr>
          <p:cNvPr id="19" name="Text 13"/>
          <p:cNvSpPr/>
          <p:nvPr/>
        </p:nvSpPr>
        <p:spPr>
          <a:xfrm>
            <a:off x="11624767" y="6345936"/>
            <a:ext cx="310896" cy="310896"/>
          </a:xfrm>
          <a:prstGeom prst="rect">
            <a:avLst/>
          </a:prstGeom>
          <a:noFill/>
          <a:ln/>
        </p:spPr>
        <p:txBody>
          <a:bodyPr wrap="square" lIns="0" tIns="0" rIns="0" bIns="0" rtlCol="0" anchor="ctr"/>
          <a:lstStyle/>
          <a:p>
            <a:pPr algn="ctr" indent="0" marL="0">
              <a:buNone/>
            </a:pPr>
            <a:r>
              <a:rPr lang="en-US" sz="1000" b="1" dirty="0">
                <a:solidFill>
                  <a:srgbClr val="FFFFFF"/>
                </a:solidFill>
                <a:latin typeface="Poppins" pitchFamily="34" charset="0"/>
                <a:ea typeface="Poppins" pitchFamily="34" charset="-122"/>
                <a:cs typeface="Poppins" pitchFamily="34" charset="-120"/>
              </a:rPr>
              <a:t>10</a:t>
            </a:r>
            <a:endParaRPr lang="en-US" sz="1000" dirty="0"/>
          </a:p>
        </p:txBody>
      </p:sp>
      <p:sp>
        <p:nvSpPr>
          <p:cNvPr id="20" name="Text 14"/>
          <p:cNvSpPr/>
          <p:nvPr/>
        </p:nvSpPr>
        <p:spPr>
          <a:xfrm>
            <a:off x="457200" y="6437376"/>
            <a:ext cx="5486400" cy="274320"/>
          </a:xfrm>
          <a:prstGeom prst="rect">
            <a:avLst/>
          </a:prstGeom>
          <a:noFill/>
          <a:ln/>
        </p:spPr>
        <p:txBody>
          <a:bodyPr wrap="square" lIns="0" tIns="0" rIns="0" bIns="0" rtlCol="0" anchor="ctr"/>
          <a:lstStyle/>
          <a:p>
            <a:pPr indent="0" marL="0">
              <a:buNone/>
            </a:pPr>
            <a:r>
              <a:rPr lang="en-US" sz="850" dirty="0">
                <a:solidFill>
                  <a:srgbClr val="5B6472"/>
                </a:solidFill>
                <a:latin typeface="Poppins" pitchFamily="34" charset="0"/>
                <a:ea typeface="Poppins" pitchFamily="34" charset="-122"/>
                <a:cs typeface="Poppins" pitchFamily="34" charset="-120"/>
              </a:rPr>
              <a:t>PLATEFORME WEB ONG BUSOLA</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548640" y="384048"/>
            <a:ext cx="9144000" cy="320040"/>
          </a:xfrm>
          <a:prstGeom prst="rect">
            <a:avLst/>
          </a:prstGeom>
          <a:noFill/>
          <a:ln/>
        </p:spPr>
        <p:txBody>
          <a:bodyPr wrap="square" lIns="0" tIns="0" rIns="0" bIns="0" rtlCol="0" anchor="ctr"/>
          <a:lstStyle/>
          <a:p>
            <a:pPr indent="0" marL="0">
              <a:buNone/>
            </a:pPr>
            <a:r>
              <a:rPr lang="en-US" sz="1300" b="1" spc="200" kern="0" dirty="0">
                <a:solidFill>
                  <a:srgbClr val="F6A026"/>
                </a:solidFill>
                <a:latin typeface="Poppins" pitchFamily="34" charset="0"/>
                <a:ea typeface="Poppins" pitchFamily="34" charset="-122"/>
                <a:cs typeface="Poppins" pitchFamily="34" charset="-120"/>
              </a:rPr>
              <a:t>CHAPITRE 2 — ÉTUDE DE L'EXISTANT</a:t>
            </a:r>
            <a:endParaRPr lang="en-US" sz="1300" dirty="0"/>
          </a:p>
        </p:txBody>
      </p:sp>
      <p:sp>
        <p:nvSpPr>
          <p:cNvPr id="3" name="Text 1"/>
          <p:cNvSpPr/>
          <p:nvPr/>
        </p:nvSpPr>
        <p:spPr>
          <a:xfrm>
            <a:off x="548640" y="658368"/>
            <a:ext cx="10607040" cy="777240"/>
          </a:xfrm>
          <a:prstGeom prst="rect">
            <a:avLst/>
          </a:prstGeom>
          <a:noFill/>
          <a:ln/>
        </p:spPr>
        <p:txBody>
          <a:bodyPr wrap="square" lIns="0" tIns="0" rIns="0" bIns="0" rtlCol="0" anchor="ctr"/>
          <a:lstStyle/>
          <a:p>
            <a:pPr indent="0" marL="0">
              <a:lnSpc>
                <a:spcPts val="3200"/>
              </a:lnSpc>
              <a:buNone/>
            </a:pPr>
            <a:r>
              <a:rPr lang="en-US" sz="3000" b="1" dirty="0">
                <a:solidFill>
                  <a:srgbClr val="133A61"/>
                </a:solidFill>
                <a:latin typeface="Montserrat" pitchFamily="34" charset="0"/>
                <a:ea typeface="Montserrat" pitchFamily="34" charset="-122"/>
                <a:cs typeface="Montserrat" pitchFamily="34" charset="-120"/>
              </a:rPr>
              <a:t>Analyse SWOT du système futur</a:t>
            </a:r>
            <a:endParaRPr lang="en-US" sz="3000" dirty="0"/>
          </a:p>
        </p:txBody>
      </p:sp>
      <p:sp>
        <p:nvSpPr>
          <p:cNvPr id="4" name="Shape 2"/>
          <p:cNvSpPr/>
          <p:nvPr/>
        </p:nvSpPr>
        <p:spPr>
          <a:xfrm>
            <a:off x="548640" y="1691640"/>
            <a:ext cx="5440680" cy="2057400"/>
          </a:xfrm>
          <a:prstGeom prst="roundRect">
            <a:avLst>
              <a:gd name="adj" fmla="val 4444"/>
            </a:avLst>
          </a:prstGeom>
          <a:solidFill>
            <a:srgbClr val="F2F6FB"/>
          </a:solidFill>
          <a:ln/>
        </p:spPr>
      </p:sp>
      <p:sp>
        <p:nvSpPr>
          <p:cNvPr id="5" name="Shape 3"/>
          <p:cNvSpPr/>
          <p:nvPr/>
        </p:nvSpPr>
        <p:spPr>
          <a:xfrm>
            <a:off x="777240" y="1920240"/>
            <a:ext cx="502920" cy="502920"/>
          </a:xfrm>
          <a:prstGeom prst="ellipse">
            <a:avLst/>
          </a:prstGeom>
          <a:solidFill>
            <a:srgbClr val="2764AE"/>
          </a:solidFill>
          <a:ln/>
        </p:spPr>
      </p:sp>
      <p:sp>
        <p:nvSpPr>
          <p:cNvPr id="6" name="Text 4"/>
          <p:cNvSpPr/>
          <p:nvPr/>
        </p:nvSpPr>
        <p:spPr>
          <a:xfrm>
            <a:off x="777240" y="192024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Montserrat" pitchFamily="34" charset="0"/>
                <a:ea typeface="Montserrat" pitchFamily="34" charset="-122"/>
                <a:cs typeface="Montserrat" pitchFamily="34" charset="-120"/>
              </a:rPr>
              <a:t>S</a:t>
            </a:r>
            <a:endParaRPr lang="en-US" sz="1800" dirty="0"/>
          </a:p>
        </p:txBody>
      </p:sp>
      <p:sp>
        <p:nvSpPr>
          <p:cNvPr id="7" name="Text 5"/>
          <p:cNvSpPr/>
          <p:nvPr/>
        </p:nvSpPr>
        <p:spPr>
          <a:xfrm>
            <a:off x="1417320" y="1947672"/>
            <a:ext cx="3657600" cy="457200"/>
          </a:xfrm>
          <a:prstGeom prst="rect">
            <a:avLst/>
          </a:prstGeom>
          <a:noFill/>
          <a:ln/>
        </p:spPr>
        <p:txBody>
          <a:bodyPr wrap="square" lIns="0" tIns="0" rIns="0" bIns="0" rtlCol="0" anchor="ctr"/>
          <a:lstStyle/>
          <a:p>
            <a:pPr indent="0" marL="0">
              <a:buNone/>
            </a:pPr>
            <a:r>
              <a:rPr lang="en-US" sz="1500" b="1" dirty="0">
                <a:solidFill>
                  <a:srgbClr val="2764AE"/>
                </a:solidFill>
                <a:latin typeface="Montserrat" pitchFamily="34" charset="0"/>
                <a:ea typeface="Montserrat" pitchFamily="34" charset="-122"/>
                <a:cs typeface="Montserrat" pitchFamily="34" charset="-120"/>
              </a:rPr>
              <a:t>Forces</a:t>
            </a:r>
            <a:endParaRPr lang="en-US" sz="1500" dirty="0"/>
          </a:p>
        </p:txBody>
      </p:sp>
      <p:sp>
        <p:nvSpPr>
          <p:cNvPr id="8" name="Text 6"/>
          <p:cNvSpPr/>
          <p:nvPr/>
        </p:nvSpPr>
        <p:spPr>
          <a:xfrm>
            <a:off x="822960" y="2560320"/>
            <a:ext cx="4892040" cy="1051560"/>
          </a:xfrm>
          <a:prstGeom prst="rect">
            <a:avLst/>
          </a:prstGeom>
          <a:noFill/>
          <a:ln/>
        </p:spPr>
        <p:txBody>
          <a:bodyPr wrap="square" lIns="0" tIns="0" rIns="0" bIns="0" rtlCol="0" anchor="t"/>
          <a:lstStyle/>
          <a:p>
            <a:pPr marL="152400" indent="-152400">
              <a:lnSpc>
                <a:spcPct val="115000"/>
              </a:lnSpc>
              <a:buSzPct val="100000"/>
              <a:buChar char="•"/>
            </a:pPr>
            <a:r>
              <a:rPr lang="en-US" sz="1080" dirty="0">
                <a:solidFill>
                  <a:srgbClr val="1E2430"/>
                </a:solidFill>
                <a:latin typeface="Poppins" pitchFamily="34" charset="0"/>
                <a:ea typeface="Poppins" pitchFamily="34" charset="-122"/>
                <a:cs typeface="Poppins" pitchFamily="34" charset="-120"/>
              </a:rPr>
              <a:t>Plateforme centralisée propre à l'ONG</a:t>
            </a:r>
            <a:endParaRPr lang="en-US" sz="1080" dirty="0"/>
          </a:p>
          <a:p>
            <a:pPr marL="152400" indent="-152400">
              <a:lnSpc>
                <a:spcPct val="115000"/>
              </a:lnSpc>
              <a:buSzPct val="100000"/>
              <a:buChar char="•"/>
            </a:pPr>
            <a:r>
              <a:rPr lang="en-US" sz="1080" dirty="0">
                <a:solidFill>
                  <a:srgbClr val="1E2430"/>
                </a:solidFill>
                <a:latin typeface="Poppins" pitchFamily="34" charset="0"/>
                <a:ea typeface="Poppins" pitchFamily="34" charset="-122"/>
                <a:cs typeface="Poppins" pitchFamily="34" charset="-120"/>
              </a:rPr>
              <a:t>PWA accessible hors ligne</a:t>
            </a:r>
            <a:endParaRPr lang="en-US" sz="1080" dirty="0"/>
          </a:p>
          <a:p>
            <a:pPr marL="152400" indent="-152400">
              <a:lnSpc>
                <a:spcPct val="115000"/>
              </a:lnSpc>
              <a:buSzPct val="100000"/>
              <a:buChar char="•"/>
            </a:pPr>
            <a:r>
              <a:rPr lang="en-US" sz="1080" dirty="0">
                <a:solidFill>
                  <a:srgbClr val="1E2430"/>
                </a:solidFill>
                <a:latin typeface="Poppins" pitchFamily="34" charset="0"/>
                <a:ea typeface="Poppins" pitchFamily="34" charset="-122"/>
                <a:cs typeface="Poppins" pitchFamily="34" charset="-120"/>
              </a:rPr>
              <a:t>Gestion autonome des contenus</a:t>
            </a:r>
            <a:endParaRPr lang="en-US" sz="1080" dirty="0"/>
          </a:p>
          <a:p>
            <a:pPr marL="152400" indent="-152400">
              <a:lnSpc>
                <a:spcPct val="115000"/>
              </a:lnSpc>
              <a:buSzPct val="100000"/>
              <a:buChar char="•"/>
            </a:pPr>
            <a:r>
              <a:rPr lang="en-US" sz="1080" dirty="0">
                <a:solidFill>
                  <a:srgbClr val="1E2430"/>
                </a:solidFill>
                <a:latin typeface="Poppins" pitchFamily="34" charset="0"/>
                <a:ea typeface="Poppins" pitchFamily="34" charset="-122"/>
                <a:cs typeface="Poppins" pitchFamily="34" charset="-120"/>
              </a:rPr>
              <a:t>Notification automatique des abonnés</a:t>
            </a:r>
            <a:endParaRPr lang="en-US" sz="1080" dirty="0"/>
          </a:p>
        </p:txBody>
      </p:sp>
      <p:sp>
        <p:nvSpPr>
          <p:cNvPr id="9" name="Shape 7"/>
          <p:cNvSpPr/>
          <p:nvPr/>
        </p:nvSpPr>
        <p:spPr>
          <a:xfrm>
            <a:off x="6217920" y="1691640"/>
            <a:ext cx="5440680" cy="2057400"/>
          </a:xfrm>
          <a:prstGeom prst="roundRect">
            <a:avLst>
              <a:gd name="adj" fmla="val 4444"/>
            </a:avLst>
          </a:prstGeom>
          <a:solidFill>
            <a:srgbClr val="F2F6FB"/>
          </a:solidFill>
          <a:ln/>
        </p:spPr>
      </p:sp>
      <p:sp>
        <p:nvSpPr>
          <p:cNvPr id="10" name="Shape 8"/>
          <p:cNvSpPr/>
          <p:nvPr/>
        </p:nvSpPr>
        <p:spPr>
          <a:xfrm>
            <a:off x="6446520" y="1920240"/>
            <a:ext cx="502920" cy="502920"/>
          </a:xfrm>
          <a:prstGeom prst="ellipse">
            <a:avLst/>
          </a:prstGeom>
          <a:solidFill>
            <a:srgbClr val="F6A026"/>
          </a:solidFill>
          <a:ln/>
        </p:spPr>
      </p:sp>
      <p:sp>
        <p:nvSpPr>
          <p:cNvPr id="11" name="Text 9"/>
          <p:cNvSpPr/>
          <p:nvPr/>
        </p:nvSpPr>
        <p:spPr>
          <a:xfrm>
            <a:off x="6446520" y="192024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Montserrat" pitchFamily="34" charset="0"/>
                <a:ea typeface="Montserrat" pitchFamily="34" charset="-122"/>
                <a:cs typeface="Montserrat" pitchFamily="34" charset="-120"/>
              </a:rPr>
              <a:t>W</a:t>
            </a:r>
            <a:endParaRPr lang="en-US" sz="1800" dirty="0"/>
          </a:p>
        </p:txBody>
      </p:sp>
      <p:sp>
        <p:nvSpPr>
          <p:cNvPr id="12" name="Text 10"/>
          <p:cNvSpPr/>
          <p:nvPr/>
        </p:nvSpPr>
        <p:spPr>
          <a:xfrm>
            <a:off x="7086600" y="1947672"/>
            <a:ext cx="3657600" cy="457200"/>
          </a:xfrm>
          <a:prstGeom prst="rect">
            <a:avLst/>
          </a:prstGeom>
          <a:noFill/>
          <a:ln/>
        </p:spPr>
        <p:txBody>
          <a:bodyPr wrap="square" lIns="0" tIns="0" rIns="0" bIns="0" rtlCol="0" anchor="ctr"/>
          <a:lstStyle/>
          <a:p>
            <a:pPr indent="0" marL="0">
              <a:buNone/>
            </a:pPr>
            <a:r>
              <a:rPr lang="en-US" sz="1500" b="1" dirty="0">
                <a:solidFill>
                  <a:srgbClr val="F6A026"/>
                </a:solidFill>
                <a:latin typeface="Montserrat" pitchFamily="34" charset="0"/>
                <a:ea typeface="Montserrat" pitchFamily="34" charset="-122"/>
                <a:cs typeface="Montserrat" pitchFamily="34" charset="-120"/>
              </a:rPr>
              <a:t>Faiblesses</a:t>
            </a:r>
            <a:endParaRPr lang="en-US" sz="1500" dirty="0"/>
          </a:p>
        </p:txBody>
      </p:sp>
      <p:sp>
        <p:nvSpPr>
          <p:cNvPr id="13" name="Text 11"/>
          <p:cNvSpPr/>
          <p:nvPr/>
        </p:nvSpPr>
        <p:spPr>
          <a:xfrm>
            <a:off x="6492240" y="2560320"/>
            <a:ext cx="4892040" cy="1051560"/>
          </a:xfrm>
          <a:prstGeom prst="rect">
            <a:avLst/>
          </a:prstGeom>
          <a:noFill/>
          <a:ln/>
        </p:spPr>
        <p:txBody>
          <a:bodyPr wrap="square" lIns="0" tIns="0" rIns="0" bIns="0" rtlCol="0" anchor="t"/>
          <a:lstStyle/>
          <a:p>
            <a:pPr marL="152400" indent="-152400">
              <a:lnSpc>
                <a:spcPct val="115000"/>
              </a:lnSpc>
              <a:buSzPct val="100000"/>
              <a:buChar char="•"/>
            </a:pPr>
            <a:r>
              <a:rPr lang="en-US" sz="1080" dirty="0">
                <a:solidFill>
                  <a:srgbClr val="1E2430"/>
                </a:solidFill>
                <a:latin typeface="Poppins" pitchFamily="34" charset="0"/>
                <a:ea typeface="Poppins" pitchFamily="34" charset="-122"/>
                <a:cs typeface="Poppins" pitchFamily="34" charset="-120"/>
              </a:rPr>
              <a:t>Compte administrateur unique</a:t>
            </a:r>
            <a:endParaRPr lang="en-US" sz="1080" dirty="0"/>
          </a:p>
          <a:p>
            <a:pPr marL="152400" indent="-152400">
              <a:lnSpc>
                <a:spcPct val="115000"/>
              </a:lnSpc>
              <a:buSzPct val="100000"/>
              <a:buChar char="•"/>
            </a:pPr>
            <a:r>
              <a:rPr lang="en-US" sz="1080" dirty="0">
                <a:solidFill>
                  <a:srgbClr val="1E2430"/>
                </a:solidFill>
                <a:latin typeface="Poppins" pitchFamily="34" charset="0"/>
                <a:ea typeface="Poppins" pitchFamily="34" charset="-122"/>
                <a:cs typeface="Poppins" pitchFamily="34" charset="-120"/>
              </a:rPr>
              <a:t>Gestion des événements dépendante de Google Docs</a:t>
            </a:r>
            <a:endParaRPr lang="en-US" sz="1080" dirty="0"/>
          </a:p>
        </p:txBody>
      </p:sp>
      <p:sp>
        <p:nvSpPr>
          <p:cNvPr id="14" name="Shape 12"/>
          <p:cNvSpPr/>
          <p:nvPr/>
        </p:nvSpPr>
        <p:spPr>
          <a:xfrm>
            <a:off x="548640" y="3931920"/>
            <a:ext cx="5440680" cy="2057400"/>
          </a:xfrm>
          <a:prstGeom prst="roundRect">
            <a:avLst>
              <a:gd name="adj" fmla="val 4444"/>
            </a:avLst>
          </a:prstGeom>
          <a:solidFill>
            <a:srgbClr val="F2F6FB"/>
          </a:solidFill>
          <a:ln/>
        </p:spPr>
      </p:sp>
      <p:sp>
        <p:nvSpPr>
          <p:cNvPr id="15" name="Shape 13"/>
          <p:cNvSpPr/>
          <p:nvPr/>
        </p:nvSpPr>
        <p:spPr>
          <a:xfrm>
            <a:off x="777240" y="4160520"/>
            <a:ext cx="502920" cy="502920"/>
          </a:xfrm>
          <a:prstGeom prst="ellipse">
            <a:avLst/>
          </a:prstGeom>
          <a:solidFill>
            <a:srgbClr val="3CAF73"/>
          </a:solidFill>
          <a:ln/>
        </p:spPr>
      </p:sp>
      <p:sp>
        <p:nvSpPr>
          <p:cNvPr id="16" name="Text 14"/>
          <p:cNvSpPr/>
          <p:nvPr/>
        </p:nvSpPr>
        <p:spPr>
          <a:xfrm>
            <a:off x="777240" y="416052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Montserrat" pitchFamily="34" charset="0"/>
                <a:ea typeface="Montserrat" pitchFamily="34" charset="-122"/>
                <a:cs typeface="Montserrat" pitchFamily="34" charset="-120"/>
              </a:rPr>
              <a:t>O</a:t>
            </a:r>
            <a:endParaRPr lang="en-US" sz="1800" dirty="0"/>
          </a:p>
        </p:txBody>
      </p:sp>
      <p:sp>
        <p:nvSpPr>
          <p:cNvPr id="17" name="Text 15"/>
          <p:cNvSpPr/>
          <p:nvPr/>
        </p:nvSpPr>
        <p:spPr>
          <a:xfrm>
            <a:off x="1417320" y="4187952"/>
            <a:ext cx="3657600" cy="457200"/>
          </a:xfrm>
          <a:prstGeom prst="rect">
            <a:avLst/>
          </a:prstGeom>
          <a:noFill/>
          <a:ln/>
        </p:spPr>
        <p:txBody>
          <a:bodyPr wrap="square" lIns="0" tIns="0" rIns="0" bIns="0" rtlCol="0" anchor="ctr"/>
          <a:lstStyle/>
          <a:p>
            <a:pPr indent="0" marL="0">
              <a:buNone/>
            </a:pPr>
            <a:r>
              <a:rPr lang="en-US" sz="1500" b="1" dirty="0">
                <a:solidFill>
                  <a:srgbClr val="3CAF73"/>
                </a:solidFill>
                <a:latin typeface="Montserrat" pitchFamily="34" charset="0"/>
                <a:ea typeface="Montserrat" pitchFamily="34" charset="-122"/>
                <a:cs typeface="Montserrat" pitchFamily="34" charset="-120"/>
              </a:rPr>
              <a:t>Opportunités</a:t>
            </a:r>
            <a:endParaRPr lang="en-US" sz="1500" dirty="0"/>
          </a:p>
        </p:txBody>
      </p:sp>
      <p:sp>
        <p:nvSpPr>
          <p:cNvPr id="18" name="Text 16"/>
          <p:cNvSpPr/>
          <p:nvPr/>
        </p:nvSpPr>
        <p:spPr>
          <a:xfrm>
            <a:off x="822960" y="4800600"/>
            <a:ext cx="4892040" cy="1051560"/>
          </a:xfrm>
          <a:prstGeom prst="rect">
            <a:avLst/>
          </a:prstGeom>
          <a:noFill/>
          <a:ln/>
        </p:spPr>
        <p:txBody>
          <a:bodyPr wrap="square" lIns="0" tIns="0" rIns="0" bIns="0" rtlCol="0" anchor="t"/>
          <a:lstStyle/>
          <a:p>
            <a:pPr marL="152400" indent="-152400">
              <a:lnSpc>
                <a:spcPct val="115000"/>
              </a:lnSpc>
              <a:buSzPct val="100000"/>
              <a:buChar char="•"/>
            </a:pPr>
            <a:r>
              <a:rPr lang="en-US" sz="1080" dirty="0">
                <a:solidFill>
                  <a:srgbClr val="1E2430"/>
                </a:solidFill>
                <a:latin typeface="Poppins" pitchFamily="34" charset="0"/>
                <a:ea typeface="Poppins" pitchFamily="34" charset="-122"/>
                <a:cs typeface="Poppins" pitchFamily="34" charset="-120"/>
              </a:rPr>
              <a:t>Crédibilité renforcée auprès des bailleurs</a:t>
            </a:r>
            <a:endParaRPr lang="en-US" sz="1080" dirty="0"/>
          </a:p>
          <a:p>
            <a:pPr marL="152400" indent="-152400">
              <a:lnSpc>
                <a:spcPct val="115000"/>
              </a:lnSpc>
              <a:buSzPct val="100000"/>
              <a:buChar char="•"/>
            </a:pPr>
            <a:r>
              <a:rPr lang="en-US" sz="1080" dirty="0">
                <a:solidFill>
                  <a:srgbClr val="1E2430"/>
                </a:solidFill>
                <a:latin typeface="Poppins" pitchFamily="34" charset="0"/>
                <a:ea typeface="Poppins" pitchFamily="34" charset="-122"/>
                <a:cs typeface="Poppins" pitchFamily="34" charset="-120"/>
              </a:rPr>
              <a:t>Évolution vers multi-administrateurs</a:t>
            </a:r>
            <a:endParaRPr lang="en-US" sz="1080" dirty="0"/>
          </a:p>
          <a:p>
            <a:pPr marL="152400" indent="-152400">
              <a:lnSpc>
                <a:spcPct val="115000"/>
              </a:lnSpc>
              <a:buSzPct val="100000"/>
              <a:buChar char="•"/>
            </a:pPr>
            <a:r>
              <a:rPr lang="en-US" sz="1080" dirty="0">
                <a:solidFill>
                  <a:srgbClr val="1E2430"/>
                </a:solidFill>
                <a:latin typeface="Poppins" pitchFamily="34" charset="0"/>
                <a:ea typeface="Poppins" pitchFamily="34" charset="-122"/>
                <a:cs typeface="Poppins" pitchFamily="34" charset="-120"/>
              </a:rPr>
              <a:t>Modules de paiement / dons en ligne</a:t>
            </a:r>
            <a:endParaRPr lang="en-US" sz="1080" dirty="0"/>
          </a:p>
        </p:txBody>
      </p:sp>
      <p:sp>
        <p:nvSpPr>
          <p:cNvPr id="19" name="Shape 17"/>
          <p:cNvSpPr/>
          <p:nvPr/>
        </p:nvSpPr>
        <p:spPr>
          <a:xfrm>
            <a:off x="6217920" y="3931920"/>
            <a:ext cx="5440680" cy="2057400"/>
          </a:xfrm>
          <a:prstGeom prst="roundRect">
            <a:avLst>
              <a:gd name="adj" fmla="val 4444"/>
            </a:avLst>
          </a:prstGeom>
          <a:solidFill>
            <a:srgbClr val="F2F6FB"/>
          </a:solidFill>
          <a:ln/>
        </p:spPr>
      </p:sp>
      <p:sp>
        <p:nvSpPr>
          <p:cNvPr id="20" name="Shape 18"/>
          <p:cNvSpPr/>
          <p:nvPr/>
        </p:nvSpPr>
        <p:spPr>
          <a:xfrm>
            <a:off x="6446520" y="4160520"/>
            <a:ext cx="502920" cy="502920"/>
          </a:xfrm>
          <a:prstGeom prst="ellipse">
            <a:avLst/>
          </a:prstGeom>
          <a:solidFill>
            <a:srgbClr val="133A61"/>
          </a:solidFill>
          <a:ln/>
        </p:spPr>
      </p:sp>
      <p:sp>
        <p:nvSpPr>
          <p:cNvPr id="21" name="Text 19"/>
          <p:cNvSpPr/>
          <p:nvPr/>
        </p:nvSpPr>
        <p:spPr>
          <a:xfrm>
            <a:off x="6446520" y="416052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Montserrat" pitchFamily="34" charset="0"/>
                <a:ea typeface="Montserrat" pitchFamily="34" charset="-122"/>
                <a:cs typeface="Montserrat" pitchFamily="34" charset="-120"/>
              </a:rPr>
              <a:t>T</a:t>
            </a:r>
            <a:endParaRPr lang="en-US" sz="1800" dirty="0"/>
          </a:p>
        </p:txBody>
      </p:sp>
      <p:sp>
        <p:nvSpPr>
          <p:cNvPr id="22" name="Text 20"/>
          <p:cNvSpPr/>
          <p:nvPr/>
        </p:nvSpPr>
        <p:spPr>
          <a:xfrm>
            <a:off x="7086600" y="4187952"/>
            <a:ext cx="3657600" cy="457200"/>
          </a:xfrm>
          <a:prstGeom prst="rect">
            <a:avLst/>
          </a:prstGeom>
          <a:noFill/>
          <a:ln/>
        </p:spPr>
        <p:txBody>
          <a:bodyPr wrap="square" lIns="0" tIns="0" rIns="0" bIns="0" rtlCol="0" anchor="ctr"/>
          <a:lstStyle/>
          <a:p>
            <a:pPr indent="0" marL="0">
              <a:buNone/>
            </a:pPr>
            <a:r>
              <a:rPr lang="en-US" sz="1500" b="1" dirty="0">
                <a:solidFill>
                  <a:srgbClr val="133A61"/>
                </a:solidFill>
                <a:latin typeface="Montserrat" pitchFamily="34" charset="0"/>
                <a:ea typeface="Montserrat" pitchFamily="34" charset="-122"/>
                <a:cs typeface="Montserrat" pitchFamily="34" charset="-120"/>
              </a:rPr>
              <a:t>Menaces</a:t>
            </a:r>
            <a:endParaRPr lang="en-US" sz="1500" dirty="0"/>
          </a:p>
        </p:txBody>
      </p:sp>
      <p:sp>
        <p:nvSpPr>
          <p:cNvPr id="23" name="Text 21"/>
          <p:cNvSpPr/>
          <p:nvPr/>
        </p:nvSpPr>
        <p:spPr>
          <a:xfrm>
            <a:off x="6492240" y="4800600"/>
            <a:ext cx="4892040" cy="1051560"/>
          </a:xfrm>
          <a:prstGeom prst="rect">
            <a:avLst/>
          </a:prstGeom>
          <a:noFill/>
          <a:ln/>
        </p:spPr>
        <p:txBody>
          <a:bodyPr wrap="square" lIns="0" tIns="0" rIns="0" bIns="0" rtlCol="0" anchor="t"/>
          <a:lstStyle/>
          <a:p>
            <a:pPr marL="152400" indent="-152400">
              <a:lnSpc>
                <a:spcPct val="115000"/>
              </a:lnSpc>
              <a:buSzPct val="100000"/>
              <a:buChar char="•"/>
            </a:pPr>
            <a:r>
              <a:rPr lang="en-US" sz="1080" dirty="0">
                <a:solidFill>
                  <a:srgbClr val="1E2430"/>
                </a:solidFill>
                <a:latin typeface="Poppins" pitchFamily="34" charset="0"/>
                <a:ea typeface="Poppins" pitchFamily="34" charset="-122"/>
                <a:cs typeface="Poppins" pitchFamily="34" charset="-120"/>
              </a:rPr>
              <a:t>Cyberattaque sur le compte unique</a:t>
            </a:r>
            <a:endParaRPr lang="en-US" sz="1080" dirty="0"/>
          </a:p>
          <a:p>
            <a:pPr marL="152400" indent="-152400">
              <a:lnSpc>
                <a:spcPct val="115000"/>
              </a:lnSpc>
              <a:buSzPct val="100000"/>
              <a:buChar char="•"/>
            </a:pPr>
            <a:r>
              <a:rPr lang="en-US" sz="1080" dirty="0">
                <a:solidFill>
                  <a:srgbClr val="1E2430"/>
                </a:solidFill>
                <a:latin typeface="Poppins" pitchFamily="34" charset="0"/>
                <a:ea typeface="Poppins" pitchFamily="34" charset="-122"/>
                <a:cs typeface="Poppins" pitchFamily="34" charset="-120"/>
              </a:rPr>
              <a:t>Maintenance régulière nécessaire</a:t>
            </a:r>
            <a:endParaRPr lang="en-US" sz="1080" dirty="0"/>
          </a:p>
        </p:txBody>
      </p:sp>
      <p:pic>
        <p:nvPicPr>
          <p:cNvPr id="24" name="Image 0" descr="assets/logo_busola.jpg">    </p:cNvPr>
          <p:cNvPicPr>
            <a:picLocks noChangeAspect="1"/>
          </p:cNvPicPr>
          <p:nvPr/>
        </p:nvPicPr>
        <p:blipFill>
          <a:blip r:embed="rId1"/>
          <a:stretch>
            <a:fillRect/>
          </a:stretch>
        </p:blipFill>
        <p:spPr>
          <a:xfrm>
            <a:off x="11140135" y="320040"/>
            <a:ext cx="566928" cy="548640"/>
          </a:xfrm>
          <a:prstGeom prst="rect">
            <a:avLst/>
          </a:prstGeom>
        </p:spPr>
      </p:pic>
      <p:sp>
        <p:nvSpPr>
          <p:cNvPr id="25" name="Shape 22"/>
          <p:cNvSpPr/>
          <p:nvPr/>
        </p:nvSpPr>
        <p:spPr>
          <a:xfrm>
            <a:off x="11624767" y="6345936"/>
            <a:ext cx="310896" cy="310896"/>
          </a:xfrm>
          <a:prstGeom prst="ellipse">
            <a:avLst/>
          </a:prstGeom>
          <a:solidFill>
            <a:srgbClr val="2764AE"/>
          </a:solidFill>
          <a:ln/>
        </p:spPr>
      </p:sp>
      <p:sp>
        <p:nvSpPr>
          <p:cNvPr id="26" name="Text 23"/>
          <p:cNvSpPr/>
          <p:nvPr/>
        </p:nvSpPr>
        <p:spPr>
          <a:xfrm>
            <a:off x="11624767" y="6345936"/>
            <a:ext cx="310896" cy="310896"/>
          </a:xfrm>
          <a:prstGeom prst="rect">
            <a:avLst/>
          </a:prstGeom>
          <a:noFill/>
          <a:ln/>
        </p:spPr>
        <p:txBody>
          <a:bodyPr wrap="square" lIns="0" tIns="0" rIns="0" bIns="0" rtlCol="0" anchor="ctr"/>
          <a:lstStyle/>
          <a:p>
            <a:pPr algn="ctr" indent="0" marL="0">
              <a:buNone/>
            </a:pPr>
            <a:r>
              <a:rPr lang="en-US" sz="1000" b="1" dirty="0">
                <a:solidFill>
                  <a:srgbClr val="FFFFFF"/>
                </a:solidFill>
                <a:latin typeface="Poppins" pitchFamily="34" charset="0"/>
                <a:ea typeface="Poppins" pitchFamily="34" charset="-122"/>
                <a:cs typeface="Poppins" pitchFamily="34" charset="-120"/>
              </a:rPr>
              <a:t>11</a:t>
            </a:r>
            <a:endParaRPr lang="en-US" sz="1000" dirty="0"/>
          </a:p>
        </p:txBody>
      </p:sp>
      <p:sp>
        <p:nvSpPr>
          <p:cNvPr id="27" name="Text 24"/>
          <p:cNvSpPr/>
          <p:nvPr/>
        </p:nvSpPr>
        <p:spPr>
          <a:xfrm>
            <a:off x="457200" y="6437376"/>
            <a:ext cx="5486400" cy="274320"/>
          </a:xfrm>
          <a:prstGeom prst="rect">
            <a:avLst/>
          </a:prstGeom>
          <a:noFill/>
          <a:ln/>
        </p:spPr>
        <p:txBody>
          <a:bodyPr wrap="square" lIns="0" tIns="0" rIns="0" bIns="0" rtlCol="0" anchor="ctr"/>
          <a:lstStyle/>
          <a:p>
            <a:pPr indent="0" marL="0">
              <a:buNone/>
            </a:pPr>
            <a:r>
              <a:rPr lang="en-US" sz="850" dirty="0">
                <a:solidFill>
                  <a:srgbClr val="5B6472"/>
                </a:solidFill>
                <a:latin typeface="Poppins" pitchFamily="34" charset="0"/>
                <a:ea typeface="Poppins" pitchFamily="34" charset="-122"/>
                <a:cs typeface="Poppins" pitchFamily="34" charset="-120"/>
              </a:rPr>
              <a:t>PLATEFORME WEB ONG BUSOLA</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548640" y="384048"/>
            <a:ext cx="9144000" cy="320040"/>
          </a:xfrm>
          <a:prstGeom prst="rect">
            <a:avLst/>
          </a:prstGeom>
          <a:noFill/>
          <a:ln/>
        </p:spPr>
        <p:txBody>
          <a:bodyPr wrap="square" lIns="0" tIns="0" rIns="0" bIns="0" rtlCol="0" anchor="ctr"/>
          <a:lstStyle/>
          <a:p>
            <a:pPr indent="0" marL="0">
              <a:buNone/>
            </a:pPr>
            <a:r>
              <a:rPr lang="en-US" sz="1300" b="1" spc="200" kern="0" dirty="0">
                <a:solidFill>
                  <a:srgbClr val="F6A026"/>
                </a:solidFill>
                <a:latin typeface="Poppins" pitchFamily="34" charset="0"/>
                <a:ea typeface="Poppins" pitchFamily="34" charset="-122"/>
                <a:cs typeface="Poppins" pitchFamily="34" charset="-120"/>
              </a:rPr>
              <a:t>CHAPITRE 2 — ÉTUDE DE L'EXISTANT</a:t>
            </a:r>
            <a:endParaRPr lang="en-US" sz="1300" dirty="0"/>
          </a:p>
        </p:txBody>
      </p:sp>
      <p:sp>
        <p:nvSpPr>
          <p:cNvPr id="3" name="Text 1"/>
          <p:cNvSpPr/>
          <p:nvPr/>
        </p:nvSpPr>
        <p:spPr>
          <a:xfrm>
            <a:off x="548640" y="658368"/>
            <a:ext cx="10607040" cy="777240"/>
          </a:xfrm>
          <a:prstGeom prst="rect">
            <a:avLst/>
          </a:prstGeom>
          <a:noFill/>
          <a:ln/>
        </p:spPr>
        <p:txBody>
          <a:bodyPr wrap="square" lIns="0" tIns="0" rIns="0" bIns="0" rtlCol="0" anchor="ctr"/>
          <a:lstStyle/>
          <a:p>
            <a:pPr indent="0" marL="0">
              <a:lnSpc>
                <a:spcPts val="3200"/>
              </a:lnSpc>
              <a:buNone/>
            </a:pPr>
            <a:r>
              <a:rPr lang="en-US" sz="3000" b="1" dirty="0">
                <a:solidFill>
                  <a:srgbClr val="133A61"/>
                </a:solidFill>
                <a:latin typeface="Montserrat" pitchFamily="34" charset="0"/>
                <a:ea typeface="Montserrat" pitchFamily="34" charset="-122"/>
                <a:cs typeface="Montserrat" pitchFamily="34" charset="-120"/>
              </a:rPr>
              <a:t>Cahier des charges — objectifs spécifiques</a:t>
            </a:r>
            <a:endParaRPr lang="en-US" sz="3000" dirty="0"/>
          </a:p>
        </p:txBody>
      </p:sp>
      <p:sp>
        <p:nvSpPr>
          <p:cNvPr id="4" name="Shape 2"/>
          <p:cNvSpPr/>
          <p:nvPr/>
        </p:nvSpPr>
        <p:spPr>
          <a:xfrm>
            <a:off x="548640" y="1691640"/>
            <a:ext cx="11109960" cy="493776"/>
          </a:xfrm>
          <a:prstGeom prst="roundRect">
            <a:avLst>
              <a:gd name="adj" fmla="val 14815"/>
            </a:avLst>
          </a:prstGeom>
          <a:solidFill>
            <a:srgbClr val="F2F6FB"/>
          </a:solidFill>
          <a:ln/>
        </p:spPr>
      </p:sp>
      <p:sp>
        <p:nvSpPr>
          <p:cNvPr id="5" name="Shape 3"/>
          <p:cNvSpPr/>
          <p:nvPr/>
        </p:nvSpPr>
        <p:spPr>
          <a:xfrm>
            <a:off x="713232" y="1801368"/>
            <a:ext cx="274320" cy="274320"/>
          </a:xfrm>
          <a:prstGeom prst="ellipse">
            <a:avLst/>
          </a:prstGeom>
          <a:solidFill>
            <a:srgbClr val="2764AE"/>
          </a:solidFill>
          <a:ln/>
        </p:spPr>
      </p:sp>
      <p:sp>
        <p:nvSpPr>
          <p:cNvPr id="6" name="Text 4"/>
          <p:cNvSpPr/>
          <p:nvPr/>
        </p:nvSpPr>
        <p:spPr>
          <a:xfrm>
            <a:off x="713232" y="1801368"/>
            <a:ext cx="274320" cy="274320"/>
          </a:xfrm>
          <a:prstGeom prst="rect">
            <a:avLst/>
          </a:prstGeom>
          <a:noFill/>
          <a:ln/>
        </p:spPr>
        <p:txBody>
          <a:bodyPr wrap="square" lIns="0" tIns="0" rIns="0" bIns="0" rtlCol="0" anchor="ctr"/>
          <a:lstStyle/>
          <a:p>
            <a:pPr algn="ctr" indent="0" marL="0">
              <a:buNone/>
            </a:pPr>
            <a:r>
              <a:rPr lang="en-US" sz="1050" b="1" dirty="0">
                <a:solidFill>
                  <a:srgbClr val="FFFFFF"/>
                </a:solidFill>
                <a:latin typeface="Poppins" pitchFamily="34" charset="0"/>
                <a:ea typeface="Poppins" pitchFamily="34" charset="-122"/>
                <a:cs typeface="Poppins" pitchFamily="34" charset="-120"/>
              </a:rPr>
              <a:t>1</a:t>
            </a:r>
            <a:endParaRPr lang="en-US" sz="1050" dirty="0"/>
          </a:p>
        </p:txBody>
      </p:sp>
      <p:sp>
        <p:nvSpPr>
          <p:cNvPr id="7" name="Text 5"/>
          <p:cNvSpPr/>
          <p:nvPr/>
        </p:nvSpPr>
        <p:spPr>
          <a:xfrm>
            <a:off x="1143000" y="1691640"/>
            <a:ext cx="10332720" cy="493776"/>
          </a:xfrm>
          <a:prstGeom prst="rect">
            <a:avLst/>
          </a:prstGeom>
          <a:noFill/>
          <a:ln/>
        </p:spPr>
        <p:txBody>
          <a:bodyPr wrap="square" lIns="0" tIns="0" rIns="0" bIns="0" rtlCol="0" anchor="ctr"/>
          <a:lstStyle/>
          <a:p>
            <a:pPr indent="0" marL="0">
              <a:buNone/>
            </a:pPr>
            <a:r>
              <a:rPr lang="en-US" sz="1230" dirty="0">
                <a:solidFill>
                  <a:srgbClr val="1E2430"/>
                </a:solidFill>
                <a:latin typeface="Poppins" pitchFamily="34" charset="0"/>
                <a:ea typeface="Poppins" pitchFamily="34" charset="-122"/>
                <a:cs typeface="Poppins" pitchFamily="34" charset="-120"/>
              </a:rPr>
              <a:t>Analyser les besoins de communication digitale et les limites des solutions actuelles</a:t>
            </a:r>
            <a:endParaRPr lang="en-US" sz="1230" dirty="0"/>
          </a:p>
        </p:txBody>
      </p:sp>
      <p:sp>
        <p:nvSpPr>
          <p:cNvPr id="8" name="Shape 6"/>
          <p:cNvSpPr/>
          <p:nvPr/>
        </p:nvSpPr>
        <p:spPr>
          <a:xfrm>
            <a:off x="548640" y="2295144"/>
            <a:ext cx="11109960" cy="493776"/>
          </a:xfrm>
          <a:prstGeom prst="roundRect">
            <a:avLst>
              <a:gd name="adj" fmla="val 14815"/>
            </a:avLst>
          </a:prstGeom>
          <a:solidFill>
            <a:srgbClr val="F2F6FB"/>
          </a:solidFill>
          <a:ln/>
        </p:spPr>
      </p:sp>
      <p:sp>
        <p:nvSpPr>
          <p:cNvPr id="9" name="Shape 7"/>
          <p:cNvSpPr/>
          <p:nvPr/>
        </p:nvSpPr>
        <p:spPr>
          <a:xfrm>
            <a:off x="713232" y="2404872"/>
            <a:ext cx="274320" cy="274320"/>
          </a:xfrm>
          <a:prstGeom prst="ellipse">
            <a:avLst/>
          </a:prstGeom>
          <a:solidFill>
            <a:srgbClr val="F6A026"/>
          </a:solidFill>
          <a:ln/>
        </p:spPr>
      </p:sp>
      <p:sp>
        <p:nvSpPr>
          <p:cNvPr id="10" name="Text 8"/>
          <p:cNvSpPr/>
          <p:nvPr/>
        </p:nvSpPr>
        <p:spPr>
          <a:xfrm>
            <a:off x="713232" y="2404872"/>
            <a:ext cx="274320" cy="274320"/>
          </a:xfrm>
          <a:prstGeom prst="rect">
            <a:avLst/>
          </a:prstGeom>
          <a:noFill/>
          <a:ln/>
        </p:spPr>
        <p:txBody>
          <a:bodyPr wrap="square" lIns="0" tIns="0" rIns="0" bIns="0" rtlCol="0" anchor="ctr"/>
          <a:lstStyle/>
          <a:p>
            <a:pPr algn="ctr" indent="0" marL="0">
              <a:buNone/>
            </a:pPr>
            <a:r>
              <a:rPr lang="en-US" sz="1050" b="1" dirty="0">
                <a:solidFill>
                  <a:srgbClr val="FFFFFF"/>
                </a:solidFill>
                <a:latin typeface="Poppins" pitchFamily="34" charset="0"/>
                <a:ea typeface="Poppins" pitchFamily="34" charset="-122"/>
                <a:cs typeface="Poppins" pitchFamily="34" charset="-120"/>
              </a:rPr>
              <a:t>2</a:t>
            </a:r>
            <a:endParaRPr lang="en-US" sz="1050" dirty="0"/>
          </a:p>
        </p:txBody>
      </p:sp>
      <p:sp>
        <p:nvSpPr>
          <p:cNvPr id="11" name="Text 9"/>
          <p:cNvSpPr/>
          <p:nvPr/>
        </p:nvSpPr>
        <p:spPr>
          <a:xfrm>
            <a:off x="1143000" y="2295144"/>
            <a:ext cx="10332720" cy="493776"/>
          </a:xfrm>
          <a:prstGeom prst="rect">
            <a:avLst/>
          </a:prstGeom>
          <a:noFill/>
          <a:ln/>
        </p:spPr>
        <p:txBody>
          <a:bodyPr wrap="square" lIns="0" tIns="0" rIns="0" bIns="0" rtlCol="0" anchor="ctr"/>
          <a:lstStyle/>
          <a:p>
            <a:pPr indent="0" marL="0">
              <a:buNone/>
            </a:pPr>
            <a:r>
              <a:rPr lang="en-US" sz="1230" dirty="0">
                <a:solidFill>
                  <a:srgbClr val="1E2430"/>
                </a:solidFill>
                <a:latin typeface="Poppins" pitchFamily="34" charset="0"/>
                <a:ea typeface="Poppins" pitchFamily="34" charset="-122"/>
                <a:cs typeface="Poppins" pitchFamily="34" charset="-120"/>
              </a:rPr>
              <a:t>Concevoir une architecture de plateforme reposant sur le modèle MVC</a:t>
            </a:r>
            <a:endParaRPr lang="en-US" sz="1230" dirty="0"/>
          </a:p>
        </p:txBody>
      </p:sp>
      <p:sp>
        <p:nvSpPr>
          <p:cNvPr id="12" name="Shape 10"/>
          <p:cNvSpPr/>
          <p:nvPr/>
        </p:nvSpPr>
        <p:spPr>
          <a:xfrm>
            <a:off x="548640" y="2898648"/>
            <a:ext cx="11109960" cy="493776"/>
          </a:xfrm>
          <a:prstGeom prst="roundRect">
            <a:avLst>
              <a:gd name="adj" fmla="val 14815"/>
            </a:avLst>
          </a:prstGeom>
          <a:solidFill>
            <a:srgbClr val="F2F6FB"/>
          </a:solidFill>
          <a:ln/>
        </p:spPr>
      </p:sp>
      <p:sp>
        <p:nvSpPr>
          <p:cNvPr id="13" name="Shape 11"/>
          <p:cNvSpPr/>
          <p:nvPr/>
        </p:nvSpPr>
        <p:spPr>
          <a:xfrm>
            <a:off x="713232" y="3008376"/>
            <a:ext cx="274320" cy="274320"/>
          </a:xfrm>
          <a:prstGeom prst="ellipse">
            <a:avLst/>
          </a:prstGeom>
          <a:solidFill>
            <a:srgbClr val="3CAF73"/>
          </a:solidFill>
          <a:ln/>
        </p:spPr>
      </p:sp>
      <p:sp>
        <p:nvSpPr>
          <p:cNvPr id="14" name="Text 12"/>
          <p:cNvSpPr/>
          <p:nvPr/>
        </p:nvSpPr>
        <p:spPr>
          <a:xfrm>
            <a:off x="713232" y="3008376"/>
            <a:ext cx="274320" cy="274320"/>
          </a:xfrm>
          <a:prstGeom prst="rect">
            <a:avLst/>
          </a:prstGeom>
          <a:noFill/>
          <a:ln/>
        </p:spPr>
        <p:txBody>
          <a:bodyPr wrap="square" lIns="0" tIns="0" rIns="0" bIns="0" rtlCol="0" anchor="ctr"/>
          <a:lstStyle/>
          <a:p>
            <a:pPr algn="ctr" indent="0" marL="0">
              <a:buNone/>
            </a:pPr>
            <a:r>
              <a:rPr lang="en-US" sz="1050" b="1" dirty="0">
                <a:solidFill>
                  <a:srgbClr val="FFFFFF"/>
                </a:solidFill>
                <a:latin typeface="Poppins" pitchFamily="34" charset="0"/>
                <a:ea typeface="Poppins" pitchFamily="34" charset="-122"/>
                <a:cs typeface="Poppins" pitchFamily="34" charset="-120"/>
              </a:rPr>
              <a:t>3</a:t>
            </a:r>
            <a:endParaRPr lang="en-US" sz="1050" dirty="0"/>
          </a:p>
        </p:txBody>
      </p:sp>
      <p:sp>
        <p:nvSpPr>
          <p:cNvPr id="15" name="Text 13"/>
          <p:cNvSpPr/>
          <p:nvPr/>
        </p:nvSpPr>
        <p:spPr>
          <a:xfrm>
            <a:off x="1143000" y="2898648"/>
            <a:ext cx="10332720" cy="493776"/>
          </a:xfrm>
          <a:prstGeom prst="rect">
            <a:avLst/>
          </a:prstGeom>
          <a:noFill/>
          <a:ln/>
        </p:spPr>
        <p:txBody>
          <a:bodyPr wrap="square" lIns="0" tIns="0" rIns="0" bIns="0" rtlCol="0" anchor="ctr"/>
          <a:lstStyle/>
          <a:p>
            <a:pPr indent="0" marL="0">
              <a:buNone/>
            </a:pPr>
            <a:r>
              <a:rPr lang="en-US" sz="1230" dirty="0">
                <a:solidFill>
                  <a:srgbClr val="1E2430"/>
                </a:solidFill>
                <a:latin typeface="Poppins" pitchFamily="34" charset="0"/>
                <a:ea typeface="Poppins" pitchFamily="34" charset="-122"/>
                <a:cs typeface="Poppins" pitchFamily="34" charset="-120"/>
              </a:rPr>
              <a:t>Développer une Progressive Web App (PWA) accessible hors ligne</a:t>
            </a:r>
            <a:endParaRPr lang="en-US" sz="1230" dirty="0"/>
          </a:p>
        </p:txBody>
      </p:sp>
      <p:sp>
        <p:nvSpPr>
          <p:cNvPr id="16" name="Shape 14"/>
          <p:cNvSpPr/>
          <p:nvPr/>
        </p:nvSpPr>
        <p:spPr>
          <a:xfrm>
            <a:off x="548640" y="3502152"/>
            <a:ext cx="11109960" cy="493776"/>
          </a:xfrm>
          <a:prstGeom prst="roundRect">
            <a:avLst>
              <a:gd name="adj" fmla="val 14815"/>
            </a:avLst>
          </a:prstGeom>
          <a:solidFill>
            <a:srgbClr val="F2F6FB"/>
          </a:solidFill>
          <a:ln/>
        </p:spPr>
      </p:sp>
      <p:sp>
        <p:nvSpPr>
          <p:cNvPr id="17" name="Shape 15"/>
          <p:cNvSpPr/>
          <p:nvPr/>
        </p:nvSpPr>
        <p:spPr>
          <a:xfrm>
            <a:off x="713232" y="3611880"/>
            <a:ext cx="274320" cy="274320"/>
          </a:xfrm>
          <a:prstGeom prst="ellipse">
            <a:avLst/>
          </a:prstGeom>
          <a:solidFill>
            <a:srgbClr val="2764AE"/>
          </a:solidFill>
          <a:ln/>
        </p:spPr>
      </p:sp>
      <p:sp>
        <p:nvSpPr>
          <p:cNvPr id="18" name="Text 16"/>
          <p:cNvSpPr/>
          <p:nvPr/>
        </p:nvSpPr>
        <p:spPr>
          <a:xfrm>
            <a:off x="713232" y="3611880"/>
            <a:ext cx="274320" cy="274320"/>
          </a:xfrm>
          <a:prstGeom prst="rect">
            <a:avLst/>
          </a:prstGeom>
          <a:noFill/>
          <a:ln/>
        </p:spPr>
        <p:txBody>
          <a:bodyPr wrap="square" lIns="0" tIns="0" rIns="0" bIns="0" rtlCol="0" anchor="ctr"/>
          <a:lstStyle/>
          <a:p>
            <a:pPr algn="ctr" indent="0" marL="0">
              <a:buNone/>
            </a:pPr>
            <a:r>
              <a:rPr lang="en-US" sz="1050" b="1" dirty="0">
                <a:solidFill>
                  <a:srgbClr val="FFFFFF"/>
                </a:solidFill>
                <a:latin typeface="Poppins" pitchFamily="34" charset="0"/>
                <a:ea typeface="Poppins" pitchFamily="34" charset="-122"/>
                <a:cs typeface="Poppins" pitchFamily="34" charset="-120"/>
              </a:rPr>
              <a:t>4</a:t>
            </a:r>
            <a:endParaRPr lang="en-US" sz="1050" dirty="0"/>
          </a:p>
        </p:txBody>
      </p:sp>
      <p:sp>
        <p:nvSpPr>
          <p:cNvPr id="19" name="Text 17"/>
          <p:cNvSpPr/>
          <p:nvPr/>
        </p:nvSpPr>
        <p:spPr>
          <a:xfrm>
            <a:off x="1143000" y="3502152"/>
            <a:ext cx="10332720" cy="493776"/>
          </a:xfrm>
          <a:prstGeom prst="rect">
            <a:avLst/>
          </a:prstGeom>
          <a:noFill/>
          <a:ln/>
        </p:spPr>
        <p:txBody>
          <a:bodyPr wrap="square" lIns="0" tIns="0" rIns="0" bIns="0" rtlCol="0" anchor="ctr"/>
          <a:lstStyle/>
          <a:p>
            <a:pPr indent="0" marL="0">
              <a:buNone/>
            </a:pPr>
            <a:r>
              <a:rPr lang="en-US" sz="1230" dirty="0">
                <a:solidFill>
                  <a:srgbClr val="1E2430"/>
                </a:solidFill>
                <a:latin typeface="Poppins" pitchFamily="34" charset="0"/>
                <a:ea typeface="Poppins" pitchFamily="34" charset="-122"/>
                <a:cs typeface="Poppins" pitchFamily="34" charset="-120"/>
              </a:rPr>
              <a:t>Mettre en place un système de gestion des actualités et actions (CRUD)</a:t>
            </a:r>
            <a:endParaRPr lang="en-US" sz="1230" dirty="0"/>
          </a:p>
        </p:txBody>
      </p:sp>
      <p:sp>
        <p:nvSpPr>
          <p:cNvPr id="20" name="Shape 18"/>
          <p:cNvSpPr/>
          <p:nvPr/>
        </p:nvSpPr>
        <p:spPr>
          <a:xfrm>
            <a:off x="548640" y="4105656"/>
            <a:ext cx="11109960" cy="493776"/>
          </a:xfrm>
          <a:prstGeom prst="roundRect">
            <a:avLst>
              <a:gd name="adj" fmla="val 14815"/>
            </a:avLst>
          </a:prstGeom>
          <a:solidFill>
            <a:srgbClr val="F2F6FB"/>
          </a:solidFill>
          <a:ln/>
        </p:spPr>
      </p:sp>
      <p:sp>
        <p:nvSpPr>
          <p:cNvPr id="21" name="Shape 19"/>
          <p:cNvSpPr/>
          <p:nvPr/>
        </p:nvSpPr>
        <p:spPr>
          <a:xfrm>
            <a:off x="713232" y="4215384"/>
            <a:ext cx="274320" cy="274320"/>
          </a:xfrm>
          <a:prstGeom prst="ellipse">
            <a:avLst/>
          </a:prstGeom>
          <a:solidFill>
            <a:srgbClr val="F6A026"/>
          </a:solidFill>
          <a:ln/>
        </p:spPr>
      </p:sp>
      <p:sp>
        <p:nvSpPr>
          <p:cNvPr id="22" name="Text 20"/>
          <p:cNvSpPr/>
          <p:nvPr/>
        </p:nvSpPr>
        <p:spPr>
          <a:xfrm>
            <a:off x="713232" y="4215384"/>
            <a:ext cx="274320" cy="274320"/>
          </a:xfrm>
          <a:prstGeom prst="rect">
            <a:avLst/>
          </a:prstGeom>
          <a:noFill/>
          <a:ln/>
        </p:spPr>
        <p:txBody>
          <a:bodyPr wrap="square" lIns="0" tIns="0" rIns="0" bIns="0" rtlCol="0" anchor="ctr"/>
          <a:lstStyle/>
          <a:p>
            <a:pPr algn="ctr" indent="0" marL="0">
              <a:buNone/>
            </a:pPr>
            <a:r>
              <a:rPr lang="en-US" sz="1050" b="1" dirty="0">
                <a:solidFill>
                  <a:srgbClr val="FFFFFF"/>
                </a:solidFill>
                <a:latin typeface="Poppins" pitchFamily="34" charset="0"/>
                <a:ea typeface="Poppins" pitchFamily="34" charset="-122"/>
                <a:cs typeface="Poppins" pitchFamily="34" charset="-120"/>
              </a:rPr>
              <a:t>5</a:t>
            </a:r>
            <a:endParaRPr lang="en-US" sz="1050" dirty="0"/>
          </a:p>
        </p:txBody>
      </p:sp>
      <p:sp>
        <p:nvSpPr>
          <p:cNvPr id="23" name="Text 21"/>
          <p:cNvSpPr/>
          <p:nvPr/>
        </p:nvSpPr>
        <p:spPr>
          <a:xfrm>
            <a:off x="1143000" y="4105656"/>
            <a:ext cx="10332720" cy="493776"/>
          </a:xfrm>
          <a:prstGeom prst="rect">
            <a:avLst/>
          </a:prstGeom>
          <a:noFill/>
          <a:ln/>
        </p:spPr>
        <p:txBody>
          <a:bodyPr wrap="square" lIns="0" tIns="0" rIns="0" bIns="0" rtlCol="0" anchor="ctr"/>
          <a:lstStyle/>
          <a:p>
            <a:pPr indent="0" marL="0">
              <a:buNone/>
            </a:pPr>
            <a:r>
              <a:rPr lang="en-US" sz="1230" dirty="0">
                <a:solidFill>
                  <a:srgbClr val="1E2430"/>
                </a:solidFill>
                <a:latin typeface="Poppins" pitchFamily="34" charset="0"/>
                <a:ea typeface="Poppins" pitchFamily="34" charset="-122"/>
                <a:cs typeface="Poppins" pitchFamily="34" charset="-120"/>
              </a:rPr>
              <a:t>Intégrer un chatbot d'assistance pour orienter les visiteurs du site</a:t>
            </a:r>
            <a:endParaRPr lang="en-US" sz="1230" dirty="0"/>
          </a:p>
        </p:txBody>
      </p:sp>
      <p:sp>
        <p:nvSpPr>
          <p:cNvPr id="24" name="Shape 22"/>
          <p:cNvSpPr/>
          <p:nvPr/>
        </p:nvSpPr>
        <p:spPr>
          <a:xfrm>
            <a:off x="548640" y="4709160"/>
            <a:ext cx="11109960" cy="493776"/>
          </a:xfrm>
          <a:prstGeom prst="roundRect">
            <a:avLst>
              <a:gd name="adj" fmla="val 14815"/>
            </a:avLst>
          </a:prstGeom>
          <a:solidFill>
            <a:srgbClr val="F2F6FB"/>
          </a:solidFill>
          <a:ln/>
        </p:spPr>
      </p:sp>
      <p:sp>
        <p:nvSpPr>
          <p:cNvPr id="25" name="Shape 23"/>
          <p:cNvSpPr/>
          <p:nvPr/>
        </p:nvSpPr>
        <p:spPr>
          <a:xfrm>
            <a:off x="713232" y="4818888"/>
            <a:ext cx="274320" cy="274320"/>
          </a:xfrm>
          <a:prstGeom prst="ellipse">
            <a:avLst/>
          </a:prstGeom>
          <a:solidFill>
            <a:srgbClr val="3CAF73"/>
          </a:solidFill>
          <a:ln/>
        </p:spPr>
      </p:sp>
      <p:sp>
        <p:nvSpPr>
          <p:cNvPr id="26" name="Text 24"/>
          <p:cNvSpPr/>
          <p:nvPr/>
        </p:nvSpPr>
        <p:spPr>
          <a:xfrm>
            <a:off x="713232" y="4818888"/>
            <a:ext cx="274320" cy="274320"/>
          </a:xfrm>
          <a:prstGeom prst="rect">
            <a:avLst/>
          </a:prstGeom>
          <a:noFill/>
          <a:ln/>
        </p:spPr>
        <p:txBody>
          <a:bodyPr wrap="square" lIns="0" tIns="0" rIns="0" bIns="0" rtlCol="0" anchor="ctr"/>
          <a:lstStyle/>
          <a:p>
            <a:pPr algn="ctr" indent="0" marL="0">
              <a:buNone/>
            </a:pPr>
            <a:r>
              <a:rPr lang="en-US" sz="1050" b="1" dirty="0">
                <a:solidFill>
                  <a:srgbClr val="FFFFFF"/>
                </a:solidFill>
                <a:latin typeface="Poppins" pitchFamily="34" charset="0"/>
                <a:ea typeface="Poppins" pitchFamily="34" charset="-122"/>
                <a:cs typeface="Poppins" pitchFamily="34" charset="-120"/>
              </a:rPr>
              <a:t>6</a:t>
            </a:r>
            <a:endParaRPr lang="en-US" sz="1050" dirty="0"/>
          </a:p>
        </p:txBody>
      </p:sp>
      <p:sp>
        <p:nvSpPr>
          <p:cNvPr id="27" name="Text 25"/>
          <p:cNvSpPr/>
          <p:nvPr/>
        </p:nvSpPr>
        <p:spPr>
          <a:xfrm>
            <a:off x="1143000" y="4709160"/>
            <a:ext cx="10332720" cy="493776"/>
          </a:xfrm>
          <a:prstGeom prst="rect">
            <a:avLst/>
          </a:prstGeom>
          <a:noFill/>
          <a:ln/>
        </p:spPr>
        <p:txBody>
          <a:bodyPr wrap="square" lIns="0" tIns="0" rIns="0" bIns="0" rtlCol="0" anchor="ctr"/>
          <a:lstStyle/>
          <a:p>
            <a:pPr indent="0" marL="0">
              <a:buNone/>
            </a:pPr>
            <a:r>
              <a:rPr lang="en-US" sz="1230" dirty="0">
                <a:solidFill>
                  <a:srgbClr val="1E2430"/>
                </a:solidFill>
                <a:latin typeface="Poppins" pitchFamily="34" charset="0"/>
                <a:ea typeface="Poppins" pitchFamily="34" charset="-122"/>
                <a:cs typeface="Poppins" pitchFamily="34" charset="-120"/>
              </a:rPr>
              <a:t>Mettre en œuvre une newsletter automatisée pour les nouvelles publications</a:t>
            </a:r>
            <a:endParaRPr lang="en-US" sz="1230" dirty="0"/>
          </a:p>
        </p:txBody>
      </p:sp>
      <p:sp>
        <p:nvSpPr>
          <p:cNvPr id="28" name="Shape 26"/>
          <p:cNvSpPr/>
          <p:nvPr/>
        </p:nvSpPr>
        <p:spPr>
          <a:xfrm>
            <a:off x="548640" y="5312664"/>
            <a:ext cx="11109960" cy="493776"/>
          </a:xfrm>
          <a:prstGeom prst="roundRect">
            <a:avLst>
              <a:gd name="adj" fmla="val 14815"/>
            </a:avLst>
          </a:prstGeom>
          <a:solidFill>
            <a:srgbClr val="F2F6FB"/>
          </a:solidFill>
          <a:ln/>
        </p:spPr>
      </p:sp>
      <p:sp>
        <p:nvSpPr>
          <p:cNvPr id="29" name="Shape 27"/>
          <p:cNvSpPr/>
          <p:nvPr/>
        </p:nvSpPr>
        <p:spPr>
          <a:xfrm>
            <a:off x="713232" y="5422392"/>
            <a:ext cx="274320" cy="274320"/>
          </a:xfrm>
          <a:prstGeom prst="ellipse">
            <a:avLst/>
          </a:prstGeom>
          <a:solidFill>
            <a:srgbClr val="2764AE"/>
          </a:solidFill>
          <a:ln/>
        </p:spPr>
      </p:sp>
      <p:sp>
        <p:nvSpPr>
          <p:cNvPr id="30" name="Text 28"/>
          <p:cNvSpPr/>
          <p:nvPr/>
        </p:nvSpPr>
        <p:spPr>
          <a:xfrm>
            <a:off x="713232" y="5422392"/>
            <a:ext cx="274320" cy="274320"/>
          </a:xfrm>
          <a:prstGeom prst="rect">
            <a:avLst/>
          </a:prstGeom>
          <a:noFill/>
          <a:ln/>
        </p:spPr>
        <p:txBody>
          <a:bodyPr wrap="square" lIns="0" tIns="0" rIns="0" bIns="0" rtlCol="0" anchor="ctr"/>
          <a:lstStyle/>
          <a:p>
            <a:pPr algn="ctr" indent="0" marL="0">
              <a:buNone/>
            </a:pPr>
            <a:r>
              <a:rPr lang="en-US" sz="1050" b="1" dirty="0">
                <a:solidFill>
                  <a:srgbClr val="FFFFFF"/>
                </a:solidFill>
                <a:latin typeface="Poppins" pitchFamily="34" charset="0"/>
                <a:ea typeface="Poppins" pitchFamily="34" charset="-122"/>
                <a:cs typeface="Poppins" pitchFamily="34" charset="-120"/>
              </a:rPr>
              <a:t>7</a:t>
            </a:r>
            <a:endParaRPr lang="en-US" sz="1050" dirty="0"/>
          </a:p>
        </p:txBody>
      </p:sp>
      <p:sp>
        <p:nvSpPr>
          <p:cNvPr id="31" name="Text 29"/>
          <p:cNvSpPr/>
          <p:nvPr/>
        </p:nvSpPr>
        <p:spPr>
          <a:xfrm>
            <a:off x="1143000" y="5312664"/>
            <a:ext cx="10332720" cy="493776"/>
          </a:xfrm>
          <a:prstGeom prst="rect">
            <a:avLst/>
          </a:prstGeom>
          <a:noFill/>
          <a:ln/>
        </p:spPr>
        <p:txBody>
          <a:bodyPr wrap="square" lIns="0" tIns="0" rIns="0" bIns="0" rtlCol="0" anchor="ctr"/>
          <a:lstStyle/>
          <a:p>
            <a:pPr indent="0" marL="0">
              <a:buNone/>
            </a:pPr>
            <a:r>
              <a:rPr lang="en-US" sz="1230" dirty="0">
                <a:solidFill>
                  <a:srgbClr val="1E2430"/>
                </a:solidFill>
                <a:latin typeface="Poppins" pitchFamily="34" charset="0"/>
                <a:ea typeface="Poppins" pitchFamily="34" charset="-122"/>
                <a:cs typeface="Poppins" pitchFamily="34" charset="-120"/>
              </a:rPr>
              <a:t>Garantir la sécurité de l'accès administrateur et la confidentialité des données</a:t>
            </a:r>
            <a:endParaRPr lang="en-US" sz="1230" dirty="0"/>
          </a:p>
        </p:txBody>
      </p:sp>
      <p:pic>
        <p:nvPicPr>
          <p:cNvPr id="32" name="Image 0" descr="assets/logo_busola.jpg">    </p:cNvPr>
          <p:cNvPicPr>
            <a:picLocks noChangeAspect="1"/>
          </p:cNvPicPr>
          <p:nvPr/>
        </p:nvPicPr>
        <p:blipFill>
          <a:blip r:embed="rId1"/>
          <a:stretch>
            <a:fillRect/>
          </a:stretch>
        </p:blipFill>
        <p:spPr>
          <a:xfrm>
            <a:off x="11140135" y="320040"/>
            <a:ext cx="566928" cy="548640"/>
          </a:xfrm>
          <a:prstGeom prst="rect">
            <a:avLst/>
          </a:prstGeom>
        </p:spPr>
      </p:pic>
      <p:sp>
        <p:nvSpPr>
          <p:cNvPr id="33" name="Shape 30"/>
          <p:cNvSpPr/>
          <p:nvPr/>
        </p:nvSpPr>
        <p:spPr>
          <a:xfrm>
            <a:off x="11624767" y="6345936"/>
            <a:ext cx="310896" cy="310896"/>
          </a:xfrm>
          <a:prstGeom prst="ellipse">
            <a:avLst/>
          </a:prstGeom>
          <a:solidFill>
            <a:srgbClr val="2764AE"/>
          </a:solidFill>
          <a:ln/>
        </p:spPr>
      </p:sp>
      <p:sp>
        <p:nvSpPr>
          <p:cNvPr id="34" name="Text 31"/>
          <p:cNvSpPr/>
          <p:nvPr/>
        </p:nvSpPr>
        <p:spPr>
          <a:xfrm>
            <a:off x="11624767" y="6345936"/>
            <a:ext cx="310896" cy="310896"/>
          </a:xfrm>
          <a:prstGeom prst="rect">
            <a:avLst/>
          </a:prstGeom>
          <a:noFill/>
          <a:ln/>
        </p:spPr>
        <p:txBody>
          <a:bodyPr wrap="square" lIns="0" tIns="0" rIns="0" bIns="0" rtlCol="0" anchor="ctr"/>
          <a:lstStyle/>
          <a:p>
            <a:pPr algn="ctr" indent="0" marL="0">
              <a:buNone/>
            </a:pPr>
            <a:r>
              <a:rPr lang="en-US" sz="1000" b="1" dirty="0">
                <a:solidFill>
                  <a:srgbClr val="FFFFFF"/>
                </a:solidFill>
                <a:latin typeface="Poppins" pitchFamily="34" charset="0"/>
                <a:ea typeface="Poppins" pitchFamily="34" charset="-122"/>
                <a:cs typeface="Poppins" pitchFamily="34" charset="-120"/>
              </a:rPr>
              <a:t>12</a:t>
            </a:r>
            <a:endParaRPr lang="en-US" sz="1000" dirty="0"/>
          </a:p>
        </p:txBody>
      </p:sp>
      <p:sp>
        <p:nvSpPr>
          <p:cNvPr id="35" name="Text 32"/>
          <p:cNvSpPr/>
          <p:nvPr/>
        </p:nvSpPr>
        <p:spPr>
          <a:xfrm>
            <a:off x="457200" y="6437376"/>
            <a:ext cx="5486400" cy="274320"/>
          </a:xfrm>
          <a:prstGeom prst="rect">
            <a:avLst/>
          </a:prstGeom>
          <a:noFill/>
          <a:ln/>
        </p:spPr>
        <p:txBody>
          <a:bodyPr wrap="square" lIns="0" tIns="0" rIns="0" bIns="0" rtlCol="0" anchor="ctr"/>
          <a:lstStyle/>
          <a:p>
            <a:pPr indent="0" marL="0">
              <a:buNone/>
            </a:pPr>
            <a:r>
              <a:rPr lang="en-US" sz="850" dirty="0">
                <a:solidFill>
                  <a:srgbClr val="5B6472"/>
                </a:solidFill>
                <a:latin typeface="Poppins" pitchFamily="34" charset="0"/>
                <a:ea typeface="Poppins" pitchFamily="34" charset="-122"/>
                <a:cs typeface="Poppins" pitchFamily="34" charset="-120"/>
              </a:rPr>
              <a:t>PLATEFORME WEB ONG BUSOLA</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33A61"/>
        </a:solidFill>
      </p:bgPr>
    </p:bg>
    <p:spTree>
      <p:nvGrpSpPr>
        <p:cNvPr id="1" name=""/>
        <p:cNvGrpSpPr/>
        <p:nvPr/>
      </p:nvGrpSpPr>
      <p:grpSpPr>
        <a:xfrm>
          <a:off x="0" y="0"/>
          <a:ext cx="0" cy="0"/>
          <a:chOff x="0" y="0"/>
          <a:chExt cx="0" cy="0"/>
        </a:xfrm>
      </p:grpSpPr>
      <p:sp>
        <p:nvSpPr>
          <p:cNvPr id="2" name="Shape 0"/>
          <p:cNvSpPr/>
          <p:nvPr/>
        </p:nvSpPr>
        <p:spPr>
          <a:xfrm>
            <a:off x="9448495" y="-1828800"/>
            <a:ext cx="5486400" cy="5486400"/>
          </a:xfrm>
          <a:prstGeom prst="ellipse">
            <a:avLst/>
          </a:prstGeom>
          <a:solidFill>
            <a:srgbClr val="2764AE">
              <a:alpha val="45000"/>
            </a:srgbClr>
          </a:solidFill>
          <a:ln/>
        </p:spPr>
      </p:sp>
      <p:sp>
        <p:nvSpPr>
          <p:cNvPr id="3" name="Shape 1"/>
          <p:cNvSpPr/>
          <p:nvPr/>
        </p:nvSpPr>
        <p:spPr>
          <a:xfrm>
            <a:off x="-1828800" y="4663440"/>
            <a:ext cx="4572000" cy="4572000"/>
          </a:xfrm>
          <a:prstGeom prst="ellipse">
            <a:avLst/>
          </a:prstGeom>
          <a:solidFill>
            <a:srgbClr val="3CAF73">
              <a:alpha val="30000"/>
            </a:srgbClr>
          </a:solidFill>
          <a:ln/>
        </p:spPr>
      </p:sp>
      <p:sp>
        <p:nvSpPr>
          <p:cNvPr id="4" name="Text 2"/>
          <p:cNvSpPr/>
          <p:nvPr/>
        </p:nvSpPr>
        <p:spPr>
          <a:xfrm>
            <a:off x="822960" y="2331720"/>
            <a:ext cx="2743200" cy="1463040"/>
          </a:xfrm>
          <a:prstGeom prst="rect">
            <a:avLst/>
          </a:prstGeom>
          <a:noFill/>
          <a:ln/>
        </p:spPr>
        <p:txBody>
          <a:bodyPr wrap="square" lIns="0" tIns="0" rIns="0" bIns="0" rtlCol="0" anchor="ctr"/>
          <a:lstStyle/>
          <a:p>
            <a:pPr indent="0" marL="0">
              <a:buNone/>
            </a:pPr>
            <a:r>
              <a:rPr lang="en-US" sz="9000" b="1" dirty="0">
                <a:solidFill>
                  <a:srgbClr val="2E5F94"/>
                </a:solidFill>
                <a:latin typeface="Montserrat" pitchFamily="34" charset="0"/>
                <a:ea typeface="Montserrat" pitchFamily="34" charset="-122"/>
                <a:cs typeface="Montserrat" pitchFamily="34" charset="-120"/>
              </a:rPr>
              <a:t>III</a:t>
            </a:r>
            <a:endParaRPr lang="en-US" sz="9000" dirty="0"/>
          </a:p>
        </p:txBody>
      </p:sp>
      <p:sp>
        <p:nvSpPr>
          <p:cNvPr id="5" name="Shape 3"/>
          <p:cNvSpPr/>
          <p:nvPr/>
        </p:nvSpPr>
        <p:spPr>
          <a:xfrm>
            <a:off x="3246120" y="2606040"/>
            <a:ext cx="54864" cy="1737360"/>
          </a:xfrm>
          <a:prstGeom prst="rect">
            <a:avLst/>
          </a:prstGeom>
          <a:solidFill>
            <a:srgbClr val="F6A026"/>
          </a:solidFill>
          <a:ln/>
        </p:spPr>
      </p:sp>
      <p:sp>
        <p:nvSpPr>
          <p:cNvPr id="6" name="Text 4"/>
          <p:cNvSpPr/>
          <p:nvPr/>
        </p:nvSpPr>
        <p:spPr>
          <a:xfrm>
            <a:off x="3566160" y="2697480"/>
            <a:ext cx="7863840" cy="1005840"/>
          </a:xfrm>
          <a:prstGeom prst="rect">
            <a:avLst/>
          </a:prstGeom>
          <a:noFill/>
          <a:ln/>
        </p:spPr>
        <p:txBody>
          <a:bodyPr wrap="square" lIns="0" tIns="0" rIns="0" bIns="0" rtlCol="0" anchor="ctr"/>
          <a:lstStyle/>
          <a:p>
            <a:pPr indent="0" marL="0">
              <a:lnSpc>
                <a:spcPct val="110000"/>
              </a:lnSpc>
              <a:buNone/>
            </a:pPr>
            <a:r>
              <a:rPr lang="en-US" sz="3200" b="1" dirty="0">
                <a:solidFill>
                  <a:srgbClr val="FFFFFF"/>
                </a:solidFill>
                <a:latin typeface="Montserrat" pitchFamily="34" charset="0"/>
                <a:ea typeface="Montserrat" pitchFamily="34" charset="-122"/>
                <a:cs typeface="Montserrat" pitchFamily="34" charset="-120"/>
              </a:rPr>
              <a:t>Modélisation du système</a:t>
            </a:r>
            <a:endParaRPr lang="en-US" sz="3200" dirty="0"/>
          </a:p>
        </p:txBody>
      </p:sp>
      <p:sp>
        <p:nvSpPr>
          <p:cNvPr id="7" name="Text 5"/>
          <p:cNvSpPr/>
          <p:nvPr/>
        </p:nvSpPr>
        <p:spPr>
          <a:xfrm>
            <a:off x="3566160" y="3566160"/>
            <a:ext cx="7863840" cy="640080"/>
          </a:xfrm>
          <a:prstGeom prst="rect">
            <a:avLst/>
          </a:prstGeom>
          <a:noFill/>
          <a:ln/>
        </p:spPr>
        <p:txBody>
          <a:bodyPr wrap="square" lIns="0" tIns="0" rIns="0" bIns="0" rtlCol="0" anchor="ctr"/>
          <a:lstStyle/>
          <a:p>
            <a:pPr indent="0" marL="0">
              <a:buNone/>
            </a:pPr>
            <a:r>
              <a:rPr lang="en-US" sz="1400" i="1" dirty="0">
                <a:solidFill>
                  <a:srgbClr val="C7D6E8"/>
                </a:solidFill>
                <a:latin typeface="Poppins" pitchFamily="34" charset="0"/>
                <a:ea typeface="Poppins" pitchFamily="34" charset="-122"/>
                <a:cs typeface="Poppins" pitchFamily="34" charset="-120"/>
              </a:rPr>
              <a:t>Acteurs, cas d'utilisation et diagramme de classes</a:t>
            </a:r>
            <a:endParaRPr lang="en-US" sz="1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548640" y="384048"/>
            <a:ext cx="9144000" cy="320040"/>
          </a:xfrm>
          <a:prstGeom prst="rect">
            <a:avLst/>
          </a:prstGeom>
          <a:noFill/>
          <a:ln/>
        </p:spPr>
        <p:txBody>
          <a:bodyPr wrap="square" lIns="0" tIns="0" rIns="0" bIns="0" rtlCol="0" anchor="ctr"/>
          <a:lstStyle/>
          <a:p>
            <a:pPr indent="0" marL="0">
              <a:buNone/>
            </a:pPr>
            <a:r>
              <a:rPr lang="en-US" sz="1300" b="1" spc="200" kern="0" dirty="0">
                <a:solidFill>
                  <a:srgbClr val="F6A026"/>
                </a:solidFill>
                <a:latin typeface="Poppins" pitchFamily="34" charset="0"/>
                <a:ea typeface="Poppins" pitchFamily="34" charset="-122"/>
                <a:cs typeface="Poppins" pitchFamily="34" charset="-120"/>
              </a:rPr>
              <a:t>CHAPITRE 3 — MODÉLISATION</a:t>
            </a:r>
            <a:endParaRPr lang="en-US" sz="1300" dirty="0"/>
          </a:p>
        </p:txBody>
      </p:sp>
      <p:sp>
        <p:nvSpPr>
          <p:cNvPr id="3" name="Text 1"/>
          <p:cNvSpPr/>
          <p:nvPr/>
        </p:nvSpPr>
        <p:spPr>
          <a:xfrm>
            <a:off x="548640" y="658368"/>
            <a:ext cx="10607040" cy="777240"/>
          </a:xfrm>
          <a:prstGeom prst="rect">
            <a:avLst/>
          </a:prstGeom>
          <a:noFill/>
          <a:ln/>
        </p:spPr>
        <p:txBody>
          <a:bodyPr wrap="square" lIns="0" tIns="0" rIns="0" bIns="0" rtlCol="0" anchor="ctr"/>
          <a:lstStyle/>
          <a:p>
            <a:pPr indent="0" marL="0">
              <a:lnSpc>
                <a:spcPts val="3200"/>
              </a:lnSpc>
              <a:buNone/>
            </a:pPr>
            <a:r>
              <a:rPr lang="en-US" sz="3000" b="1" dirty="0">
                <a:solidFill>
                  <a:srgbClr val="133A61"/>
                </a:solidFill>
                <a:latin typeface="Montserrat" pitchFamily="34" charset="0"/>
                <a:ea typeface="Montserrat" pitchFamily="34" charset="-122"/>
                <a:cs typeface="Montserrat" pitchFamily="34" charset="-120"/>
              </a:rPr>
              <a:t>Diagramme de cas d'utilisation</a:t>
            </a:r>
            <a:endParaRPr lang="en-US" sz="3000" dirty="0"/>
          </a:p>
        </p:txBody>
      </p:sp>
      <p:pic>
        <p:nvPicPr>
          <p:cNvPr id="4" name="Image 0" descr="assets/uml_usecase_busola.png">    </p:cNvPr>
          <p:cNvPicPr>
            <a:picLocks noChangeAspect="1"/>
          </p:cNvPicPr>
          <p:nvPr/>
        </p:nvPicPr>
        <p:blipFill>
          <a:blip r:embed="rId1"/>
          <a:stretch>
            <a:fillRect/>
          </a:stretch>
        </p:blipFill>
        <p:spPr>
          <a:xfrm>
            <a:off x="640080" y="1645920"/>
            <a:ext cx="6675120" cy="4526280"/>
          </a:xfrm>
          <a:prstGeom prst="rect">
            <a:avLst/>
          </a:prstGeom>
        </p:spPr>
      </p:pic>
      <p:sp>
        <p:nvSpPr>
          <p:cNvPr id="5" name="Shape 2"/>
          <p:cNvSpPr/>
          <p:nvPr/>
        </p:nvSpPr>
        <p:spPr>
          <a:xfrm>
            <a:off x="7543800" y="1645920"/>
            <a:ext cx="4114800" cy="4526280"/>
          </a:xfrm>
          <a:prstGeom prst="roundRect">
            <a:avLst>
              <a:gd name="adj" fmla="val 2222"/>
            </a:avLst>
          </a:prstGeom>
          <a:solidFill>
            <a:srgbClr val="F2F6FB"/>
          </a:solidFill>
          <a:ln/>
        </p:spPr>
      </p:sp>
      <p:sp>
        <p:nvSpPr>
          <p:cNvPr id="6" name="Text 3"/>
          <p:cNvSpPr/>
          <p:nvPr/>
        </p:nvSpPr>
        <p:spPr>
          <a:xfrm>
            <a:off x="7818120" y="1828800"/>
            <a:ext cx="3657600" cy="320040"/>
          </a:xfrm>
          <a:prstGeom prst="rect">
            <a:avLst/>
          </a:prstGeom>
          <a:noFill/>
          <a:ln/>
        </p:spPr>
        <p:txBody>
          <a:bodyPr wrap="square" lIns="0" tIns="0" rIns="0" bIns="0" rtlCol="0" anchor="ctr"/>
          <a:lstStyle/>
          <a:p>
            <a:pPr indent="0" marL="0">
              <a:buNone/>
            </a:pPr>
            <a:r>
              <a:rPr lang="en-US" sz="1250" b="1" dirty="0">
                <a:solidFill>
                  <a:srgbClr val="2764AE"/>
                </a:solidFill>
                <a:latin typeface="Poppins" pitchFamily="34" charset="0"/>
                <a:ea typeface="Poppins" pitchFamily="34" charset="-122"/>
                <a:cs typeface="Poppins" pitchFamily="34" charset="-120"/>
              </a:rPr>
              <a:t>Deux acteurs principaux</a:t>
            </a:r>
            <a:endParaRPr lang="en-US" sz="1250" dirty="0"/>
          </a:p>
        </p:txBody>
      </p:sp>
      <p:sp>
        <p:nvSpPr>
          <p:cNvPr id="7" name="Text 4"/>
          <p:cNvSpPr/>
          <p:nvPr/>
        </p:nvSpPr>
        <p:spPr>
          <a:xfrm>
            <a:off x="7818120" y="2286000"/>
            <a:ext cx="3566160" cy="320040"/>
          </a:xfrm>
          <a:prstGeom prst="rect">
            <a:avLst/>
          </a:prstGeom>
          <a:noFill/>
          <a:ln/>
        </p:spPr>
        <p:txBody>
          <a:bodyPr wrap="square" lIns="0" tIns="0" rIns="0" bIns="0" rtlCol="0" anchor="ctr"/>
          <a:lstStyle/>
          <a:p>
            <a:pPr indent="0" marL="0">
              <a:buNone/>
            </a:pPr>
            <a:r>
              <a:rPr lang="en-US" sz="1350" b="1" dirty="0">
                <a:solidFill>
                  <a:srgbClr val="3CAF73"/>
                </a:solidFill>
                <a:latin typeface="Montserrat" pitchFamily="34" charset="0"/>
                <a:ea typeface="Montserrat" pitchFamily="34" charset="-122"/>
                <a:cs typeface="Montserrat" pitchFamily="34" charset="-120"/>
              </a:rPr>
              <a:t>Visiteur</a:t>
            </a:r>
            <a:endParaRPr lang="en-US" sz="1350" dirty="0"/>
          </a:p>
        </p:txBody>
      </p:sp>
      <p:sp>
        <p:nvSpPr>
          <p:cNvPr id="8" name="Text 5"/>
          <p:cNvSpPr/>
          <p:nvPr/>
        </p:nvSpPr>
        <p:spPr>
          <a:xfrm>
            <a:off x="7818120" y="2633472"/>
            <a:ext cx="3566160" cy="1005840"/>
          </a:xfrm>
          <a:prstGeom prst="rect">
            <a:avLst/>
          </a:prstGeom>
          <a:noFill/>
          <a:ln/>
        </p:spPr>
        <p:txBody>
          <a:bodyPr wrap="square" lIns="0" tIns="0" rIns="0" bIns="0" rtlCol="0" anchor="ctr"/>
          <a:lstStyle/>
          <a:p>
            <a:pPr indent="0" marL="0">
              <a:lnSpc>
                <a:spcPct val="120000"/>
              </a:lnSpc>
              <a:buNone/>
            </a:pPr>
            <a:r>
              <a:rPr lang="en-US" sz="1100" dirty="0">
                <a:solidFill>
                  <a:srgbClr val="1E2430"/>
                </a:solidFill>
                <a:latin typeface="Poppins" pitchFamily="34" charset="0"/>
                <a:ea typeface="Poppins" pitchFamily="34" charset="-122"/>
                <a:cs typeface="Poppins" pitchFamily="34" charset="-120"/>
              </a:rPr>
              <a:t>Consulte actualités &amp; actions, utilise le chatbot, s'inscrit à la newsletter, envoie un message de contact</a:t>
            </a:r>
            <a:endParaRPr lang="en-US" sz="1100" dirty="0"/>
          </a:p>
        </p:txBody>
      </p:sp>
      <p:sp>
        <p:nvSpPr>
          <p:cNvPr id="9" name="Text 6"/>
          <p:cNvSpPr/>
          <p:nvPr/>
        </p:nvSpPr>
        <p:spPr>
          <a:xfrm>
            <a:off x="7818120" y="3886200"/>
            <a:ext cx="3566160" cy="320040"/>
          </a:xfrm>
          <a:prstGeom prst="rect">
            <a:avLst/>
          </a:prstGeom>
          <a:noFill/>
          <a:ln/>
        </p:spPr>
        <p:txBody>
          <a:bodyPr wrap="square" lIns="0" tIns="0" rIns="0" bIns="0" rtlCol="0" anchor="ctr"/>
          <a:lstStyle/>
          <a:p>
            <a:pPr indent="0" marL="0">
              <a:buNone/>
            </a:pPr>
            <a:r>
              <a:rPr lang="en-US" sz="1350" b="1" dirty="0">
                <a:solidFill>
                  <a:srgbClr val="3CAF73"/>
                </a:solidFill>
                <a:latin typeface="Montserrat" pitchFamily="34" charset="0"/>
                <a:ea typeface="Montserrat" pitchFamily="34" charset="-122"/>
                <a:cs typeface="Montserrat" pitchFamily="34" charset="-120"/>
              </a:rPr>
              <a:t>Administrateur</a:t>
            </a:r>
            <a:endParaRPr lang="en-US" sz="1350" dirty="0"/>
          </a:p>
        </p:txBody>
      </p:sp>
      <p:sp>
        <p:nvSpPr>
          <p:cNvPr id="10" name="Text 7"/>
          <p:cNvSpPr/>
          <p:nvPr/>
        </p:nvSpPr>
        <p:spPr>
          <a:xfrm>
            <a:off x="7818120" y="4233672"/>
            <a:ext cx="3566160" cy="1005840"/>
          </a:xfrm>
          <a:prstGeom prst="rect">
            <a:avLst/>
          </a:prstGeom>
          <a:noFill/>
          <a:ln/>
        </p:spPr>
        <p:txBody>
          <a:bodyPr wrap="square" lIns="0" tIns="0" rIns="0" bIns="0" rtlCol="0" anchor="ctr"/>
          <a:lstStyle/>
          <a:p>
            <a:pPr indent="0" marL="0">
              <a:lnSpc>
                <a:spcPct val="120000"/>
              </a:lnSpc>
              <a:buNone/>
            </a:pPr>
            <a:r>
              <a:rPr lang="en-US" sz="1100" dirty="0">
                <a:solidFill>
                  <a:srgbClr val="1E2430"/>
                </a:solidFill>
                <a:latin typeface="Poppins" pitchFamily="34" charset="0"/>
                <a:ea typeface="Poppins" pitchFamily="34" charset="-122"/>
                <a:cs typeface="Poppins" pitchFamily="34" charset="-120"/>
              </a:rPr>
              <a:t>S'authentifie (JWT), gère les contenus (CRUD), consulte messages et abonnés</a:t>
            </a:r>
            <a:endParaRPr lang="en-US" sz="1100" dirty="0"/>
          </a:p>
        </p:txBody>
      </p:sp>
      <p:pic>
        <p:nvPicPr>
          <p:cNvPr id="11" name="Image 1" descr="assets/logo_busola.jpg">    </p:cNvPr>
          <p:cNvPicPr>
            <a:picLocks noChangeAspect="1"/>
          </p:cNvPicPr>
          <p:nvPr/>
        </p:nvPicPr>
        <p:blipFill>
          <a:blip r:embed="rId2"/>
          <a:stretch>
            <a:fillRect/>
          </a:stretch>
        </p:blipFill>
        <p:spPr>
          <a:xfrm>
            <a:off x="11140135" y="320040"/>
            <a:ext cx="566928" cy="548640"/>
          </a:xfrm>
          <a:prstGeom prst="rect">
            <a:avLst/>
          </a:prstGeom>
        </p:spPr>
      </p:pic>
      <p:sp>
        <p:nvSpPr>
          <p:cNvPr id="12" name="Shape 8"/>
          <p:cNvSpPr/>
          <p:nvPr/>
        </p:nvSpPr>
        <p:spPr>
          <a:xfrm>
            <a:off x="11624767" y="6345936"/>
            <a:ext cx="310896" cy="310896"/>
          </a:xfrm>
          <a:prstGeom prst="ellipse">
            <a:avLst/>
          </a:prstGeom>
          <a:solidFill>
            <a:srgbClr val="2764AE"/>
          </a:solidFill>
          <a:ln/>
        </p:spPr>
      </p:sp>
      <p:sp>
        <p:nvSpPr>
          <p:cNvPr id="13" name="Text 9"/>
          <p:cNvSpPr/>
          <p:nvPr/>
        </p:nvSpPr>
        <p:spPr>
          <a:xfrm>
            <a:off x="11624767" y="6345936"/>
            <a:ext cx="310896" cy="310896"/>
          </a:xfrm>
          <a:prstGeom prst="rect">
            <a:avLst/>
          </a:prstGeom>
          <a:noFill/>
          <a:ln/>
        </p:spPr>
        <p:txBody>
          <a:bodyPr wrap="square" lIns="0" tIns="0" rIns="0" bIns="0" rtlCol="0" anchor="ctr"/>
          <a:lstStyle/>
          <a:p>
            <a:pPr algn="ctr" indent="0" marL="0">
              <a:buNone/>
            </a:pPr>
            <a:r>
              <a:rPr lang="en-US" sz="1000" b="1" dirty="0">
                <a:solidFill>
                  <a:srgbClr val="FFFFFF"/>
                </a:solidFill>
                <a:latin typeface="Poppins" pitchFamily="34" charset="0"/>
                <a:ea typeface="Poppins" pitchFamily="34" charset="-122"/>
                <a:cs typeface="Poppins" pitchFamily="34" charset="-120"/>
              </a:rPr>
              <a:t>14</a:t>
            </a:r>
            <a:endParaRPr lang="en-US" sz="1000" dirty="0"/>
          </a:p>
        </p:txBody>
      </p:sp>
      <p:sp>
        <p:nvSpPr>
          <p:cNvPr id="14" name="Text 10"/>
          <p:cNvSpPr/>
          <p:nvPr/>
        </p:nvSpPr>
        <p:spPr>
          <a:xfrm>
            <a:off x="457200" y="6437376"/>
            <a:ext cx="5486400" cy="274320"/>
          </a:xfrm>
          <a:prstGeom prst="rect">
            <a:avLst/>
          </a:prstGeom>
          <a:noFill/>
          <a:ln/>
        </p:spPr>
        <p:txBody>
          <a:bodyPr wrap="square" lIns="0" tIns="0" rIns="0" bIns="0" rtlCol="0" anchor="ctr"/>
          <a:lstStyle/>
          <a:p>
            <a:pPr indent="0" marL="0">
              <a:buNone/>
            </a:pPr>
            <a:r>
              <a:rPr lang="en-US" sz="850" dirty="0">
                <a:solidFill>
                  <a:srgbClr val="5B6472"/>
                </a:solidFill>
                <a:latin typeface="Poppins" pitchFamily="34" charset="0"/>
                <a:ea typeface="Poppins" pitchFamily="34" charset="-122"/>
                <a:cs typeface="Poppins" pitchFamily="34" charset="-120"/>
              </a:rPr>
              <a:t>PLATEFORME WEB ONG BUSOLA</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548640" y="384048"/>
            <a:ext cx="9144000" cy="320040"/>
          </a:xfrm>
          <a:prstGeom prst="rect">
            <a:avLst/>
          </a:prstGeom>
          <a:noFill/>
          <a:ln/>
        </p:spPr>
        <p:txBody>
          <a:bodyPr wrap="square" lIns="0" tIns="0" rIns="0" bIns="0" rtlCol="0" anchor="ctr"/>
          <a:lstStyle/>
          <a:p>
            <a:pPr indent="0" marL="0">
              <a:buNone/>
            </a:pPr>
            <a:r>
              <a:rPr lang="en-US" sz="1300" b="1" spc="200" kern="0" dirty="0">
                <a:solidFill>
                  <a:srgbClr val="F6A026"/>
                </a:solidFill>
                <a:latin typeface="Poppins" pitchFamily="34" charset="0"/>
                <a:ea typeface="Poppins" pitchFamily="34" charset="-122"/>
                <a:cs typeface="Poppins" pitchFamily="34" charset="-120"/>
              </a:rPr>
              <a:t>CHAPITRE 3 — MODÉLISATION</a:t>
            </a:r>
            <a:endParaRPr lang="en-US" sz="1300" dirty="0"/>
          </a:p>
        </p:txBody>
      </p:sp>
      <p:sp>
        <p:nvSpPr>
          <p:cNvPr id="3" name="Text 1"/>
          <p:cNvSpPr/>
          <p:nvPr/>
        </p:nvSpPr>
        <p:spPr>
          <a:xfrm>
            <a:off x="548640" y="658368"/>
            <a:ext cx="10607040" cy="777240"/>
          </a:xfrm>
          <a:prstGeom prst="rect">
            <a:avLst/>
          </a:prstGeom>
          <a:noFill/>
          <a:ln/>
        </p:spPr>
        <p:txBody>
          <a:bodyPr wrap="square" lIns="0" tIns="0" rIns="0" bIns="0" rtlCol="0" anchor="ctr"/>
          <a:lstStyle/>
          <a:p>
            <a:pPr indent="0" marL="0">
              <a:lnSpc>
                <a:spcPts val="3200"/>
              </a:lnSpc>
              <a:buNone/>
            </a:pPr>
            <a:r>
              <a:rPr lang="en-US" sz="3000" b="1" dirty="0">
                <a:solidFill>
                  <a:srgbClr val="133A61"/>
                </a:solidFill>
                <a:latin typeface="Montserrat" pitchFamily="34" charset="0"/>
                <a:ea typeface="Montserrat" pitchFamily="34" charset="-122"/>
                <a:cs typeface="Montserrat" pitchFamily="34" charset="-120"/>
              </a:rPr>
              <a:t>Diagramme de classes</a:t>
            </a:r>
            <a:endParaRPr lang="en-US" sz="3000" dirty="0"/>
          </a:p>
        </p:txBody>
      </p:sp>
      <p:pic>
        <p:nvPicPr>
          <p:cNvPr id="4" name="Image 0" descr="assets/uml_class_busola.png">    </p:cNvPr>
          <p:cNvPicPr>
            <a:picLocks noChangeAspect="1"/>
          </p:cNvPicPr>
          <p:nvPr/>
        </p:nvPicPr>
        <p:blipFill>
          <a:blip r:embed="rId1"/>
          <a:stretch>
            <a:fillRect/>
          </a:stretch>
        </p:blipFill>
        <p:spPr>
          <a:xfrm>
            <a:off x="2743200" y="1554480"/>
            <a:ext cx="6675120" cy="4160520"/>
          </a:xfrm>
          <a:prstGeom prst="rect">
            <a:avLst/>
          </a:prstGeom>
        </p:spPr>
      </p:pic>
      <p:sp>
        <p:nvSpPr>
          <p:cNvPr id="5" name="Shape 2"/>
          <p:cNvSpPr/>
          <p:nvPr/>
        </p:nvSpPr>
        <p:spPr>
          <a:xfrm>
            <a:off x="548640" y="1554480"/>
            <a:ext cx="2057400" cy="4206240"/>
          </a:xfrm>
          <a:prstGeom prst="roundRect">
            <a:avLst>
              <a:gd name="adj" fmla="val 4444"/>
            </a:avLst>
          </a:prstGeom>
          <a:solidFill>
            <a:srgbClr val="133A61"/>
          </a:solidFill>
          <a:ln/>
        </p:spPr>
      </p:sp>
      <p:sp>
        <p:nvSpPr>
          <p:cNvPr id="6" name="Text 3"/>
          <p:cNvSpPr/>
          <p:nvPr/>
        </p:nvSpPr>
        <p:spPr>
          <a:xfrm>
            <a:off x="731520" y="1737360"/>
            <a:ext cx="1737360" cy="365760"/>
          </a:xfrm>
          <a:prstGeom prst="rect">
            <a:avLst/>
          </a:prstGeom>
          <a:noFill/>
          <a:ln/>
        </p:spPr>
        <p:txBody>
          <a:bodyPr wrap="square" lIns="0" tIns="0" rIns="0" bIns="0" rtlCol="0" anchor="ctr"/>
          <a:lstStyle/>
          <a:p>
            <a:pPr indent="0" marL="0">
              <a:buNone/>
            </a:pPr>
            <a:r>
              <a:rPr lang="en-US" sz="1100" b="1" dirty="0">
                <a:solidFill>
                  <a:srgbClr val="F6A026"/>
                </a:solidFill>
                <a:latin typeface="Poppins" pitchFamily="34" charset="0"/>
                <a:ea typeface="Poppins" pitchFamily="34" charset="-122"/>
                <a:cs typeface="Poppins" pitchFamily="34" charset="-120"/>
              </a:rPr>
              <a:t>6 collections</a:t>
            </a:r>
            <a:endParaRPr lang="en-US" sz="1100" dirty="0"/>
          </a:p>
        </p:txBody>
      </p:sp>
      <p:sp>
        <p:nvSpPr>
          <p:cNvPr id="7" name="Text 4"/>
          <p:cNvSpPr/>
          <p:nvPr/>
        </p:nvSpPr>
        <p:spPr>
          <a:xfrm>
            <a:off x="731520" y="2148840"/>
            <a:ext cx="1737360" cy="457200"/>
          </a:xfrm>
          <a:prstGeom prst="rect">
            <a:avLst/>
          </a:prstGeom>
          <a:noFill/>
          <a:ln/>
        </p:spPr>
        <p:txBody>
          <a:bodyPr wrap="square" lIns="0" tIns="0" rIns="0" bIns="0" rtlCol="0" anchor="ctr"/>
          <a:lstStyle/>
          <a:p>
            <a:pPr indent="0" marL="0">
              <a:buNone/>
            </a:pPr>
            <a:r>
              <a:rPr lang="en-US" sz="1100" dirty="0">
                <a:solidFill>
                  <a:srgbClr val="FFFFFF"/>
                </a:solidFill>
                <a:latin typeface="Poppins" pitchFamily="34" charset="0"/>
                <a:ea typeface="Poppins" pitchFamily="34" charset="-122"/>
                <a:cs typeface="Poppins" pitchFamily="34" charset="-120"/>
              </a:rPr>
              <a:t>Administrateur</a:t>
            </a:r>
            <a:endParaRPr lang="en-US" sz="1100" dirty="0"/>
          </a:p>
        </p:txBody>
      </p:sp>
      <p:sp>
        <p:nvSpPr>
          <p:cNvPr id="8" name="Text 5"/>
          <p:cNvSpPr/>
          <p:nvPr/>
        </p:nvSpPr>
        <p:spPr>
          <a:xfrm>
            <a:off x="731520" y="2715768"/>
            <a:ext cx="1737360" cy="457200"/>
          </a:xfrm>
          <a:prstGeom prst="rect">
            <a:avLst/>
          </a:prstGeom>
          <a:noFill/>
          <a:ln/>
        </p:spPr>
        <p:txBody>
          <a:bodyPr wrap="square" lIns="0" tIns="0" rIns="0" bIns="0" rtlCol="0" anchor="ctr"/>
          <a:lstStyle/>
          <a:p>
            <a:pPr indent="0" marL="0">
              <a:buNone/>
            </a:pPr>
            <a:r>
              <a:rPr lang="en-US" sz="1100" dirty="0">
                <a:solidFill>
                  <a:srgbClr val="FFFFFF"/>
                </a:solidFill>
                <a:latin typeface="Poppins" pitchFamily="34" charset="0"/>
                <a:ea typeface="Poppins" pitchFamily="34" charset="-122"/>
                <a:cs typeface="Poppins" pitchFamily="34" charset="-120"/>
              </a:rPr>
              <a:t>Actualité</a:t>
            </a:r>
            <a:endParaRPr lang="en-US" sz="1100" dirty="0"/>
          </a:p>
        </p:txBody>
      </p:sp>
      <p:sp>
        <p:nvSpPr>
          <p:cNvPr id="9" name="Text 6"/>
          <p:cNvSpPr/>
          <p:nvPr/>
        </p:nvSpPr>
        <p:spPr>
          <a:xfrm>
            <a:off x="731520" y="3282696"/>
            <a:ext cx="1737360" cy="457200"/>
          </a:xfrm>
          <a:prstGeom prst="rect">
            <a:avLst/>
          </a:prstGeom>
          <a:noFill/>
          <a:ln/>
        </p:spPr>
        <p:txBody>
          <a:bodyPr wrap="square" lIns="0" tIns="0" rIns="0" bIns="0" rtlCol="0" anchor="ctr"/>
          <a:lstStyle/>
          <a:p>
            <a:pPr indent="0" marL="0">
              <a:buNone/>
            </a:pPr>
            <a:r>
              <a:rPr lang="en-US" sz="1100" dirty="0">
                <a:solidFill>
                  <a:srgbClr val="FFFFFF"/>
                </a:solidFill>
                <a:latin typeface="Poppins" pitchFamily="34" charset="0"/>
                <a:ea typeface="Poppins" pitchFamily="34" charset="-122"/>
                <a:cs typeface="Poppins" pitchFamily="34" charset="-120"/>
              </a:rPr>
              <a:t>Action</a:t>
            </a:r>
            <a:endParaRPr lang="en-US" sz="1100" dirty="0"/>
          </a:p>
        </p:txBody>
      </p:sp>
      <p:sp>
        <p:nvSpPr>
          <p:cNvPr id="10" name="Text 7"/>
          <p:cNvSpPr/>
          <p:nvPr/>
        </p:nvSpPr>
        <p:spPr>
          <a:xfrm>
            <a:off x="731520" y="3849624"/>
            <a:ext cx="1737360" cy="457200"/>
          </a:xfrm>
          <a:prstGeom prst="rect">
            <a:avLst/>
          </a:prstGeom>
          <a:noFill/>
          <a:ln/>
        </p:spPr>
        <p:txBody>
          <a:bodyPr wrap="square" lIns="0" tIns="0" rIns="0" bIns="0" rtlCol="0" anchor="ctr"/>
          <a:lstStyle/>
          <a:p>
            <a:pPr indent="0" marL="0">
              <a:buNone/>
            </a:pPr>
            <a:r>
              <a:rPr lang="en-US" sz="1100" dirty="0">
                <a:solidFill>
                  <a:srgbClr val="FFFFFF"/>
                </a:solidFill>
                <a:latin typeface="Poppins" pitchFamily="34" charset="0"/>
                <a:ea typeface="Poppins" pitchFamily="34" charset="-122"/>
                <a:cs typeface="Poppins" pitchFamily="34" charset="-120"/>
              </a:rPr>
              <a:t>Abonné</a:t>
            </a:r>
            <a:endParaRPr lang="en-US" sz="1100" dirty="0"/>
          </a:p>
        </p:txBody>
      </p:sp>
      <p:sp>
        <p:nvSpPr>
          <p:cNvPr id="11" name="Text 8"/>
          <p:cNvSpPr/>
          <p:nvPr/>
        </p:nvSpPr>
        <p:spPr>
          <a:xfrm>
            <a:off x="731520" y="4416552"/>
            <a:ext cx="1737360" cy="457200"/>
          </a:xfrm>
          <a:prstGeom prst="rect">
            <a:avLst/>
          </a:prstGeom>
          <a:noFill/>
          <a:ln/>
        </p:spPr>
        <p:txBody>
          <a:bodyPr wrap="square" lIns="0" tIns="0" rIns="0" bIns="0" rtlCol="0" anchor="ctr"/>
          <a:lstStyle/>
          <a:p>
            <a:pPr indent="0" marL="0">
              <a:buNone/>
            </a:pPr>
            <a:r>
              <a:rPr lang="en-US" sz="1100" dirty="0">
                <a:solidFill>
                  <a:srgbClr val="FFFFFF"/>
                </a:solidFill>
                <a:latin typeface="Poppins" pitchFamily="34" charset="0"/>
                <a:ea typeface="Poppins" pitchFamily="34" charset="-122"/>
                <a:cs typeface="Poppins" pitchFamily="34" charset="-120"/>
              </a:rPr>
              <a:t>Message</a:t>
            </a:r>
            <a:endParaRPr lang="en-US" sz="1100" dirty="0"/>
          </a:p>
        </p:txBody>
      </p:sp>
      <p:sp>
        <p:nvSpPr>
          <p:cNvPr id="12" name="Text 9"/>
          <p:cNvSpPr/>
          <p:nvPr/>
        </p:nvSpPr>
        <p:spPr>
          <a:xfrm>
            <a:off x="731520" y="4983480"/>
            <a:ext cx="1737360" cy="457200"/>
          </a:xfrm>
          <a:prstGeom prst="rect">
            <a:avLst/>
          </a:prstGeom>
          <a:noFill/>
          <a:ln/>
        </p:spPr>
        <p:txBody>
          <a:bodyPr wrap="square" lIns="0" tIns="0" rIns="0" bIns="0" rtlCol="0" anchor="ctr"/>
          <a:lstStyle/>
          <a:p>
            <a:pPr indent="0" marL="0">
              <a:buNone/>
            </a:pPr>
            <a:r>
              <a:rPr lang="en-US" sz="1100" dirty="0">
                <a:solidFill>
                  <a:srgbClr val="FFFFFF"/>
                </a:solidFill>
                <a:latin typeface="Poppins" pitchFamily="34" charset="0"/>
                <a:ea typeface="Poppins" pitchFamily="34" charset="-122"/>
                <a:cs typeface="Poppins" pitchFamily="34" charset="-120"/>
              </a:rPr>
              <a:t>Testimonial</a:t>
            </a:r>
            <a:endParaRPr lang="en-US" sz="1100" dirty="0"/>
          </a:p>
        </p:txBody>
      </p:sp>
      <p:sp>
        <p:nvSpPr>
          <p:cNvPr id="13" name="Text 10"/>
          <p:cNvSpPr/>
          <p:nvPr/>
        </p:nvSpPr>
        <p:spPr>
          <a:xfrm>
            <a:off x="2743200" y="5760720"/>
            <a:ext cx="6675120" cy="594360"/>
          </a:xfrm>
          <a:prstGeom prst="rect">
            <a:avLst/>
          </a:prstGeom>
          <a:noFill/>
          <a:ln/>
        </p:spPr>
        <p:txBody>
          <a:bodyPr wrap="square" lIns="0" tIns="0" rIns="0" bIns="0" rtlCol="0" anchor="ctr"/>
          <a:lstStyle/>
          <a:p>
            <a:pPr indent="0" marL="0">
              <a:lnSpc>
                <a:spcPct val="120000"/>
              </a:lnSpc>
              <a:buNone/>
            </a:pPr>
            <a:r>
              <a:rPr lang="en-US" sz="1050" i="1" dirty="0">
                <a:solidFill>
                  <a:srgbClr val="5B6472"/>
                </a:solidFill>
                <a:latin typeface="Poppins" pitchFamily="34" charset="0"/>
                <a:ea typeface="Poppins" pitchFamily="34" charset="-122"/>
                <a:cs typeface="Poppins" pitchFamily="34" charset="-120"/>
              </a:rPr>
              <a:t>Base MongoDB — modélisation proche du relationnel pour la cohérence des données</a:t>
            </a:r>
            <a:endParaRPr lang="en-US" sz="1050" dirty="0"/>
          </a:p>
        </p:txBody>
      </p:sp>
      <p:pic>
        <p:nvPicPr>
          <p:cNvPr id="14" name="Image 1" descr="assets/logo_busola.jpg">    </p:cNvPr>
          <p:cNvPicPr>
            <a:picLocks noChangeAspect="1"/>
          </p:cNvPicPr>
          <p:nvPr/>
        </p:nvPicPr>
        <p:blipFill>
          <a:blip r:embed="rId2"/>
          <a:stretch>
            <a:fillRect/>
          </a:stretch>
        </p:blipFill>
        <p:spPr>
          <a:xfrm>
            <a:off x="11140135" y="320040"/>
            <a:ext cx="566928" cy="548640"/>
          </a:xfrm>
          <a:prstGeom prst="rect">
            <a:avLst/>
          </a:prstGeom>
        </p:spPr>
      </p:pic>
      <p:sp>
        <p:nvSpPr>
          <p:cNvPr id="15" name="Shape 11"/>
          <p:cNvSpPr/>
          <p:nvPr/>
        </p:nvSpPr>
        <p:spPr>
          <a:xfrm>
            <a:off x="11624767" y="6345936"/>
            <a:ext cx="310896" cy="310896"/>
          </a:xfrm>
          <a:prstGeom prst="ellipse">
            <a:avLst/>
          </a:prstGeom>
          <a:solidFill>
            <a:srgbClr val="2764AE"/>
          </a:solidFill>
          <a:ln/>
        </p:spPr>
      </p:sp>
      <p:sp>
        <p:nvSpPr>
          <p:cNvPr id="16" name="Text 12"/>
          <p:cNvSpPr/>
          <p:nvPr/>
        </p:nvSpPr>
        <p:spPr>
          <a:xfrm>
            <a:off x="11624767" y="6345936"/>
            <a:ext cx="310896" cy="310896"/>
          </a:xfrm>
          <a:prstGeom prst="rect">
            <a:avLst/>
          </a:prstGeom>
          <a:noFill/>
          <a:ln/>
        </p:spPr>
        <p:txBody>
          <a:bodyPr wrap="square" lIns="0" tIns="0" rIns="0" bIns="0" rtlCol="0" anchor="ctr"/>
          <a:lstStyle/>
          <a:p>
            <a:pPr algn="ctr" indent="0" marL="0">
              <a:buNone/>
            </a:pPr>
            <a:r>
              <a:rPr lang="en-US" sz="1000" b="1" dirty="0">
                <a:solidFill>
                  <a:srgbClr val="FFFFFF"/>
                </a:solidFill>
                <a:latin typeface="Poppins" pitchFamily="34" charset="0"/>
                <a:ea typeface="Poppins" pitchFamily="34" charset="-122"/>
                <a:cs typeface="Poppins" pitchFamily="34" charset="-120"/>
              </a:rPr>
              <a:t>15</a:t>
            </a:r>
            <a:endParaRPr lang="en-US" sz="1000" dirty="0"/>
          </a:p>
        </p:txBody>
      </p:sp>
      <p:sp>
        <p:nvSpPr>
          <p:cNvPr id="17" name="Text 13"/>
          <p:cNvSpPr/>
          <p:nvPr/>
        </p:nvSpPr>
        <p:spPr>
          <a:xfrm>
            <a:off x="457200" y="6437376"/>
            <a:ext cx="5486400" cy="274320"/>
          </a:xfrm>
          <a:prstGeom prst="rect">
            <a:avLst/>
          </a:prstGeom>
          <a:noFill/>
          <a:ln/>
        </p:spPr>
        <p:txBody>
          <a:bodyPr wrap="square" lIns="0" tIns="0" rIns="0" bIns="0" rtlCol="0" anchor="ctr"/>
          <a:lstStyle/>
          <a:p>
            <a:pPr indent="0" marL="0">
              <a:buNone/>
            </a:pPr>
            <a:r>
              <a:rPr lang="en-US" sz="850" dirty="0">
                <a:solidFill>
                  <a:srgbClr val="5B6472"/>
                </a:solidFill>
                <a:latin typeface="Poppins" pitchFamily="34" charset="0"/>
                <a:ea typeface="Poppins" pitchFamily="34" charset="-122"/>
                <a:cs typeface="Poppins" pitchFamily="34" charset="-120"/>
              </a:rPr>
              <a:t>PLATEFORME WEB ONG BUSOLA</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548640" y="384048"/>
            <a:ext cx="9144000" cy="320040"/>
          </a:xfrm>
          <a:prstGeom prst="rect">
            <a:avLst/>
          </a:prstGeom>
          <a:noFill/>
          <a:ln/>
        </p:spPr>
        <p:txBody>
          <a:bodyPr wrap="square" lIns="0" tIns="0" rIns="0" bIns="0" rtlCol="0" anchor="ctr"/>
          <a:lstStyle/>
          <a:p>
            <a:pPr indent="0" marL="0">
              <a:buNone/>
            </a:pPr>
            <a:r>
              <a:rPr lang="en-US" sz="1300" b="1" spc="200" kern="0" dirty="0">
                <a:solidFill>
                  <a:srgbClr val="F6A026"/>
                </a:solidFill>
                <a:latin typeface="Poppins" pitchFamily="34" charset="0"/>
                <a:ea typeface="Poppins" pitchFamily="34" charset="-122"/>
                <a:cs typeface="Poppins" pitchFamily="34" charset="-120"/>
              </a:rPr>
              <a:t>CHAPITRE 4 — MISE EN ŒUVRE</a:t>
            </a:r>
            <a:endParaRPr lang="en-US" sz="1300" dirty="0"/>
          </a:p>
        </p:txBody>
      </p:sp>
      <p:sp>
        <p:nvSpPr>
          <p:cNvPr id="3" name="Text 1"/>
          <p:cNvSpPr/>
          <p:nvPr/>
        </p:nvSpPr>
        <p:spPr>
          <a:xfrm>
            <a:off x="548640" y="658368"/>
            <a:ext cx="10607040" cy="777240"/>
          </a:xfrm>
          <a:prstGeom prst="rect">
            <a:avLst/>
          </a:prstGeom>
          <a:noFill/>
          <a:ln/>
        </p:spPr>
        <p:txBody>
          <a:bodyPr wrap="square" lIns="0" tIns="0" rIns="0" bIns="0" rtlCol="0" anchor="ctr"/>
          <a:lstStyle/>
          <a:p>
            <a:pPr indent="0" marL="0">
              <a:lnSpc>
                <a:spcPts val="3200"/>
              </a:lnSpc>
              <a:buNone/>
            </a:pPr>
            <a:r>
              <a:rPr lang="en-US" sz="3000" b="1" dirty="0">
                <a:solidFill>
                  <a:srgbClr val="133A61"/>
                </a:solidFill>
                <a:latin typeface="Montserrat" pitchFamily="34" charset="0"/>
                <a:ea typeface="Montserrat" pitchFamily="34" charset="-122"/>
                <a:cs typeface="Montserrat" pitchFamily="34" charset="-120"/>
              </a:rPr>
              <a:t>Architecture MVC &amp; outils de travail</a:t>
            </a:r>
            <a:endParaRPr lang="en-US" sz="3000" dirty="0"/>
          </a:p>
        </p:txBody>
      </p:sp>
      <p:sp>
        <p:nvSpPr>
          <p:cNvPr id="4" name="Shape 2"/>
          <p:cNvSpPr/>
          <p:nvPr/>
        </p:nvSpPr>
        <p:spPr>
          <a:xfrm>
            <a:off x="548640" y="1600200"/>
            <a:ext cx="11109960" cy="960120"/>
          </a:xfrm>
          <a:prstGeom prst="roundRect">
            <a:avLst>
              <a:gd name="adj" fmla="val 9524"/>
            </a:avLst>
          </a:prstGeom>
          <a:solidFill>
            <a:srgbClr val="133A61"/>
          </a:solidFill>
          <a:ln/>
        </p:spPr>
      </p:sp>
      <p:sp>
        <p:nvSpPr>
          <p:cNvPr id="5" name="Text 3"/>
          <p:cNvSpPr/>
          <p:nvPr/>
        </p:nvSpPr>
        <p:spPr>
          <a:xfrm>
            <a:off x="822960" y="1709928"/>
            <a:ext cx="3383280" cy="292608"/>
          </a:xfrm>
          <a:prstGeom prst="rect">
            <a:avLst/>
          </a:prstGeom>
          <a:noFill/>
          <a:ln/>
        </p:spPr>
        <p:txBody>
          <a:bodyPr wrap="square" lIns="0" tIns="0" rIns="0" bIns="0" rtlCol="0" anchor="ctr"/>
          <a:lstStyle/>
          <a:p>
            <a:pPr indent="0" marL="0">
              <a:buNone/>
            </a:pPr>
            <a:r>
              <a:rPr lang="en-US" sz="1150" b="1" dirty="0">
                <a:solidFill>
                  <a:srgbClr val="F6A026"/>
                </a:solidFill>
                <a:latin typeface="Poppins" pitchFamily="34" charset="0"/>
                <a:ea typeface="Poppins" pitchFamily="34" charset="-122"/>
                <a:cs typeface="Poppins" pitchFamily="34" charset="-120"/>
              </a:rPr>
              <a:t>Vue</a:t>
            </a:r>
            <a:endParaRPr lang="en-US" sz="1150" dirty="0"/>
          </a:p>
        </p:txBody>
      </p:sp>
      <p:sp>
        <p:nvSpPr>
          <p:cNvPr id="6" name="Text 4"/>
          <p:cNvSpPr/>
          <p:nvPr/>
        </p:nvSpPr>
        <p:spPr>
          <a:xfrm>
            <a:off x="822960" y="1993392"/>
            <a:ext cx="3383280" cy="457200"/>
          </a:xfrm>
          <a:prstGeom prst="rect">
            <a:avLst/>
          </a:prstGeom>
          <a:noFill/>
          <a:ln/>
        </p:spPr>
        <p:txBody>
          <a:bodyPr wrap="square" lIns="0" tIns="0" rIns="0" bIns="0" rtlCol="0" anchor="ctr"/>
          <a:lstStyle/>
          <a:p>
            <a:pPr indent="0" marL="0">
              <a:buNone/>
            </a:pPr>
            <a:r>
              <a:rPr lang="en-US" sz="1200" dirty="0">
                <a:solidFill>
                  <a:srgbClr val="FFFFFF"/>
                </a:solidFill>
                <a:latin typeface="Poppins" pitchFamily="34" charset="0"/>
                <a:ea typeface="Poppins" pitchFamily="34" charset="-122"/>
                <a:cs typeface="Poppins" pitchFamily="34" charset="-120"/>
              </a:rPr>
              <a:t>React (PWA)</a:t>
            </a:r>
            <a:endParaRPr lang="en-US" sz="1200" dirty="0"/>
          </a:p>
        </p:txBody>
      </p:sp>
      <p:sp>
        <p:nvSpPr>
          <p:cNvPr id="7" name="Text 5"/>
          <p:cNvSpPr/>
          <p:nvPr/>
        </p:nvSpPr>
        <p:spPr>
          <a:xfrm>
            <a:off x="4480560" y="1709928"/>
            <a:ext cx="3383280" cy="292608"/>
          </a:xfrm>
          <a:prstGeom prst="rect">
            <a:avLst/>
          </a:prstGeom>
          <a:noFill/>
          <a:ln/>
        </p:spPr>
        <p:txBody>
          <a:bodyPr wrap="square" lIns="0" tIns="0" rIns="0" bIns="0" rtlCol="0" anchor="ctr"/>
          <a:lstStyle/>
          <a:p>
            <a:pPr indent="0" marL="0">
              <a:buNone/>
            </a:pPr>
            <a:r>
              <a:rPr lang="en-US" sz="1150" b="1" dirty="0">
                <a:solidFill>
                  <a:srgbClr val="F6A026"/>
                </a:solidFill>
                <a:latin typeface="Poppins" pitchFamily="34" charset="0"/>
                <a:ea typeface="Poppins" pitchFamily="34" charset="-122"/>
                <a:cs typeface="Poppins" pitchFamily="34" charset="-120"/>
              </a:rPr>
              <a:t>Contrôleur</a:t>
            </a:r>
            <a:endParaRPr lang="en-US" sz="1150" dirty="0"/>
          </a:p>
        </p:txBody>
      </p:sp>
      <p:sp>
        <p:nvSpPr>
          <p:cNvPr id="8" name="Text 6"/>
          <p:cNvSpPr/>
          <p:nvPr/>
        </p:nvSpPr>
        <p:spPr>
          <a:xfrm>
            <a:off x="4480560" y="1993392"/>
            <a:ext cx="3383280" cy="457200"/>
          </a:xfrm>
          <a:prstGeom prst="rect">
            <a:avLst/>
          </a:prstGeom>
          <a:noFill/>
          <a:ln/>
        </p:spPr>
        <p:txBody>
          <a:bodyPr wrap="square" lIns="0" tIns="0" rIns="0" bIns="0" rtlCol="0" anchor="ctr"/>
          <a:lstStyle/>
          <a:p>
            <a:pPr indent="0" marL="0">
              <a:buNone/>
            </a:pPr>
            <a:r>
              <a:rPr lang="en-US" sz="1200" dirty="0">
                <a:solidFill>
                  <a:srgbClr val="FFFFFF"/>
                </a:solidFill>
                <a:latin typeface="Poppins" pitchFamily="34" charset="0"/>
                <a:ea typeface="Poppins" pitchFamily="34" charset="-122"/>
                <a:cs typeface="Poppins" pitchFamily="34" charset="-120"/>
              </a:rPr>
              <a:t>Routes &amp; contrôleurs Express.js</a:t>
            </a:r>
            <a:endParaRPr lang="en-US" sz="1200" dirty="0"/>
          </a:p>
        </p:txBody>
      </p:sp>
      <p:sp>
        <p:nvSpPr>
          <p:cNvPr id="9" name="Text 7"/>
          <p:cNvSpPr/>
          <p:nvPr/>
        </p:nvSpPr>
        <p:spPr>
          <a:xfrm>
            <a:off x="8138160" y="1709928"/>
            <a:ext cx="3383280" cy="292608"/>
          </a:xfrm>
          <a:prstGeom prst="rect">
            <a:avLst/>
          </a:prstGeom>
          <a:noFill/>
          <a:ln/>
        </p:spPr>
        <p:txBody>
          <a:bodyPr wrap="square" lIns="0" tIns="0" rIns="0" bIns="0" rtlCol="0" anchor="ctr"/>
          <a:lstStyle/>
          <a:p>
            <a:pPr indent="0" marL="0">
              <a:buNone/>
            </a:pPr>
            <a:r>
              <a:rPr lang="en-US" sz="1150" b="1" dirty="0">
                <a:solidFill>
                  <a:srgbClr val="F6A026"/>
                </a:solidFill>
                <a:latin typeface="Poppins" pitchFamily="34" charset="0"/>
                <a:ea typeface="Poppins" pitchFamily="34" charset="-122"/>
                <a:cs typeface="Poppins" pitchFamily="34" charset="-120"/>
              </a:rPr>
              <a:t>Modèle</a:t>
            </a:r>
            <a:endParaRPr lang="en-US" sz="1150" dirty="0"/>
          </a:p>
        </p:txBody>
      </p:sp>
      <p:sp>
        <p:nvSpPr>
          <p:cNvPr id="10" name="Text 8"/>
          <p:cNvSpPr/>
          <p:nvPr/>
        </p:nvSpPr>
        <p:spPr>
          <a:xfrm>
            <a:off x="8138160" y="1993392"/>
            <a:ext cx="3383280" cy="457200"/>
          </a:xfrm>
          <a:prstGeom prst="rect">
            <a:avLst/>
          </a:prstGeom>
          <a:noFill/>
          <a:ln/>
        </p:spPr>
        <p:txBody>
          <a:bodyPr wrap="square" lIns="0" tIns="0" rIns="0" bIns="0" rtlCol="0" anchor="ctr"/>
          <a:lstStyle/>
          <a:p>
            <a:pPr indent="0" marL="0">
              <a:buNone/>
            </a:pPr>
            <a:r>
              <a:rPr lang="en-US" sz="1200" dirty="0">
                <a:solidFill>
                  <a:srgbClr val="FFFFFF"/>
                </a:solidFill>
                <a:latin typeface="Poppins" pitchFamily="34" charset="0"/>
                <a:ea typeface="Poppins" pitchFamily="34" charset="-122"/>
                <a:cs typeface="Poppins" pitchFamily="34" charset="-120"/>
              </a:rPr>
              <a:t>Schémas MongoDB</a:t>
            </a:r>
            <a:endParaRPr lang="en-US" sz="1200" dirty="0"/>
          </a:p>
        </p:txBody>
      </p:sp>
      <p:sp>
        <p:nvSpPr>
          <p:cNvPr id="11" name="Shape 9"/>
          <p:cNvSpPr/>
          <p:nvPr/>
        </p:nvSpPr>
        <p:spPr>
          <a:xfrm>
            <a:off x="548640" y="2880360"/>
            <a:ext cx="3566160" cy="1417320"/>
          </a:xfrm>
          <a:prstGeom prst="roundRect">
            <a:avLst>
              <a:gd name="adj" fmla="val 6452"/>
            </a:avLst>
          </a:prstGeom>
          <a:solidFill>
            <a:srgbClr val="F2F6FB"/>
          </a:solidFill>
          <a:ln/>
        </p:spPr>
      </p:sp>
      <p:sp>
        <p:nvSpPr>
          <p:cNvPr id="12" name="Shape 10"/>
          <p:cNvSpPr/>
          <p:nvPr/>
        </p:nvSpPr>
        <p:spPr>
          <a:xfrm>
            <a:off x="548640" y="2880360"/>
            <a:ext cx="73152" cy="1417320"/>
          </a:xfrm>
          <a:prstGeom prst="rect">
            <a:avLst/>
          </a:prstGeom>
          <a:solidFill>
            <a:srgbClr val="2764AE"/>
          </a:solidFill>
          <a:ln/>
        </p:spPr>
      </p:sp>
      <p:sp>
        <p:nvSpPr>
          <p:cNvPr id="13" name="Text 11"/>
          <p:cNvSpPr/>
          <p:nvPr/>
        </p:nvSpPr>
        <p:spPr>
          <a:xfrm>
            <a:off x="822960" y="3044952"/>
            <a:ext cx="3108960" cy="274320"/>
          </a:xfrm>
          <a:prstGeom prst="rect">
            <a:avLst/>
          </a:prstGeom>
          <a:noFill/>
          <a:ln/>
        </p:spPr>
        <p:txBody>
          <a:bodyPr wrap="square" lIns="0" tIns="0" rIns="0" bIns="0" rtlCol="0" anchor="ctr"/>
          <a:lstStyle/>
          <a:p>
            <a:pPr indent="0" marL="0">
              <a:buNone/>
            </a:pPr>
            <a:r>
              <a:rPr lang="en-US" sz="1050" b="1" spc="100" kern="0" dirty="0">
                <a:solidFill>
                  <a:srgbClr val="2764AE"/>
                </a:solidFill>
                <a:latin typeface="Poppins" pitchFamily="34" charset="0"/>
                <a:ea typeface="Poppins" pitchFamily="34" charset="-122"/>
                <a:cs typeface="Poppins" pitchFamily="34" charset="-120"/>
              </a:rPr>
              <a:t>LANGAGES</a:t>
            </a:r>
            <a:endParaRPr lang="en-US" sz="1050" dirty="0"/>
          </a:p>
        </p:txBody>
      </p:sp>
      <p:sp>
        <p:nvSpPr>
          <p:cNvPr id="14" name="Text 12"/>
          <p:cNvSpPr/>
          <p:nvPr/>
        </p:nvSpPr>
        <p:spPr>
          <a:xfrm>
            <a:off x="822960" y="3383280"/>
            <a:ext cx="3063240" cy="822960"/>
          </a:xfrm>
          <a:prstGeom prst="rect">
            <a:avLst/>
          </a:prstGeom>
          <a:noFill/>
          <a:ln/>
        </p:spPr>
        <p:txBody>
          <a:bodyPr wrap="square" lIns="0" tIns="0" rIns="0" bIns="0" rtlCol="0" anchor="ctr"/>
          <a:lstStyle/>
          <a:p>
            <a:pPr indent="0" marL="0">
              <a:lnSpc>
                <a:spcPct val="120000"/>
              </a:lnSpc>
              <a:buNone/>
            </a:pPr>
            <a:r>
              <a:rPr lang="en-US" sz="1150" dirty="0">
                <a:solidFill>
                  <a:srgbClr val="1E2430"/>
                </a:solidFill>
                <a:latin typeface="Poppins" pitchFamily="34" charset="0"/>
                <a:ea typeface="Poppins" pitchFamily="34" charset="-122"/>
                <a:cs typeface="Poppins" pitchFamily="34" charset="-120"/>
              </a:rPr>
              <a:t>HTML5, CSS3, JavaScript, TypeScript</a:t>
            </a:r>
            <a:endParaRPr lang="en-US" sz="1150" dirty="0"/>
          </a:p>
        </p:txBody>
      </p:sp>
      <p:sp>
        <p:nvSpPr>
          <p:cNvPr id="15" name="Shape 13"/>
          <p:cNvSpPr/>
          <p:nvPr/>
        </p:nvSpPr>
        <p:spPr>
          <a:xfrm>
            <a:off x="4315968" y="2880360"/>
            <a:ext cx="3566160" cy="1417320"/>
          </a:xfrm>
          <a:prstGeom prst="roundRect">
            <a:avLst>
              <a:gd name="adj" fmla="val 6452"/>
            </a:avLst>
          </a:prstGeom>
          <a:solidFill>
            <a:srgbClr val="F2F6FB"/>
          </a:solidFill>
          <a:ln/>
        </p:spPr>
      </p:sp>
      <p:sp>
        <p:nvSpPr>
          <p:cNvPr id="16" name="Shape 14"/>
          <p:cNvSpPr/>
          <p:nvPr/>
        </p:nvSpPr>
        <p:spPr>
          <a:xfrm>
            <a:off x="4315968" y="2880360"/>
            <a:ext cx="73152" cy="1417320"/>
          </a:xfrm>
          <a:prstGeom prst="rect">
            <a:avLst/>
          </a:prstGeom>
          <a:solidFill>
            <a:srgbClr val="3CAF73"/>
          </a:solidFill>
          <a:ln/>
        </p:spPr>
      </p:sp>
      <p:sp>
        <p:nvSpPr>
          <p:cNvPr id="17" name="Text 15"/>
          <p:cNvSpPr/>
          <p:nvPr/>
        </p:nvSpPr>
        <p:spPr>
          <a:xfrm>
            <a:off x="4590288" y="3044952"/>
            <a:ext cx="3108960" cy="274320"/>
          </a:xfrm>
          <a:prstGeom prst="rect">
            <a:avLst/>
          </a:prstGeom>
          <a:noFill/>
          <a:ln/>
        </p:spPr>
        <p:txBody>
          <a:bodyPr wrap="square" lIns="0" tIns="0" rIns="0" bIns="0" rtlCol="0" anchor="ctr"/>
          <a:lstStyle/>
          <a:p>
            <a:pPr indent="0" marL="0">
              <a:buNone/>
            </a:pPr>
            <a:r>
              <a:rPr lang="en-US" sz="1050" b="1" spc="100" kern="0" dirty="0">
                <a:solidFill>
                  <a:srgbClr val="3CAF73"/>
                </a:solidFill>
                <a:latin typeface="Poppins" pitchFamily="34" charset="0"/>
                <a:ea typeface="Poppins" pitchFamily="34" charset="-122"/>
                <a:cs typeface="Poppins" pitchFamily="34" charset="-120"/>
              </a:rPr>
              <a:t>FRONTEND</a:t>
            </a:r>
            <a:endParaRPr lang="en-US" sz="1050" dirty="0"/>
          </a:p>
        </p:txBody>
      </p:sp>
      <p:sp>
        <p:nvSpPr>
          <p:cNvPr id="18" name="Text 16"/>
          <p:cNvSpPr/>
          <p:nvPr/>
        </p:nvSpPr>
        <p:spPr>
          <a:xfrm>
            <a:off x="4590288" y="3383280"/>
            <a:ext cx="3063240" cy="822960"/>
          </a:xfrm>
          <a:prstGeom prst="rect">
            <a:avLst/>
          </a:prstGeom>
          <a:noFill/>
          <a:ln/>
        </p:spPr>
        <p:txBody>
          <a:bodyPr wrap="square" lIns="0" tIns="0" rIns="0" bIns="0" rtlCol="0" anchor="ctr"/>
          <a:lstStyle/>
          <a:p>
            <a:pPr indent="0" marL="0">
              <a:lnSpc>
                <a:spcPct val="120000"/>
              </a:lnSpc>
              <a:buNone/>
            </a:pPr>
            <a:r>
              <a:rPr lang="en-US" sz="1150" dirty="0">
                <a:solidFill>
                  <a:srgbClr val="1E2430"/>
                </a:solidFill>
                <a:latin typeface="Poppins" pitchFamily="34" charset="0"/>
                <a:ea typeface="Poppins" pitchFamily="34" charset="-122"/>
                <a:cs typeface="Poppins" pitchFamily="34" charset="-120"/>
              </a:rPr>
              <a:t>React, Tailwind CSS</a:t>
            </a:r>
            <a:endParaRPr lang="en-US" sz="1150" dirty="0"/>
          </a:p>
        </p:txBody>
      </p:sp>
      <p:sp>
        <p:nvSpPr>
          <p:cNvPr id="19" name="Shape 17"/>
          <p:cNvSpPr/>
          <p:nvPr/>
        </p:nvSpPr>
        <p:spPr>
          <a:xfrm>
            <a:off x="8083296" y="2880360"/>
            <a:ext cx="3566160" cy="1417320"/>
          </a:xfrm>
          <a:prstGeom prst="roundRect">
            <a:avLst>
              <a:gd name="adj" fmla="val 6452"/>
            </a:avLst>
          </a:prstGeom>
          <a:solidFill>
            <a:srgbClr val="F2F6FB"/>
          </a:solidFill>
          <a:ln/>
        </p:spPr>
      </p:sp>
      <p:sp>
        <p:nvSpPr>
          <p:cNvPr id="20" name="Shape 18"/>
          <p:cNvSpPr/>
          <p:nvPr/>
        </p:nvSpPr>
        <p:spPr>
          <a:xfrm>
            <a:off x="8083296" y="2880360"/>
            <a:ext cx="73152" cy="1417320"/>
          </a:xfrm>
          <a:prstGeom prst="rect">
            <a:avLst/>
          </a:prstGeom>
          <a:solidFill>
            <a:srgbClr val="F6A026"/>
          </a:solidFill>
          <a:ln/>
        </p:spPr>
      </p:sp>
      <p:sp>
        <p:nvSpPr>
          <p:cNvPr id="21" name="Text 19"/>
          <p:cNvSpPr/>
          <p:nvPr/>
        </p:nvSpPr>
        <p:spPr>
          <a:xfrm>
            <a:off x="8357616" y="3044952"/>
            <a:ext cx="3108960" cy="274320"/>
          </a:xfrm>
          <a:prstGeom prst="rect">
            <a:avLst/>
          </a:prstGeom>
          <a:noFill/>
          <a:ln/>
        </p:spPr>
        <p:txBody>
          <a:bodyPr wrap="square" lIns="0" tIns="0" rIns="0" bIns="0" rtlCol="0" anchor="ctr"/>
          <a:lstStyle/>
          <a:p>
            <a:pPr indent="0" marL="0">
              <a:buNone/>
            </a:pPr>
            <a:r>
              <a:rPr lang="en-US" sz="1050" b="1" spc="100" kern="0" dirty="0">
                <a:solidFill>
                  <a:srgbClr val="F6A026"/>
                </a:solidFill>
                <a:latin typeface="Poppins" pitchFamily="34" charset="0"/>
                <a:ea typeface="Poppins" pitchFamily="34" charset="-122"/>
                <a:cs typeface="Poppins" pitchFamily="34" charset="-120"/>
              </a:rPr>
              <a:t>BACKEND</a:t>
            </a:r>
            <a:endParaRPr lang="en-US" sz="1050" dirty="0"/>
          </a:p>
        </p:txBody>
      </p:sp>
      <p:sp>
        <p:nvSpPr>
          <p:cNvPr id="22" name="Text 20"/>
          <p:cNvSpPr/>
          <p:nvPr/>
        </p:nvSpPr>
        <p:spPr>
          <a:xfrm>
            <a:off x="8357616" y="3383280"/>
            <a:ext cx="3063240" cy="822960"/>
          </a:xfrm>
          <a:prstGeom prst="rect">
            <a:avLst/>
          </a:prstGeom>
          <a:noFill/>
          <a:ln/>
        </p:spPr>
        <p:txBody>
          <a:bodyPr wrap="square" lIns="0" tIns="0" rIns="0" bIns="0" rtlCol="0" anchor="ctr"/>
          <a:lstStyle/>
          <a:p>
            <a:pPr indent="0" marL="0">
              <a:lnSpc>
                <a:spcPct val="120000"/>
              </a:lnSpc>
              <a:buNone/>
            </a:pPr>
            <a:r>
              <a:rPr lang="en-US" sz="1150" dirty="0">
                <a:solidFill>
                  <a:srgbClr val="1E2430"/>
                </a:solidFill>
                <a:latin typeface="Poppins" pitchFamily="34" charset="0"/>
                <a:ea typeface="Poppins" pitchFamily="34" charset="-122"/>
                <a:cs typeface="Poppins" pitchFamily="34" charset="-120"/>
              </a:rPr>
              <a:t>Node.js, Express.js</a:t>
            </a:r>
            <a:endParaRPr lang="en-US" sz="1150" dirty="0"/>
          </a:p>
        </p:txBody>
      </p:sp>
      <p:sp>
        <p:nvSpPr>
          <p:cNvPr id="23" name="Shape 21"/>
          <p:cNvSpPr/>
          <p:nvPr/>
        </p:nvSpPr>
        <p:spPr>
          <a:xfrm>
            <a:off x="548640" y="4480560"/>
            <a:ext cx="3566160" cy="1417320"/>
          </a:xfrm>
          <a:prstGeom prst="roundRect">
            <a:avLst>
              <a:gd name="adj" fmla="val 6452"/>
            </a:avLst>
          </a:prstGeom>
          <a:solidFill>
            <a:srgbClr val="F2F6FB"/>
          </a:solidFill>
          <a:ln/>
        </p:spPr>
      </p:sp>
      <p:sp>
        <p:nvSpPr>
          <p:cNvPr id="24" name="Shape 22"/>
          <p:cNvSpPr/>
          <p:nvPr/>
        </p:nvSpPr>
        <p:spPr>
          <a:xfrm>
            <a:off x="548640" y="4480560"/>
            <a:ext cx="73152" cy="1417320"/>
          </a:xfrm>
          <a:prstGeom prst="rect">
            <a:avLst/>
          </a:prstGeom>
          <a:solidFill>
            <a:srgbClr val="2764AE"/>
          </a:solidFill>
          <a:ln/>
        </p:spPr>
      </p:sp>
      <p:sp>
        <p:nvSpPr>
          <p:cNvPr id="25" name="Text 23"/>
          <p:cNvSpPr/>
          <p:nvPr/>
        </p:nvSpPr>
        <p:spPr>
          <a:xfrm>
            <a:off x="822960" y="4645152"/>
            <a:ext cx="3108960" cy="274320"/>
          </a:xfrm>
          <a:prstGeom prst="rect">
            <a:avLst/>
          </a:prstGeom>
          <a:noFill/>
          <a:ln/>
        </p:spPr>
        <p:txBody>
          <a:bodyPr wrap="square" lIns="0" tIns="0" rIns="0" bIns="0" rtlCol="0" anchor="ctr"/>
          <a:lstStyle/>
          <a:p>
            <a:pPr indent="0" marL="0">
              <a:buNone/>
            </a:pPr>
            <a:r>
              <a:rPr lang="en-US" sz="1050" b="1" spc="100" kern="0" dirty="0">
                <a:solidFill>
                  <a:srgbClr val="2764AE"/>
                </a:solidFill>
                <a:latin typeface="Poppins" pitchFamily="34" charset="0"/>
                <a:ea typeface="Poppins" pitchFamily="34" charset="-122"/>
                <a:cs typeface="Poppins" pitchFamily="34" charset="-120"/>
              </a:rPr>
              <a:t>BASE DE DONNÉES</a:t>
            </a:r>
            <a:endParaRPr lang="en-US" sz="1050" dirty="0"/>
          </a:p>
        </p:txBody>
      </p:sp>
      <p:sp>
        <p:nvSpPr>
          <p:cNvPr id="26" name="Text 24"/>
          <p:cNvSpPr/>
          <p:nvPr/>
        </p:nvSpPr>
        <p:spPr>
          <a:xfrm>
            <a:off x="822960" y="4983480"/>
            <a:ext cx="3063240" cy="822960"/>
          </a:xfrm>
          <a:prstGeom prst="rect">
            <a:avLst/>
          </a:prstGeom>
          <a:noFill/>
          <a:ln/>
        </p:spPr>
        <p:txBody>
          <a:bodyPr wrap="square" lIns="0" tIns="0" rIns="0" bIns="0" rtlCol="0" anchor="ctr"/>
          <a:lstStyle/>
          <a:p>
            <a:pPr indent="0" marL="0">
              <a:lnSpc>
                <a:spcPct val="120000"/>
              </a:lnSpc>
              <a:buNone/>
            </a:pPr>
            <a:r>
              <a:rPr lang="en-US" sz="1150" dirty="0">
                <a:solidFill>
                  <a:srgbClr val="1E2430"/>
                </a:solidFill>
                <a:latin typeface="Poppins" pitchFamily="34" charset="0"/>
                <a:ea typeface="Poppins" pitchFamily="34" charset="-122"/>
                <a:cs typeface="Poppins" pitchFamily="34" charset="-120"/>
              </a:rPr>
              <a:t>MongoDB</a:t>
            </a:r>
            <a:endParaRPr lang="en-US" sz="1150" dirty="0"/>
          </a:p>
        </p:txBody>
      </p:sp>
      <p:sp>
        <p:nvSpPr>
          <p:cNvPr id="27" name="Shape 25"/>
          <p:cNvSpPr/>
          <p:nvPr/>
        </p:nvSpPr>
        <p:spPr>
          <a:xfrm>
            <a:off x="4315968" y="4480560"/>
            <a:ext cx="3566160" cy="1417320"/>
          </a:xfrm>
          <a:prstGeom prst="roundRect">
            <a:avLst>
              <a:gd name="adj" fmla="val 6452"/>
            </a:avLst>
          </a:prstGeom>
          <a:solidFill>
            <a:srgbClr val="F2F6FB"/>
          </a:solidFill>
          <a:ln/>
        </p:spPr>
      </p:sp>
      <p:sp>
        <p:nvSpPr>
          <p:cNvPr id="28" name="Shape 26"/>
          <p:cNvSpPr/>
          <p:nvPr/>
        </p:nvSpPr>
        <p:spPr>
          <a:xfrm>
            <a:off x="4315968" y="4480560"/>
            <a:ext cx="73152" cy="1417320"/>
          </a:xfrm>
          <a:prstGeom prst="rect">
            <a:avLst/>
          </a:prstGeom>
          <a:solidFill>
            <a:srgbClr val="3CAF73"/>
          </a:solidFill>
          <a:ln/>
        </p:spPr>
      </p:sp>
      <p:sp>
        <p:nvSpPr>
          <p:cNvPr id="29" name="Text 27"/>
          <p:cNvSpPr/>
          <p:nvPr/>
        </p:nvSpPr>
        <p:spPr>
          <a:xfrm>
            <a:off x="4590288" y="4645152"/>
            <a:ext cx="3108960" cy="274320"/>
          </a:xfrm>
          <a:prstGeom prst="rect">
            <a:avLst/>
          </a:prstGeom>
          <a:noFill/>
          <a:ln/>
        </p:spPr>
        <p:txBody>
          <a:bodyPr wrap="square" lIns="0" tIns="0" rIns="0" bIns="0" rtlCol="0" anchor="ctr"/>
          <a:lstStyle/>
          <a:p>
            <a:pPr indent="0" marL="0">
              <a:buNone/>
            </a:pPr>
            <a:r>
              <a:rPr lang="en-US" sz="1050" b="1" spc="100" kern="0" dirty="0">
                <a:solidFill>
                  <a:srgbClr val="3CAF73"/>
                </a:solidFill>
                <a:latin typeface="Poppins" pitchFamily="34" charset="0"/>
                <a:ea typeface="Poppins" pitchFamily="34" charset="-122"/>
                <a:cs typeface="Poppins" pitchFamily="34" charset="-120"/>
              </a:rPr>
              <a:t>SÉCURITÉ</a:t>
            </a:r>
            <a:endParaRPr lang="en-US" sz="1050" dirty="0"/>
          </a:p>
        </p:txBody>
      </p:sp>
      <p:sp>
        <p:nvSpPr>
          <p:cNvPr id="30" name="Text 28"/>
          <p:cNvSpPr/>
          <p:nvPr/>
        </p:nvSpPr>
        <p:spPr>
          <a:xfrm>
            <a:off x="4590288" y="4983480"/>
            <a:ext cx="3063240" cy="822960"/>
          </a:xfrm>
          <a:prstGeom prst="rect">
            <a:avLst/>
          </a:prstGeom>
          <a:noFill/>
          <a:ln/>
        </p:spPr>
        <p:txBody>
          <a:bodyPr wrap="square" lIns="0" tIns="0" rIns="0" bIns="0" rtlCol="0" anchor="ctr"/>
          <a:lstStyle/>
          <a:p>
            <a:pPr indent="0" marL="0">
              <a:lnSpc>
                <a:spcPct val="120000"/>
              </a:lnSpc>
              <a:buNone/>
            </a:pPr>
            <a:r>
              <a:rPr lang="en-US" sz="1150" dirty="0">
                <a:solidFill>
                  <a:srgbClr val="1E2430"/>
                </a:solidFill>
                <a:latin typeface="Poppins" pitchFamily="34" charset="0"/>
                <a:ea typeface="Poppins" pitchFamily="34" charset="-122"/>
                <a:cs typeface="Poppins" pitchFamily="34" charset="-120"/>
              </a:rPr>
              <a:t>JWT, bcrypt</a:t>
            </a:r>
            <a:endParaRPr lang="en-US" sz="1150" dirty="0"/>
          </a:p>
        </p:txBody>
      </p:sp>
      <p:sp>
        <p:nvSpPr>
          <p:cNvPr id="31" name="Shape 29"/>
          <p:cNvSpPr/>
          <p:nvPr/>
        </p:nvSpPr>
        <p:spPr>
          <a:xfrm>
            <a:off x="8083296" y="4480560"/>
            <a:ext cx="3566160" cy="1417320"/>
          </a:xfrm>
          <a:prstGeom prst="roundRect">
            <a:avLst>
              <a:gd name="adj" fmla="val 6452"/>
            </a:avLst>
          </a:prstGeom>
          <a:solidFill>
            <a:srgbClr val="F2F6FB"/>
          </a:solidFill>
          <a:ln/>
        </p:spPr>
      </p:sp>
      <p:sp>
        <p:nvSpPr>
          <p:cNvPr id="32" name="Shape 30"/>
          <p:cNvSpPr/>
          <p:nvPr/>
        </p:nvSpPr>
        <p:spPr>
          <a:xfrm>
            <a:off x="8083296" y="4480560"/>
            <a:ext cx="73152" cy="1417320"/>
          </a:xfrm>
          <a:prstGeom prst="rect">
            <a:avLst/>
          </a:prstGeom>
          <a:solidFill>
            <a:srgbClr val="F6A026"/>
          </a:solidFill>
          <a:ln/>
        </p:spPr>
      </p:sp>
      <p:sp>
        <p:nvSpPr>
          <p:cNvPr id="33" name="Text 31"/>
          <p:cNvSpPr/>
          <p:nvPr/>
        </p:nvSpPr>
        <p:spPr>
          <a:xfrm>
            <a:off x="8357616" y="4645152"/>
            <a:ext cx="3108960" cy="274320"/>
          </a:xfrm>
          <a:prstGeom prst="rect">
            <a:avLst/>
          </a:prstGeom>
          <a:noFill/>
          <a:ln/>
        </p:spPr>
        <p:txBody>
          <a:bodyPr wrap="square" lIns="0" tIns="0" rIns="0" bIns="0" rtlCol="0" anchor="ctr"/>
          <a:lstStyle/>
          <a:p>
            <a:pPr indent="0" marL="0">
              <a:buNone/>
            </a:pPr>
            <a:r>
              <a:rPr lang="en-US" sz="1050" b="1" spc="100" kern="0" dirty="0">
                <a:solidFill>
                  <a:srgbClr val="F6A026"/>
                </a:solidFill>
                <a:latin typeface="Poppins" pitchFamily="34" charset="0"/>
                <a:ea typeface="Poppins" pitchFamily="34" charset="-122"/>
                <a:cs typeface="Poppins" pitchFamily="34" charset="-120"/>
              </a:rPr>
              <a:t>OUTILS DEV</a:t>
            </a:r>
            <a:endParaRPr lang="en-US" sz="1050" dirty="0"/>
          </a:p>
        </p:txBody>
      </p:sp>
      <p:sp>
        <p:nvSpPr>
          <p:cNvPr id="34" name="Text 32"/>
          <p:cNvSpPr/>
          <p:nvPr/>
        </p:nvSpPr>
        <p:spPr>
          <a:xfrm>
            <a:off x="8357616" y="4983480"/>
            <a:ext cx="3063240" cy="822960"/>
          </a:xfrm>
          <a:prstGeom prst="rect">
            <a:avLst/>
          </a:prstGeom>
          <a:noFill/>
          <a:ln/>
        </p:spPr>
        <p:txBody>
          <a:bodyPr wrap="square" lIns="0" tIns="0" rIns="0" bIns="0" rtlCol="0" anchor="ctr"/>
          <a:lstStyle/>
          <a:p>
            <a:pPr indent="0" marL="0">
              <a:lnSpc>
                <a:spcPct val="120000"/>
              </a:lnSpc>
              <a:buNone/>
            </a:pPr>
            <a:r>
              <a:rPr lang="en-US" sz="1150" dirty="0">
                <a:solidFill>
                  <a:srgbClr val="1E2430"/>
                </a:solidFill>
                <a:latin typeface="Poppins" pitchFamily="34" charset="0"/>
                <a:ea typeface="Poppins" pitchFamily="34" charset="-122"/>
                <a:cs typeface="Poppins" pitchFamily="34" charset="-120"/>
              </a:rPr>
              <a:t>VS Code, Git &amp; GitHub, Postman, Nodemailer</a:t>
            </a:r>
            <a:endParaRPr lang="en-US" sz="1150" dirty="0"/>
          </a:p>
        </p:txBody>
      </p:sp>
      <p:pic>
        <p:nvPicPr>
          <p:cNvPr id="35" name="Image 0" descr="assets/logo_busola.jpg">    </p:cNvPr>
          <p:cNvPicPr>
            <a:picLocks noChangeAspect="1"/>
          </p:cNvPicPr>
          <p:nvPr/>
        </p:nvPicPr>
        <p:blipFill>
          <a:blip r:embed="rId1"/>
          <a:stretch>
            <a:fillRect/>
          </a:stretch>
        </p:blipFill>
        <p:spPr>
          <a:xfrm>
            <a:off x="11140135" y="320040"/>
            <a:ext cx="566928" cy="548640"/>
          </a:xfrm>
          <a:prstGeom prst="rect">
            <a:avLst/>
          </a:prstGeom>
        </p:spPr>
      </p:pic>
      <p:sp>
        <p:nvSpPr>
          <p:cNvPr id="36" name="Shape 33"/>
          <p:cNvSpPr/>
          <p:nvPr/>
        </p:nvSpPr>
        <p:spPr>
          <a:xfrm>
            <a:off x="11624767" y="6345936"/>
            <a:ext cx="310896" cy="310896"/>
          </a:xfrm>
          <a:prstGeom prst="ellipse">
            <a:avLst/>
          </a:prstGeom>
          <a:solidFill>
            <a:srgbClr val="2764AE"/>
          </a:solidFill>
          <a:ln/>
        </p:spPr>
      </p:sp>
      <p:sp>
        <p:nvSpPr>
          <p:cNvPr id="37" name="Text 34"/>
          <p:cNvSpPr/>
          <p:nvPr/>
        </p:nvSpPr>
        <p:spPr>
          <a:xfrm>
            <a:off x="11624767" y="6345936"/>
            <a:ext cx="310896" cy="310896"/>
          </a:xfrm>
          <a:prstGeom prst="rect">
            <a:avLst/>
          </a:prstGeom>
          <a:noFill/>
          <a:ln/>
        </p:spPr>
        <p:txBody>
          <a:bodyPr wrap="square" lIns="0" tIns="0" rIns="0" bIns="0" rtlCol="0" anchor="ctr"/>
          <a:lstStyle/>
          <a:p>
            <a:pPr algn="ctr" indent="0" marL="0">
              <a:buNone/>
            </a:pPr>
            <a:r>
              <a:rPr lang="en-US" sz="1000" b="1" dirty="0">
                <a:solidFill>
                  <a:srgbClr val="FFFFFF"/>
                </a:solidFill>
                <a:latin typeface="Poppins" pitchFamily="34" charset="0"/>
                <a:ea typeface="Poppins" pitchFamily="34" charset="-122"/>
                <a:cs typeface="Poppins" pitchFamily="34" charset="-120"/>
              </a:rPr>
              <a:t>16</a:t>
            </a:r>
            <a:endParaRPr lang="en-US" sz="1000" dirty="0"/>
          </a:p>
        </p:txBody>
      </p:sp>
      <p:sp>
        <p:nvSpPr>
          <p:cNvPr id="38" name="Text 35"/>
          <p:cNvSpPr/>
          <p:nvPr/>
        </p:nvSpPr>
        <p:spPr>
          <a:xfrm>
            <a:off x="457200" y="6437376"/>
            <a:ext cx="5486400" cy="274320"/>
          </a:xfrm>
          <a:prstGeom prst="rect">
            <a:avLst/>
          </a:prstGeom>
          <a:noFill/>
          <a:ln/>
        </p:spPr>
        <p:txBody>
          <a:bodyPr wrap="square" lIns="0" tIns="0" rIns="0" bIns="0" rtlCol="0" anchor="ctr"/>
          <a:lstStyle/>
          <a:p>
            <a:pPr indent="0" marL="0">
              <a:buNone/>
            </a:pPr>
            <a:r>
              <a:rPr lang="en-US" sz="850" dirty="0">
                <a:solidFill>
                  <a:srgbClr val="5B6472"/>
                </a:solidFill>
                <a:latin typeface="Poppins" pitchFamily="34" charset="0"/>
                <a:ea typeface="Poppins" pitchFamily="34" charset="-122"/>
                <a:cs typeface="Poppins" pitchFamily="34" charset="-120"/>
              </a:rPr>
              <a:t>PLATEFORME WEB ONG BUSOLA</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133A61"/>
        </a:solidFill>
      </p:bgPr>
    </p:bg>
    <p:spTree>
      <p:nvGrpSpPr>
        <p:cNvPr id="1" name=""/>
        <p:cNvGrpSpPr/>
        <p:nvPr/>
      </p:nvGrpSpPr>
      <p:grpSpPr>
        <a:xfrm>
          <a:off x="0" y="0"/>
          <a:ext cx="0" cy="0"/>
          <a:chOff x="0" y="0"/>
          <a:chExt cx="0" cy="0"/>
        </a:xfrm>
      </p:grpSpPr>
      <p:sp>
        <p:nvSpPr>
          <p:cNvPr id="2" name="Shape 0"/>
          <p:cNvSpPr/>
          <p:nvPr/>
        </p:nvSpPr>
        <p:spPr>
          <a:xfrm>
            <a:off x="9448495" y="-1828800"/>
            <a:ext cx="5486400" cy="5486400"/>
          </a:xfrm>
          <a:prstGeom prst="ellipse">
            <a:avLst/>
          </a:prstGeom>
          <a:solidFill>
            <a:srgbClr val="2764AE">
              <a:alpha val="45000"/>
            </a:srgbClr>
          </a:solidFill>
          <a:ln/>
        </p:spPr>
      </p:sp>
      <p:sp>
        <p:nvSpPr>
          <p:cNvPr id="3" name="Shape 1"/>
          <p:cNvSpPr/>
          <p:nvPr/>
        </p:nvSpPr>
        <p:spPr>
          <a:xfrm>
            <a:off x="-1828800" y="4663440"/>
            <a:ext cx="4572000" cy="4572000"/>
          </a:xfrm>
          <a:prstGeom prst="ellipse">
            <a:avLst/>
          </a:prstGeom>
          <a:solidFill>
            <a:srgbClr val="3CAF73">
              <a:alpha val="30000"/>
            </a:srgbClr>
          </a:solidFill>
          <a:ln/>
        </p:spPr>
      </p:sp>
      <p:sp>
        <p:nvSpPr>
          <p:cNvPr id="4" name="Text 2"/>
          <p:cNvSpPr/>
          <p:nvPr/>
        </p:nvSpPr>
        <p:spPr>
          <a:xfrm>
            <a:off x="822960" y="2331720"/>
            <a:ext cx="2743200" cy="1463040"/>
          </a:xfrm>
          <a:prstGeom prst="rect">
            <a:avLst/>
          </a:prstGeom>
          <a:noFill/>
          <a:ln/>
        </p:spPr>
        <p:txBody>
          <a:bodyPr wrap="square" lIns="0" tIns="0" rIns="0" bIns="0" rtlCol="0" anchor="ctr"/>
          <a:lstStyle/>
          <a:p>
            <a:pPr indent="0" marL="0">
              <a:buNone/>
            </a:pPr>
            <a:r>
              <a:rPr lang="en-US" sz="9000" b="1" dirty="0">
                <a:solidFill>
                  <a:srgbClr val="2E5F94"/>
                </a:solidFill>
                <a:latin typeface="Montserrat" pitchFamily="34" charset="0"/>
                <a:ea typeface="Montserrat" pitchFamily="34" charset="-122"/>
                <a:cs typeface="Montserrat" pitchFamily="34" charset="-120"/>
              </a:rPr>
              <a:t>IV</a:t>
            </a:r>
            <a:endParaRPr lang="en-US" sz="9000" dirty="0"/>
          </a:p>
        </p:txBody>
      </p:sp>
      <p:sp>
        <p:nvSpPr>
          <p:cNvPr id="5" name="Shape 3"/>
          <p:cNvSpPr/>
          <p:nvPr/>
        </p:nvSpPr>
        <p:spPr>
          <a:xfrm>
            <a:off x="3246120" y="2606040"/>
            <a:ext cx="54864" cy="1737360"/>
          </a:xfrm>
          <a:prstGeom prst="rect">
            <a:avLst/>
          </a:prstGeom>
          <a:solidFill>
            <a:srgbClr val="F6A026"/>
          </a:solidFill>
          <a:ln/>
        </p:spPr>
      </p:sp>
      <p:sp>
        <p:nvSpPr>
          <p:cNvPr id="6" name="Text 4"/>
          <p:cNvSpPr/>
          <p:nvPr/>
        </p:nvSpPr>
        <p:spPr>
          <a:xfrm>
            <a:off x="3566160" y="2697480"/>
            <a:ext cx="7863840" cy="1005840"/>
          </a:xfrm>
          <a:prstGeom prst="rect">
            <a:avLst/>
          </a:prstGeom>
          <a:noFill/>
          <a:ln/>
        </p:spPr>
        <p:txBody>
          <a:bodyPr wrap="square" lIns="0" tIns="0" rIns="0" bIns="0" rtlCol="0" anchor="ctr"/>
          <a:lstStyle/>
          <a:p>
            <a:pPr indent="0" marL="0">
              <a:lnSpc>
                <a:spcPct val="110000"/>
              </a:lnSpc>
              <a:buNone/>
            </a:pPr>
            <a:r>
              <a:rPr lang="en-US" sz="3200" b="1" dirty="0">
                <a:solidFill>
                  <a:srgbClr val="FFFFFF"/>
                </a:solidFill>
                <a:latin typeface="Montserrat" pitchFamily="34" charset="0"/>
                <a:ea typeface="Montserrat" pitchFamily="34" charset="-122"/>
                <a:cs typeface="Montserrat" pitchFamily="34" charset="-120"/>
              </a:rPr>
              <a:t>Présentation de l'application</a:t>
            </a:r>
            <a:endParaRPr lang="en-US" sz="3200" dirty="0"/>
          </a:p>
        </p:txBody>
      </p:sp>
      <p:sp>
        <p:nvSpPr>
          <p:cNvPr id="7" name="Text 5"/>
          <p:cNvSpPr/>
          <p:nvPr/>
        </p:nvSpPr>
        <p:spPr>
          <a:xfrm>
            <a:off x="3566160" y="3566160"/>
            <a:ext cx="7863840" cy="640080"/>
          </a:xfrm>
          <a:prstGeom prst="rect">
            <a:avLst/>
          </a:prstGeom>
          <a:noFill/>
          <a:ln/>
        </p:spPr>
        <p:txBody>
          <a:bodyPr wrap="square" lIns="0" tIns="0" rIns="0" bIns="0" rtlCol="0" anchor="ctr"/>
          <a:lstStyle/>
          <a:p>
            <a:pPr indent="0" marL="0">
              <a:buNone/>
            </a:pPr>
            <a:r>
              <a:rPr lang="en-US" sz="1400" i="1" dirty="0">
                <a:solidFill>
                  <a:srgbClr val="C7D6E8"/>
                </a:solidFill>
                <a:latin typeface="Poppins" pitchFamily="34" charset="0"/>
                <a:ea typeface="Poppins" pitchFamily="34" charset="-122"/>
                <a:cs typeface="Poppins" pitchFamily="34" charset="-120"/>
              </a:rPr>
              <a:t>Interface publique, espace administration et démonstration</a:t>
            </a:r>
            <a:endParaRPr lang="en-US" sz="14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548640" y="384048"/>
            <a:ext cx="9144000" cy="320040"/>
          </a:xfrm>
          <a:prstGeom prst="rect">
            <a:avLst/>
          </a:prstGeom>
          <a:noFill/>
          <a:ln/>
        </p:spPr>
        <p:txBody>
          <a:bodyPr wrap="square" lIns="0" tIns="0" rIns="0" bIns="0" rtlCol="0" anchor="ctr"/>
          <a:lstStyle/>
          <a:p>
            <a:pPr indent="0" marL="0">
              <a:buNone/>
            </a:pPr>
            <a:r>
              <a:rPr lang="en-US" sz="1300" b="1" spc="200" kern="0" dirty="0">
                <a:solidFill>
                  <a:srgbClr val="F6A026"/>
                </a:solidFill>
                <a:latin typeface="Poppins" pitchFamily="34" charset="0"/>
                <a:ea typeface="Poppins" pitchFamily="34" charset="-122"/>
                <a:cs typeface="Poppins" pitchFamily="34" charset="-120"/>
              </a:rPr>
              <a:t>CHAPITRE 5 — L'APPLICATION</a:t>
            </a:r>
            <a:endParaRPr lang="en-US" sz="1300" dirty="0"/>
          </a:p>
        </p:txBody>
      </p:sp>
      <p:sp>
        <p:nvSpPr>
          <p:cNvPr id="3" name="Text 1"/>
          <p:cNvSpPr/>
          <p:nvPr/>
        </p:nvSpPr>
        <p:spPr>
          <a:xfrm>
            <a:off x="548640" y="658368"/>
            <a:ext cx="10607040" cy="777240"/>
          </a:xfrm>
          <a:prstGeom prst="rect">
            <a:avLst/>
          </a:prstGeom>
          <a:noFill/>
          <a:ln/>
        </p:spPr>
        <p:txBody>
          <a:bodyPr wrap="square" lIns="0" tIns="0" rIns="0" bIns="0" rtlCol="0" anchor="ctr"/>
          <a:lstStyle/>
          <a:p>
            <a:pPr indent="0" marL="0">
              <a:lnSpc>
                <a:spcPts val="3200"/>
              </a:lnSpc>
              <a:buNone/>
            </a:pPr>
            <a:r>
              <a:rPr lang="en-US" sz="3000" b="1" dirty="0">
                <a:solidFill>
                  <a:srgbClr val="133A61"/>
                </a:solidFill>
                <a:latin typeface="Montserrat" pitchFamily="34" charset="0"/>
                <a:ea typeface="Montserrat" pitchFamily="34" charset="-122"/>
                <a:cs typeface="Montserrat" pitchFamily="34" charset="-120"/>
              </a:rPr>
              <a:t>Interface publique — Espace visiteurs</a:t>
            </a:r>
            <a:endParaRPr lang="en-US" sz="3000" dirty="0"/>
          </a:p>
        </p:txBody>
      </p:sp>
      <p:sp>
        <p:nvSpPr>
          <p:cNvPr id="4" name="Shape 2"/>
          <p:cNvSpPr/>
          <p:nvPr/>
        </p:nvSpPr>
        <p:spPr>
          <a:xfrm>
            <a:off x="502920" y="1645920"/>
            <a:ext cx="5440680" cy="2240280"/>
          </a:xfrm>
          <a:prstGeom prst="roundRect">
            <a:avLst>
              <a:gd name="adj" fmla="val 3265"/>
            </a:avLst>
          </a:prstGeom>
          <a:solidFill>
            <a:srgbClr val="F2F6FB"/>
          </a:solidFill>
          <a:ln/>
        </p:spPr>
      </p:sp>
      <p:pic>
        <p:nvPicPr>
          <p:cNvPr id="5" name="Image 0" descr="assets/screenshot_home1.png">    </p:cNvPr>
          <p:cNvPicPr>
            <a:picLocks noChangeAspect="1"/>
          </p:cNvPicPr>
          <p:nvPr/>
        </p:nvPicPr>
        <p:blipFill>
          <a:blip r:embed="rId1"/>
          <a:srcRect l="0" r="0" t="0" b="0"/>
          <a:stretch/>
        </p:blipFill>
        <p:spPr>
          <a:xfrm>
            <a:off x="548640" y="1691640"/>
            <a:ext cx="5349240" cy="1783080"/>
          </a:xfrm>
          <a:prstGeom prst="rect">
            <a:avLst/>
          </a:prstGeom>
        </p:spPr>
      </p:pic>
      <p:sp>
        <p:nvSpPr>
          <p:cNvPr id="6" name="Text 3"/>
          <p:cNvSpPr/>
          <p:nvPr/>
        </p:nvSpPr>
        <p:spPr>
          <a:xfrm>
            <a:off x="548640" y="3511296"/>
            <a:ext cx="5349240" cy="320040"/>
          </a:xfrm>
          <a:prstGeom prst="rect">
            <a:avLst/>
          </a:prstGeom>
          <a:noFill/>
          <a:ln/>
        </p:spPr>
        <p:txBody>
          <a:bodyPr wrap="square" lIns="0" tIns="0" rIns="0" bIns="0" rtlCol="0" anchor="ctr"/>
          <a:lstStyle/>
          <a:p>
            <a:pPr indent="0" marL="0">
              <a:buNone/>
            </a:pPr>
            <a:r>
              <a:rPr lang="en-US" sz="1100" b="1" dirty="0">
                <a:solidFill>
                  <a:srgbClr val="133A61"/>
                </a:solidFill>
                <a:latin typeface="Poppins" pitchFamily="34" charset="0"/>
                <a:ea typeface="Poppins" pitchFamily="34" charset="-122"/>
                <a:cs typeface="Poppins" pitchFamily="34" charset="-120"/>
              </a:rPr>
              <a:t>Page d'accueil — Hero &amp; piliers</a:t>
            </a:r>
            <a:endParaRPr lang="en-US" sz="1100" dirty="0"/>
          </a:p>
        </p:txBody>
      </p:sp>
      <p:sp>
        <p:nvSpPr>
          <p:cNvPr id="7" name="Shape 4"/>
          <p:cNvSpPr/>
          <p:nvPr/>
        </p:nvSpPr>
        <p:spPr>
          <a:xfrm>
            <a:off x="6126480" y="1645920"/>
            <a:ext cx="5440680" cy="2240280"/>
          </a:xfrm>
          <a:prstGeom prst="roundRect">
            <a:avLst>
              <a:gd name="adj" fmla="val 3265"/>
            </a:avLst>
          </a:prstGeom>
          <a:solidFill>
            <a:srgbClr val="F2F6FB"/>
          </a:solidFill>
          <a:ln/>
        </p:spPr>
      </p:sp>
      <p:pic>
        <p:nvPicPr>
          <p:cNvPr id="8" name="Image 1" descr="assets/screenshot_home2.png">    </p:cNvPr>
          <p:cNvPicPr>
            <a:picLocks noChangeAspect="1"/>
          </p:cNvPicPr>
          <p:nvPr/>
        </p:nvPicPr>
        <p:blipFill>
          <a:blip r:embed="rId2"/>
          <a:srcRect l="0" r="0" t="0" b="0"/>
          <a:stretch/>
        </p:blipFill>
        <p:spPr>
          <a:xfrm>
            <a:off x="6172200" y="1691640"/>
            <a:ext cx="5349240" cy="1783080"/>
          </a:xfrm>
          <a:prstGeom prst="rect">
            <a:avLst/>
          </a:prstGeom>
        </p:spPr>
      </p:pic>
      <p:sp>
        <p:nvSpPr>
          <p:cNvPr id="9" name="Text 5"/>
          <p:cNvSpPr/>
          <p:nvPr/>
        </p:nvSpPr>
        <p:spPr>
          <a:xfrm>
            <a:off x="6172200" y="3511296"/>
            <a:ext cx="5349240" cy="320040"/>
          </a:xfrm>
          <a:prstGeom prst="rect">
            <a:avLst/>
          </a:prstGeom>
          <a:noFill/>
          <a:ln/>
        </p:spPr>
        <p:txBody>
          <a:bodyPr wrap="square" lIns="0" tIns="0" rIns="0" bIns="0" rtlCol="0" anchor="ctr"/>
          <a:lstStyle/>
          <a:p>
            <a:pPr indent="0" marL="0">
              <a:buNone/>
            </a:pPr>
            <a:r>
              <a:rPr lang="en-US" sz="1100" b="1" dirty="0">
                <a:solidFill>
                  <a:srgbClr val="133A61"/>
                </a:solidFill>
                <a:latin typeface="Poppins" pitchFamily="34" charset="0"/>
                <a:ea typeface="Poppins" pitchFamily="34" charset="-122"/>
                <a:cs typeface="Poppins" pitchFamily="34" charset="-120"/>
              </a:rPr>
              <a:t>Actualités &amp; actions terrain</a:t>
            </a:r>
            <a:endParaRPr lang="en-US" sz="1100" dirty="0"/>
          </a:p>
        </p:txBody>
      </p:sp>
      <p:sp>
        <p:nvSpPr>
          <p:cNvPr id="10" name="Shape 6"/>
          <p:cNvSpPr/>
          <p:nvPr/>
        </p:nvSpPr>
        <p:spPr>
          <a:xfrm>
            <a:off x="502920" y="4050792"/>
            <a:ext cx="5440680" cy="2240280"/>
          </a:xfrm>
          <a:prstGeom prst="roundRect">
            <a:avLst>
              <a:gd name="adj" fmla="val 3265"/>
            </a:avLst>
          </a:prstGeom>
          <a:solidFill>
            <a:srgbClr val="F2F6FB"/>
          </a:solidFill>
          <a:ln/>
        </p:spPr>
      </p:sp>
      <p:pic>
        <p:nvPicPr>
          <p:cNvPr id="11" name="Image 2" descr="assets/screenshot_detail1.png">    </p:cNvPr>
          <p:cNvPicPr>
            <a:picLocks noChangeAspect="1"/>
          </p:cNvPicPr>
          <p:nvPr/>
        </p:nvPicPr>
        <p:blipFill>
          <a:blip r:embed="rId3"/>
          <a:srcRect l="0" r="0" t="0" b="0"/>
          <a:stretch/>
        </p:blipFill>
        <p:spPr>
          <a:xfrm>
            <a:off x="548640" y="4096512"/>
            <a:ext cx="5349240" cy="1783080"/>
          </a:xfrm>
          <a:prstGeom prst="rect">
            <a:avLst/>
          </a:prstGeom>
        </p:spPr>
      </p:pic>
      <p:sp>
        <p:nvSpPr>
          <p:cNvPr id="12" name="Text 7"/>
          <p:cNvSpPr/>
          <p:nvPr/>
        </p:nvSpPr>
        <p:spPr>
          <a:xfrm>
            <a:off x="548640" y="5916168"/>
            <a:ext cx="5349240" cy="320040"/>
          </a:xfrm>
          <a:prstGeom prst="rect">
            <a:avLst/>
          </a:prstGeom>
          <a:noFill/>
          <a:ln/>
        </p:spPr>
        <p:txBody>
          <a:bodyPr wrap="square" lIns="0" tIns="0" rIns="0" bIns="0" rtlCol="0" anchor="ctr"/>
          <a:lstStyle/>
          <a:p>
            <a:pPr indent="0" marL="0">
              <a:buNone/>
            </a:pPr>
            <a:r>
              <a:rPr lang="en-US" sz="1100" b="1" dirty="0">
                <a:solidFill>
                  <a:srgbClr val="133A61"/>
                </a:solidFill>
                <a:latin typeface="Poppins" pitchFamily="34" charset="0"/>
                <a:ea typeface="Poppins" pitchFamily="34" charset="-122"/>
                <a:cs typeface="Poppins" pitchFamily="34" charset="-120"/>
              </a:rPr>
              <a:t>Détail d'une action</a:t>
            </a:r>
            <a:endParaRPr lang="en-US" sz="1100" dirty="0"/>
          </a:p>
        </p:txBody>
      </p:sp>
      <p:sp>
        <p:nvSpPr>
          <p:cNvPr id="13" name="Shape 8"/>
          <p:cNvSpPr/>
          <p:nvPr/>
        </p:nvSpPr>
        <p:spPr>
          <a:xfrm>
            <a:off x="6126480" y="4050792"/>
            <a:ext cx="5440680" cy="2240280"/>
          </a:xfrm>
          <a:prstGeom prst="roundRect">
            <a:avLst>
              <a:gd name="adj" fmla="val 3265"/>
            </a:avLst>
          </a:prstGeom>
          <a:solidFill>
            <a:srgbClr val="F2F6FB"/>
          </a:solidFill>
          <a:ln/>
        </p:spPr>
      </p:sp>
      <p:pic>
        <p:nvPicPr>
          <p:cNvPr id="14" name="Image 3" descr="assets/screenshot_contact.png">    </p:cNvPr>
          <p:cNvPicPr>
            <a:picLocks noChangeAspect="1"/>
          </p:cNvPicPr>
          <p:nvPr/>
        </p:nvPicPr>
        <p:blipFill>
          <a:blip r:embed="rId4"/>
          <a:srcRect l="0" r="0" t="0" b="0"/>
          <a:stretch/>
        </p:blipFill>
        <p:spPr>
          <a:xfrm>
            <a:off x="6172200" y="4096512"/>
            <a:ext cx="5349240" cy="1783080"/>
          </a:xfrm>
          <a:prstGeom prst="rect">
            <a:avLst/>
          </a:prstGeom>
        </p:spPr>
      </p:pic>
      <p:sp>
        <p:nvSpPr>
          <p:cNvPr id="15" name="Text 9"/>
          <p:cNvSpPr/>
          <p:nvPr/>
        </p:nvSpPr>
        <p:spPr>
          <a:xfrm>
            <a:off x="6172200" y="5916168"/>
            <a:ext cx="5349240" cy="320040"/>
          </a:xfrm>
          <a:prstGeom prst="rect">
            <a:avLst/>
          </a:prstGeom>
          <a:noFill/>
          <a:ln/>
        </p:spPr>
        <p:txBody>
          <a:bodyPr wrap="square" lIns="0" tIns="0" rIns="0" bIns="0" rtlCol="0" anchor="ctr"/>
          <a:lstStyle/>
          <a:p>
            <a:pPr indent="0" marL="0">
              <a:buNone/>
            </a:pPr>
            <a:r>
              <a:rPr lang="en-US" sz="1100" b="1" dirty="0">
                <a:solidFill>
                  <a:srgbClr val="133A61"/>
                </a:solidFill>
                <a:latin typeface="Poppins" pitchFamily="34" charset="0"/>
                <a:ea typeface="Poppins" pitchFamily="34" charset="-122"/>
                <a:cs typeface="Poppins" pitchFamily="34" charset="-120"/>
              </a:rPr>
              <a:t>Formulaire de contact</a:t>
            </a:r>
            <a:endParaRPr lang="en-US" sz="1100" dirty="0"/>
          </a:p>
        </p:txBody>
      </p:sp>
      <p:pic>
        <p:nvPicPr>
          <p:cNvPr id="16" name="Image 4" descr="assets/logo_busola.jpg">    </p:cNvPr>
          <p:cNvPicPr>
            <a:picLocks noChangeAspect="1"/>
          </p:cNvPicPr>
          <p:nvPr/>
        </p:nvPicPr>
        <p:blipFill>
          <a:blip r:embed="rId5"/>
          <a:stretch>
            <a:fillRect/>
          </a:stretch>
        </p:blipFill>
        <p:spPr>
          <a:xfrm>
            <a:off x="11140135" y="320040"/>
            <a:ext cx="566928" cy="548640"/>
          </a:xfrm>
          <a:prstGeom prst="rect">
            <a:avLst/>
          </a:prstGeom>
        </p:spPr>
      </p:pic>
      <p:sp>
        <p:nvSpPr>
          <p:cNvPr id="17" name="Shape 10"/>
          <p:cNvSpPr/>
          <p:nvPr/>
        </p:nvSpPr>
        <p:spPr>
          <a:xfrm>
            <a:off x="11624767" y="6345936"/>
            <a:ext cx="310896" cy="310896"/>
          </a:xfrm>
          <a:prstGeom prst="ellipse">
            <a:avLst/>
          </a:prstGeom>
          <a:solidFill>
            <a:srgbClr val="2764AE"/>
          </a:solidFill>
          <a:ln/>
        </p:spPr>
      </p:sp>
      <p:sp>
        <p:nvSpPr>
          <p:cNvPr id="18" name="Text 11"/>
          <p:cNvSpPr/>
          <p:nvPr/>
        </p:nvSpPr>
        <p:spPr>
          <a:xfrm>
            <a:off x="11624767" y="6345936"/>
            <a:ext cx="310896" cy="310896"/>
          </a:xfrm>
          <a:prstGeom prst="rect">
            <a:avLst/>
          </a:prstGeom>
          <a:noFill/>
          <a:ln/>
        </p:spPr>
        <p:txBody>
          <a:bodyPr wrap="square" lIns="0" tIns="0" rIns="0" bIns="0" rtlCol="0" anchor="ctr"/>
          <a:lstStyle/>
          <a:p>
            <a:pPr algn="ctr" indent="0" marL="0">
              <a:buNone/>
            </a:pPr>
            <a:r>
              <a:rPr lang="en-US" sz="1000" b="1" dirty="0">
                <a:solidFill>
                  <a:srgbClr val="FFFFFF"/>
                </a:solidFill>
                <a:latin typeface="Poppins" pitchFamily="34" charset="0"/>
                <a:ea typeface="Poppins" pitchFamily="34" charset="-122"/>
                <a:cs typeface="Poppins" pitchFamily="34" charset="-120"/>
              </a:rPr>
              <a:t>18</a:t>
            </a:r>
            <a:endParaRPr lang="en-US" sz="1000" dirty="0"/>
          </a:p>
        </p:txBody>
      </p:sp>
      <p:sp>
        <p:nvSpPr>
          <p:cNvPr id="19" name="Text 12"/>
          <p:cNvSpPr/>
          <p:nvPr/>
        </p:nvSpPr>
        <p:spPr>
          <a:xfrm>
            <a:off x="457200" y="6437376"/>
            <a:ext cx="5486400" cy="274320"/>
          </a:xfrm>
          <a:prstGeom prst="rect">
            <a:avLst/>
          </a:prstGeom>
          <a:noFill/>
          <a:ln/>
        </p:spPr>
        <p:txBody>
          <a:bodyPr wrap="square" lIns="0" tIns="0" rIns="0" bIns="0" rtlCol="0" anchor="ctr"/>
          <a:lstStyle/>
          <a:p>
            <a:pPr indent="0" marL="0">
              <a:buNone/>
            </a:pPr>
            <a:r>
              <a:rPr lang="en-US" sz="850" dirty="0">
                <a:solidFill>
                  <a:srgbClr val="5B6472"/>
                </a:solidFill>
                <a:latin typeface="Poppins" pitchFamily="34" charset="0"/>
                <a:ea typeface="Poppins" pitchFamily="34" charset="-122"/>
                <a:cs typeface="Poppins" pitchFamily="34" charset="-120"/>
              </a:rPr>
              <a:t>PLATEFORME WEB ONG BUSOLA</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548640" y="384048"/>
            <a:ext cx="9144000" cy="320040"/>
          </a:xfrm>
          <a:prstGeom prst="rect">
            <a:avLst/>
          </a:prstGeom>
          <a:noFill/>
          <a:ln/>
        </p:spPr>
        <p:txBody>
          <a:bodyPr wrap="square" lIns="0" tIns="0" rIns="0" bIns="0" rtlCol="0" anchor="ctr"/>
          <a:lstStyle/>
          <a:p>
            <a:pPr indent="0" marL="0">
              <a:buNone/>
            </a:pPr>
            <a:r>
              <a:rPr lang="en-US" sz="1300" b="1" spc="200" kern="0" dirty="0">
                <a:solidFill>
                  <a:srgbClr val="F6A026"/>
                </a:solidFill>
                <a:latin typeface="Poppins" pitchFamily="34" charset="0"/>
                <a:ea typeface="Poppins" pitchFamily="34" charset="-122"/>
                <a:cs typeface="Poppins" pitchFamily="34" charset="-120"/>
              </a:rPr>
              <a:t>CHAPITRE 5 — L'APPLICATION</a:t>
            </a:r>
            <a:endParaRPr lang="en-US" sz="1300" dirty="0"/>
          </a:p>
        </p:txBody>
      </p:sp>
      <p:sp>
        <p:nvSpPr>
          <p:cNvPr id="3" name="Text 1"/>
          <p:cNvSpPr/>
          <p:nvPr/>
        </p:nvSpPr>
        <p:spPr>
          <a:xfrm>
            <a:off x="548640" y="658368"/>
            <a:ext cx="10607040" cy="777240"/>
          </a:xfrm>
          <a:prstGeom prst="rect">
            <a:avLst/>
          </a:prstGeom>
          <a:noFill/>
          <a:ln/>
        </p:spPr>
        <p:txBody>
          <a:bodyPr wrap="square" lIns="0" tIns="0" rIns="0" bIns="0" rtlCol="0" anchor="ctr"/>
          <a:lstStyle/>
          <a:p>
            <a:pPr indent="0" marL="0">
              <a:lnSpc>
                <a:spcPts val="3200"/>
              </a:lnSpc>
              <a:buNone/>
            </a:pPr>
            <a:r>
              <a:rPr lang="en-US" sz="3000" b="1" dirty="0">
                <a:solidFill>
                  <a:srgbClr val="133A61"/>
                </a:solidFill>
                <a:latin typeface="Montserrat" pitchFamily="34" charset="0"/>
                <a:ea typeface="Montserrat" pitchFamily="34" charset="-122"/>
                <a:cs typeface="Montserrat" pitchFamily="34" charset="-120"/>
              </a:rPr>
              <a:t>Espace administration (CMS sécurisé)</a:t>
            </a:r>
            <a:endParaRPr lang="en-US" sz="3000" dirty="0"/>
          </a:p>
        </p:txBody>
      </p:sp>
      <p:sp>
        <p:nvSpPr>
          <p:cNvPr id="4" name="Shape 2"/>
          <p:cNvSpPr/>
          <p:nvPr/>
        </p:nvSpPr>
        <p:spPr>
          <a:xfrm>
            <a:off x="502920" y="1645920"/>
            <a:ext cx="5440680" cy="2240280"/>
          </a:xfrm>
          <a:prstGeom prst="roundRect">
            <a:avLst>
              <a:gd name="adj" fmla="val 3265"/>
            </a:avLst>
          </a:prstGeom>
          <a:solidFill>
            <a:srgbClr val="F2F6FB"/>
          </a:solidFill>
          <a:ln/>
        </p:spPr>
      </p:sp>
      <p:pic>
        <p:nvPicPr>
          <p:cNvPr id="5" name="Image 0" descr="assets/screenshot_login.png">    </p:cNvPr>
          <p:cNvPicPr>
            <a:picLocks noChangeAspect="1"/>
          </p:cNvPicPr>
          <p:nvPr/>
        </p:nvPicPr>
        <p:blipFill>
          <a:blip r:embed="rId1"/>
          <a:srcRect l="0" r="0" t="0" b="0"/>
          <a:stretch/>
        </p:blipFill>
        <p:spPr>
          <a:xfrm>
            <a:off x="548640" y="1691640"/>
            <a:ext cx="5349240" cy="1783080"/>
          </a:xfrm>
          <a:prstGeom prst="rect">
            <a:avLst/>
          </a:prstGeom>
        </p:spPr>
      </p:pic>
      <p:sp>
        <p:nvSpPr>
          <p:cNvPr id="6" name="Text 3"/>
          <p:cNvSpPr/>
          <p:nvPr/>
        </p:nvSpPr>
        <p:spPr>
          <a:xfrm>
            <a:off x="548640" y="3511296"/>
            <a:ext cx="5349240" cy="320040"/>
          </a:xfrm>
          <a:prstGeom prst="rect">
            <a:avLst/>
          </a:prstGeom>
          <a:noFill/>
          <a:ln/>
        </p:spPr>
        <p:txBody>
          <a:bodyPr wrap="square" lIns="0" tIns="0" rIns="0" bIns="0" rtlCol="0" anchor="ctr"/>
          <a:lstStyle/>
          <a:p>
            <a:pPr indent="0" marL="0">
              <a:buNone/>
            </a:pPr>
            <a:r>
              <a:rPr lang="en-US" sz="1100" b="1" dirty="0">
                <a:solidFill>
                  <a:srgbClr val="133A61"/>
                </a:solidFill>
                <a:latin typeface="Poppins" pitchFamily="34" charset="0"/>
                <a:ea typeface="Poppins" pitchFamily="34" charset="-122"/>
                <a:cs typeface="Poppins" pitchFamily="34" charset="-120"/>
              </a:rPr>
              <a:t>Authentification (JWT + bcrypt)</a:t>
            </a:r>
            <a:endParaRPr lang="en-US" sz="1100" dirty="0"/>
          </a:p>
        </p:txBody>
      </p:sp>
      <p:sp>
        <p:nvSpPr>
          <p:cNvPr id="7" name="Shape 4"/>
          <p:cNvSpPr/>
          <p:nvPr/>
        </p:nvSpPr>
        <p:spPr>
          <a:xfrm>
            <a:off x="6126480" y="1645920"/>
            <a:ext cx="5440680" cy="2240280"/>
          </a:xfrm>
          <a:prstGeom prst="roundRect">
            <a:avLst>
              <a:gd name="adj" fmla="val 3265"/>
            </a:avLst>
          </a:prstGeom>
          <a:solidFill>
            <a:srgbClr val="F2F6FB"/>
          </a:solidFill>
          <a:ln/>
        </p:spPr>
      </p:sp>
      <p:pic>
        <p:nvPicPr>
          <p:cNvPr id="8" name="Image 1" descr="assets/screenshot_dashboard.png">    </p:cNvPr>
          <p:cNvPicPr>
            <a:picLocks noChangeAspect="1"/>
          </p:cNvPicPr>
          <p:nvPr/>
        </p:nvPicPr>
        <p:blipFill>
          <a:blip r:embed="rId2"/>
          <a:srcRect l="0" r="0" t="0" b="0"/>
          <a:stretch/>
        </p:blipFill>
        <p:spPr>
          <a:xfrm>
            <a:off x="6172200" y="1691640"/>
            <a:ext cx="5349240" cy="1783080"/>
          </a:xfrm>
          <a:prstGeom prst="rect">
            <a:avLst/>
          </a:prstGeom>
        </p:spPr>
      </p:pic>
      <p:sp>
        <p:nvSpPr>
          <p:cNvPr id="9" name="Text 5"/>
          <p:cNvSpPr/>
          <p:nvPr/>
        </p:nvSpPr>
        <p:spPr>
          <a:xfrm>
            <a:off x="6172200" y="3511296"/>
            <a:ext cx="5349240" cy="320040"/>
          </a:xfrm>
          <a:prstGeom prst="rect">
            <a:avLst/>
          </a:prstGeom>
          <a:noFill/>
          <a:ln/>
        </p:spPr>
        <p:txBody>
          <a:bodyPr wrap="square" lIns="0" tIns="0" rIns="0" bIns="0" rtlCol="0" anchor="ctr"/>
          <a:lstStyle/>
          <a:p>
            <a:pPr indent="0" marL="0">
              <a:buNone/>
            </a:pPr>
            <a:r>
              <a:rPr lang="en-US" sz="1100" b="1" dirty="0">
                <a:solidFill>
                  <a:srgbClr val="133A61"/>
                </a:solidFill>
                <a:latin typeface="Poppins" pitchFamily="34" charset="0"/>
                <a:ea typeface="Poppins" pitchFamily="34" charset="-122"/>
                <a:cs typeface="Poppins" pitchFamily="34" charset="-120"/>
              </a:rPr>
              <a:t>Tableau de bord — statistiques</a:t>
            </a:r>
            <a:endParaRPr lang="en-US" sz="1100" dirty="0"/>
          </a:p>
        </p:txBody>
      </p:sp>
      <p:sp>
        <p:nvSpPr>
          <p:cNvPr id="10" name="Shape 6"/>
          <p:cNvSpPr/>
          <p:nvPr/>
        </p:nvSpPr>
        <p:spPr>
          <a:xfrm>
            <a:off x="502920" y="4050792"/>
            <a:ext cx="5440680" cy="2240280"/>
          </a:xfrm>
          <a:prstGeom prst="roundRect">
            <a:avLst>
              <a:gd name="adj" fmla="val 3265"/>
            </a:avLst>
          </a:prstGeom>
          <a:solidFill>
            <a:srgbClr val="F2F6FB"/>
          </a:solidFill>
          <a:ln/>
        </p:spPr>
      </p:sp>
      <p:pic>
        <p:nvPicPr>
          <p:cNvPr id="11" name="Image 2" descr="assets/screenshot_crud1.png">    </p:cNvPr>
          <p:cNvPicPr>
            <a:picLocks noChangeAspect="1"/>
          </p:cNvPicPr>
          <p:nvPr/>
        </p:nvPicPr>
        <p:blipFill>
          <a:blip r:embed="rId3"/>
          <a:srcRect l="0" r="0" t="0" b="0"/>
          <a:stretch/>
        </p:blipFill>
        <p:spPr>
          <a:xfrm>
            <a:off x="548640" y="4096512"/>
            <a:ext cx="5349240" cy="1783080"/>
          </a:xfrm>
          <a:prstGeom prst="rect">
            <a:avLst/>
          </a:prstGeom>
        </p:spPr>
      </p:pic>
      <p:sp>
        <p:nvSpPr>
          <p:cNvPr id="12" name="Text 7"/>
          <p:cNvSpPr/>
          <p:nvPr/>
        </p:nvSpPr>
        <p:spPr>
          <a:xfrm>
            <a:off x="548640" y="5916168"/>
            <a:ext cx="5349240" cy="320040"/>
          </a:xfrm>
          <a:prstGeom prst="rect">
            <a:avLst/>
          </a:prstGeom>
          <a:noFill/>
          <a:ln/>
        </p:spPr>
        <p:txBody>
          <a:bodyPr wrap="square" lIns="0" tIns="0" rIns="0" bIns="0" rtlCol="0" anchor="ctr"/>
          <a:lstStyle/>
          <a:p>
            <a:pPr indent="0" marL="0">
              <a:buNone/>
            </a:pPr>
            <a:r>
              <a:rPr lang="en-US" sz="1100" b="1" dirty="0">
                <a:solidFill>
                  <a:srgbClr val="133A61"/>
                </a:solidFill>
                <a:latin typeface="Poppins" pitchFamily="34" charset="0"/>
                <a:ea typeface="Poppins" pitchFamily="34" charset="-122"/>
                <a:cs typeface="Poppins" pitchFamily="34" charset="-120"/>
              </a:rPr>
              <a:t>Gestion des contenus (CRUD)</a:t>
            </a:r>
            <a:endParaRPr lang="en-US" sz="1100" dirty="0"/>
          </a:p>
        </p:txBody>
      </p:sp>
      <p:sp>
        <p:nvSpPr>
          <p:cNvPr id="13" name="Shape 8"/>
          <p:cNvSpPr/>
          <p:nvPr/>
        </p:nvSpPr>
        <p:spPr>
          <a:xfrm>
            <a:off x="6126480" y="4050792"/>
            <a:ext cx="5440680" cy="2240280"/>
          </a:xfrm>
          <a:prstGeom prst="roundRect">
            <a:avLst>
              <a:gd name="adj" fmla="val 3265"/>
            </a:avLst>
          </a:prstGeom>
          <a:solidFill>
            <a:srgbClr val="F2F6FB"/>
          </a:solidFill>
          <a:ln/>
        </p:spPr>
      </p:sp>
      <p:pic>
        <p:nvPicPr>
          <p:cNvPr id="14" name="Image 3" descr="assets/screenshot_messages.png">    </p:cNvPr>
          <p:cNvPicPr>
            <a:picLocks noChangeAspect="1"/>
          </p:cNvPicPr>
          <p:nvPr/>
        </p:nvPicPr>
        <p:blipFill>
          <a:blip r:embed="rId4"/>
          <a:srcRect l="0" r="0" t="0" b="0"/>
          <a:stretch/>
        </p:blipFill>
        <p:spPr>
          <a:xfrm>
            <a:off x="6172200" y="4096512"/>
            <a:ext cx="5349240" cy="1783080"/>
          </a:xfrm>
          <a:prstGeom prst="rect">
            <a:avLst/>
          </a:prstGeom>
        </p:spPr>
      </p:pic>
      <p:sp>
        <p:nvSpPr>
          <p:cNvPr id="15" name="Text 9"/>
          <p:cNvSpPr/>
          <p:nvPr/>
        </p:nvSpPr>
        <p:spPr>
          <a:xfrm>
            <a:off x="6172200" y="5916168"/>
            <a:ext cx="5349240" cy="320040"/>
          </a:xfrm>
          <a:prstGeom prst="rect">
            <a:avLst/>
          </a:prstGeom>
          <a:noFill/>
          <a:ln/>
        </p:spPr>
        <p:txBody>
          <a:bodyPr wrap="square" lIns="0" tIns="0" rIns="0" bIns="0" rtlCol="0" anchor="ctr"/>
          <a:lstStyle/>
          <a:p>
            <a:pPr indent="0" marL="0">
              <a:buNone/>
            </a:pPr>
            <a:r>
              <a:rPr lang="en-US" sz="1100" b="1" dirty="0">
                <a:solidFill>
                  <a:srgbClr val="133A61"/>
                </a:solidFill>
                <a:latin typeface="Poppins" pitchFamily="34" charset="0"/>
                <a:ea typeface="Poppins" pitchFamily="34" charset="-122"/>
                <a:cs typeface="Poppins" pitchFamily="34" charset="-120"/>
              </a:rPr>
              <a:t>Messages &amp; abonnés newsletter</a:t>
            </a:r>
            <a:endParaRPr lang="en-US" sz="1100" dirty="0"/>
          </a:p>
        </p:txBody>
      </p:sp>
      <p:pic>
        <p:nvPicPr>
          <p:cNvPr id="16" name="Image 4" descr="assets/logo_busola.jpg">    </p:cNvPr>
          <p:cNvPicPr>
            <a:picLocks noChangeAspect="1"/>
          </p:cNvPicPr>
          <p:nvPr/>
        </p:nvPicPr>
        <p:blipFill>
          <a:blip r:embed="rId5"/>
          <a:stretch>
            <a:fillRect/>
          </a:stretch>
        </p:blipFill>
        <p:spPr>
          <a:xfrm>
            <a:off x="11140135" y="320040"/>
            <a:ext cx="566928" cy="548640"/>
          </a:xfrm>
          <a:prstGeom prst="rect">
            <a:avLst/>
          </a:prstGeom>
        </p:spPr>
      </p:pic>
      <p:sp>
        <p:nvSpPr>
          <p:cNvPr id="17" name="Shape 10"/>
          <p:cNvSpPr/>
          <p:nvPr/>
        </p:nvSpPr>
        <p:spPr>
          <a:xfrm>
            <a:off x="11624767" y="6345936"/>
            <a:ext cx="310896" cy="310896"/>
          </a:xfrm>
          <a:prstGeom prst="ellipse">
            <a:avLst/>
          </a:prstGeom>
          <a:solidFill>
            <a:srgbClr val="2764AE"/>
          </a:solidFill>
          <a:ln/>
        </p:spPr>
      </p:sp>
      <p:sp>
        <p:nvSpPr>
          <p:cNvPr id="18" name="Text 11"/>
          <p:cNvSpPr/>
          <p:nvPr/>
        </p:nvSpPr>
        <p:spPr>
          <a:xfrm>
            <a:off x="11624767" y="6345936"/>
            <a:ext cx="310896" cy="310896"/>
          </a:xfrm>
          <a:prstGeom prst="rect">
            <a:avLst/>
          </a:prstGeom>
          <a:noFill/>
          <a:ln/>
        </p:spPr>
        <p:txBody>
          <a:bodyPr wrap="square" lIns="0" tIns="0" rIns="0" bIns="0" rtlCol="0" anchor="ctr"/>
          <a:lstStyle/>
          <a:p>
            <a:pPr algn="ctr" indent="0" marL="0">
              <a:buNone/>
            </a:pPr>
            <a:r>
              <a:rPr lang="en-US" sz="1000" b="1" dirty="0">
                <a:solidFill>
                  <a:srgbClr val="FFFFFF"/>
                </a:solidFill>
                <a:latin typeface="Poppins" pitchFamily="34" charset="0"/>
                <a:ea typeface="Poppins" pitchFamily="34" charset="-122"/>
                <a:cs typeface="Poppins" pitchFamily="34" charset="-120"/>
              </a:rPr>
              <a:t>19</a:t>
            </a:r>
            <a:endParaRPr lang="en-US" sz="1000" dirty="0"/>
          </a:p>
        </p:txBody>
      </p:sp>
      <p:sp>
        <p:nvSpPr>
          <p:cNvPr id="19" name="Text 12"/>
          <p:cNvSpPr/>
          <p:nvPr/>
        </p:nvSpPr>
        <p:spPr>
          <a:xfrm>
            <a:off x="457200" y="6437376"/>
            <a:ext cx="5486400" cy="274320"/>
          </a:xfrm>
          <a:prstGeom prst="rect">
            <a:avLst/>
          </a:prstGeom>
          <a:noFill/>
          <a:ln/>
        </p:spPr>
        <p:txBody>
          <a:bodyPr wrap="square" lIns="0" tIns="0" rIns="0" bIns="0" rtlCol="0" anchor="ctr"/>
          <a:lstStyle/>
          <a:p>
            <a:pPr indent="0" marL="0">
              <a:buNone/>
            </a:pPr>
            <a:r>
              <a:rPr lang="en-US" sz="850" dirty="0">
                <a:solidFill>
                  <a:srgbClr val="5B6472"/>
                </a:solidFill>
                <a:latin typeface="Poppins" pitchFamily="34" charset="0"/>
                <a:ea typeface="Poppins" pitchFamily="34" charset="-122"/>
                <a:cs typeface="Poppins" pitchFamily="34" charset="-120"/>
              </a:rPr>
              <a:t>PLATEFORME WEB ONG BUSOLA</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3931920" cy="6858000"/>
          </a:xfrm>
          <a:prstGeom prst="rect">
            <a:avLst/>
          </a:prstGeom>
          <a:solidFill>
            <a:srgbClr val="133A61"/>
          </a:solidFill>
          <a:ln/>
        </p:spPr>
      </p:sp>
      <p:sp>
        <p:nvSpPr>
          <p:cNvPr id="3" name="Shape 1"/>
          <p:cNvSpPr/>
          <p:nvPr/>
        </p:nvSpPr>
        <p:spPr>
          <a:xfrm>
            <a:off x="-1645920" y="-1463040"/>
            <a:ext cx="3657600" cy="3657600"/>
          </a:xfrm>
          <a:prstGeom prst="ellipse">
            <a:avLst/>
          </a:prstGeom>
          <a:solidFill>
            <a:srgbClr val="2764AE">
              <a:alpha val="45000"/>
            </a:srgbClr>
          </a:solidFill>
          <a:ln/>
        </p:spPr>
      </p:sp>
      <p:sp>
        <p:nvSpPr>
          <p:cNvPr id="4" name="Text 2"/>
          <p:cNvSpPr/>
          <p:nvPr/>
        </p:nvSpPr>
        <p:spPr>
          <a:xfrm>
            <a:off x="457200" y="2788920"/>
            <a:ext cx="3108960" cy="365760"/>
          </a:xfrm>
          <a:prstGeom prst="rect">
            <a:avLst/>
          </a:prstGeom>
          <a:noFill/>
          <a:ln/>
        </p:spPr>
        <p:txBody>
          <a:bodyPr wrap="square" lIns="0" tIns="0" rIns="0" bIns="0" rtlCol="0" anchor="ctr"/>
          <a:lstStyle/>
          <a:p>
            <a:pPr indent="0" marL="0">
              <a:buNone/>
            </a:pPr>
            <a:r>
              <a:rPr lang="en-US" sz="1300" b="1" spc="200" kern="0" dirty="0">
                <a:solidFill>
                  <a:srgbClr val="F6A026"/>
                </a:solidFill>
                <a:latin typeface="Poppins" pitchFamily="34" charset="0"/>
                <a:ea typeface="Poppins" pitchFamily="34" charset="-122"/>
                <a:cs typeface="Poppins" pitchFamily="34" charset="-120"/>
              </a:rPr>
              <a:t>CONCLUSION</a:t>
            </a:r>
            <a:endParaRPr lang="en-US" sz="1300" dirty="0"/>
          </a:p>
        </p:txBody>
      </p:sp>
      <p:sp>
        <p:nvSpPr>
          <p:cNvPr id="5" name="Text 3"/>
          <p:cNvSpPr/>
          <p:nvPr/>
        </p:nvSpPr>
        <p:spPr>
          <a:xfrm>
            <a:off x="457200" y="3154680"/>
            <a:ext cx="3108960" cy="1920240"/>
          </a:xfrm>
          <a:prstGeom prst="rect">
            <a:avLst/>
          </a:prstGeom>
          <a:noFill/>
          <a:ln/>
        </p:spPr>
        <p:txBody>
          <a:bodyPr wrap="square" lIns="0" tIns="0" rIns="0" bIns="0" rtlCol="0" anchor="ctr"/>
          <a:lstStyle/>
          <a:p>
            <a:pPr indent="0" marL="0">
              <a:lnSpc>
                <a:spcPct val="115000"/>
              </a:lnSpc>
              <a:buNone/>
            </a:pPr>
            <a:r>
              <a:rPr lang="en-US" sz="2400" b="1" dirty="0">
                <a:solidFill>
                  <a:srgbClr val="FFFFFF"/>
                </a:solidFill>
                <a:latin typeface="Montserrat" pitchFamily="34" charset="0"/>
                <a:ea typeface="Montserrat" pitchFamily="34" charset="-122"/>
                <a:cs typeface="Montserrat" pitchFamily="34" charset="-120"/>
              </a:rPr>
              <a:t>Une plateforme</a:t>
            </a:r>
            <a:endParaRPr lang="en-US" sz="2400" dirty="0"/>
          </a:p>
          <a:p>
            <a:pPr indent="0" marL="0">
              <a:lnSpc>
                <a:spcPct val="115000"/>
              </a:lnSpc>
              <a:buNone/>
            </a:pPr>
            <a:r>
              <a:rPr lang="en-US" sz="2400" b="1" dirty="0">
                <a:solidFill>
                  <a:srgbClr val="FFFFFF"/>
                </a:solidFill>
                <a:latin typeface="Montserrat" pitchFamily="34" charset="0"/>
                <a:ea typeface="Montserrat" pitchFamily="34" charset="-122"/>
                <a:cs typeface="Montserrat" pitchFamily="34" charset="-120"/>
              </a:rPr>
              <a:t>opérationnelle</a:t>
            </a:r>
            <a:endParaRPr lang="en-US" sz="2400" dirty="0"/>
          </a:p>
          <a:p>
            <a:pPr indent="0" marL="0">
              <a:lnSpc>
                <a:spcPct val="115000"/>
              </a:lnSpc>
              <a:buNone/>
            </a:pPr>
            <a:r>
              <a:rPr lang="en-US" sz="2400" b="1" dirty="0">
                <a:solidFill>
                  <a:srgbClr val="FFFFFF"/>
                </a:solidFill>
                <a:latin typeface="Montserrat" pitchFamily="34" charset="0"/>
                <a:ea typeface="Montserrat" pitchFamily="34" charset="-122"/>
                <a:cs typeface="Montserrat" pitchFamily="34" charset="-120"/>
              </a:rPr>
              <a:t>pour BUSOLA</a:t>
            </a:r>
            <a:endParaRPr lang="en-US" sz="2400" dirty="0"/>
          </a:p>
        </p:txBody>
      </p:sp>
      <p:sp>
        <p:nvSpPr>
          <p:cNvPr id="6" name="Text 4"/>
          <p:cNvSpPr/>
          <p:nvPr/>
        </p:nvSpPr>
        <p:spPr>
          <a:xfrm>
            <a:off x="4343400" y="822960"/>
            <a:ext cx="7315200" cy="1554480"/>
          </a:xfrm>
          <a:prstGeom prst="rect">
            <a:avLst/>
          </a:prstGeom>
          <a:noFill/>
          <a:ln/>
        </p:spPr>
        <p:txBody>
          <a:bodyPr wrap="square" lIns="0" tIns="0" rIns="0" bIns="0" rtlCol="0" anchor="ctr"/>
          <a:lstStyle/>
          <a:p>
            <a:pPr indent="0" marL="0">
              <a:lnSpc>
                <a:spcPct val="130000"/>
              </a:lnSpc>
              <a:buNone/>
            </a:pPr>
            <a:r>
              <a:rPr lang="en-US" sz="1300" dirty="0">
                <a:solidFill>
                  <a:srgbClr val="1E2430"/>
                </a:solidFill>
                <a:latin typeface="Poppins" pitchFamily="34" charset="0"/>
                <a:ea typeface="Poppins" pitchFamily="34" charset="-122"/>
                <a:cs typeface="Poppins" pitchFamily="34" charset="-120"/>
              </a:rPr>
              <a:t>Les objectifs fixés ont été atteints : BUSOLA dispose désormais d'un espace institutionnel centralisé, accessible hors ligne, pour diffuser ses actualités et actions, gérer ses abonnés et assister ses visiteurs via un chatbot.</a:t>
            </a:r>
            <a:endParaRPr lang="en-US" sz="1300" dirty="0"/>
          </a:p>
        </p:txBody>
      </p:sp>
      <p:sp>
        <p:nvSpPr>
          <p:cNvPr id="7" name="Text 5"/>
          <p:cNvSpPr/>
          <p:nvPr/>
        </p:nvSpPr>
        <p:spPr>
          <a:xfrm>
            <a:off x="4343400" y="2468880"/>
            <a:ext cx="5486400" cy="365760"/>
          </a:xfrm>
          <a:prstGeom prst="rect">
            <a:avLst/>
          </a:prstGeom>
          <a:noFill/>
          <a:ln/>
        </p:spPr>
        <p:txBody>
          <a:bodyPr wrap="square" lIns="0" tIns="0" rIns="0" bIns="0" rtlCol="0" anchor="ctr"/>
          <a:lstStyle/>
          <a:p>
            <a:pPr indent="0" marL="0">
              <a:buNone/>
            </a:pPr>
            <a:r>
              <a:rPr lang="en-US" sz="1600" b="1" dirty="0">
                <a:solidFill>
                  <a:srgbClr val="133A61"/>
                </a:solidFill>
                <a:latin typeface="Montserrat" pitchFamily="34" charset="0"/>
                <a:ea typeface="Montserrat" pitchFamily="34" charset="-122"/>
                <a:cs typeface="Montserrat" pitchFamily="34" charset="-120"/>
              </a:rPr>
              <a:t>Perspectives d'évolution</a:t>
            </a:r>
            <a:endParaRPr lang="en-US" sz="1600" dirty="0"/>
          </a:p>
        </p:txBody>
      </p:sp>
      <p:sp>
        <p:nvSpPr>
          <p:cNvPr id="8" name="Shape 6"/>
          <p:cNvSpPr/>
          <p:nvPr/>
        </p:nvSpPr>
        <p:spPr>
          <a:xfrm>
            <a:off x="4343400" y="3017520"/>
            <a:ext cx="201168" cy="201168"/>
          </a:xfrm>
          <a:prstGeom prst="ellipse">
            <a:avLst/>
          </a:prstGeom>
          <a:solidFill>
            <a:srgbClr val="3CAF73"/>
          </a:solidFill>
          <a:ln/>
        </p:spPr>
      </p:sp>
      <p:sp>
        <p:nvSpPr>
          <p:cNvPr id="9" name="Text 7"/>
          <p:cNvSpPr/>
          <p:nvPr/>
        </p:nvSpPr>
        <p:spPr>
          <a:xfrm>
            <a:off x="4663440" y="2916936"/>
            <a:ext cx="3291840" cy="457200"/>
          </a:xfrm>
          <a:prstGeom prst="rect">
            <a:avLst/>
          </a:prstGeom>
          <a:noFill/>
          <a:ln/>
        </p:spPr>
        <p:txBody>
          <a:bodyPr wrap="square" lIns="0" tIns="0" rIns="0" bIns="0" rtlCol="0" anchor="ctr"/>
          <a:lstStyle/>
          <a:p>
            <a:pPr indent="0" marL="0">
              <a:buNone/>
            </a:pPr>
            <a:r>
              <a:rPr lang="en-US" sz="1150" dirty="0">
                <a:solidFill>
                  <a:srgbClr val="1E2430"/>
                </a:solidFill>
                <a:latin typeface="Poppins" pitchFamily="34" charset="0"/>
                <a:ea typeface="Poppins" pitchFamily="34" charset="-122"/>
                <a:cs typeface="Poppins" pitchFamily="34" charset="-120"/>
              </a:rPr>
              <a:t>Déploiement cloud sécurisé (SSL)</a:t>
            </a:r>
            <a:endParaRPr lang="en-US" sz="1150" dirty="0"/>
          </a:p>
        </p:txBody>
      </p:sp>
      <p:sp>
        <p:nvSpPr>
          <p:cNvPr id="10" name="Shape 8"/>
          <p:cNvSpPr/>
          <p:nvPr/>
        </p:nvSpPr>
        <p:spPr>
          <a:xfrm>
            <a:off x="8001000" y="3017520"/>
            <a:ext cx="201168" cy="201168"/>
          </a:xfrm>
          <a:prstGeom prst="ellipse">
            <a:avLst/>
          </a:prstGeom>
          <a:solidFill>
            <a:srgbClr val="F6A026"/>
          </a:solidFill>
          <a:ln/>
        </p:spPr>
      </p:sp>
      <p:sp>
        <p:nvSpPr>
          <p:cNvPr id="11" name="Text 9"/>
          <p:cNvSpPr/>
          <p:nvPr/>
        </p:nvSpPr>
        <p:spPr>
          <a:xfrm>
            <a:off x="8321040" y="2916936"/>
            <a:ext cx="3291840" cy="457200"/>
          </a:xfrm>
          <a:prstGeom prst="rect">
            <a:avLst/>
          </a:prstGeom>
          <a:noFill/>
          <a:ln/>
        </p:spPr>
        <p:txBody>
          <a:bodyPr wrap="square" lIns="0" tIns="0" rIns="0" bIns="0" rtlCol="0" anchor="ctr"/>
          <a:lstStyle/>
          <a:p>
            <a:pPr indent="0" marL="0">
              <a:buNone/>
            </a:pPr>
            <a:r>
              <a:rPr lang="en-US" sz="1150" dirty="0">
                <a:solidFill>
                  <a:srgbClr val="1E2430"/>
                </a:solidFill>
                <a:latin typeface="Poppins" pitchFamily="34" charset="0"/>
                <a:ea typeface="Poppins" pitchFamily="34" charset="-122"/>
                <a:cs typeface="Poppins" pitchFamily="34" charset="-120"/>
              </a:rPr>
              <a:t>Paiement mobile pour les dons en ligne</a:t>
            </a:r>
            <a:endParaRPr lang="en-US" sz="1150" dirty="0"/>
          </a:p>
        </p:txBody>
      </p:sp>
      <p:sp>
        <p:nvSpPr>
          <p:cNvPr id="12" name="Shape 10"/>
          <p:cNvSpPr/>
          <p:nvPr/>
        </p:nvSpPr>
        <p:spPr>
          <a:xfrm>
            <a:off x="4343400" y="3639312"/>
            <a:ext cx="201168" cy="201168"/>
          </a:xfrm>
          <a:prstGeom prst="ellipse">
            <a:avLst/>
          </a:prstGeom>
          <a:solidFill>
            <a:srgbClr val="3CAF73"/>
          </a:solidFill>
          <a:ln/>
        </p:spPr>
      </p:sp>
      <p:sp>
        <p:nvSpPr>
          <p:cNvPr id="13" name="Text 11"/>
          <p:cNvSpPr/>
          <p:nvPr/>
        </p:nvSpPr>
        <p:spPr>
          <a:xfrm>
            <a:off x="4663440" y="3538728"/>
            <a:ext cx="3291840" cy="457200"/>
          </a:xfrm>
          <a:prstGeom prst="rect">
            <a:avLst/>
          </a:prstGeom>
          <a:noFill/>
          <a:ln/>
        </p:spPr>
        <p:txBody>
          <a:bodyPr wrap="square" lIns="0" tIns="0" rIns="0" bIns="0" rtlCol="0" anchor="ctr"/>
          <a:lstStyle/>
          <a:p>
            <a:pPr indent="0" marL="0">
              <a:buNone/>
            </a:pPr>
            <a:r>
              <a:rPr lang="en-US" sz="1150" dirty="0">
                <a:solidFill>
                  <a:srgbClr val="1E2430"/>
                </a:solidFill>
                <a:latin typeface="Poppins" pitchFamily="34" charset="0"/>
                <a:ea typeface="Poppins" pitchFamily="34" charset="-122"/>
                <a:cs typeface="Poppins" pitchFamily="34" charset="-120"/>
              </a:rPr>
              <a:t>Application mobile native</a:t>
            </a:r>
            <a:endParaRPr lang="en-US" sz="1150" dirty="0"/>
          </a:p>
        </p:txBody>
      </p:sp>
      <p:sp>
        <p:nvSpPr>
          <p:cNvPr id="14" name="Shape 12"/>
          <p:cNvSpPr/>
          <p:nvPr/>
        </p:nvSpPr>
        <p:spPr>
          <a:xfrm>
            <a:off x="8001000" y="3639312"/>
            <a:ext cx="201168" cy="201168"/>
          </a:xfrm>
          <a:prstGeom prst="ellipse">
            <a:avLst/>
          </a:prstGeom>
          <a:solidFill>
            <a:srgbClr val="F6A026"/>
          </a:solidFill>
          <a:ln/>
        </p:spPr>
      </p:sp>
      <p:sp>
        <p:nvSpPr>
          <p:cNvPr id="15" name="Text 13"/>
          <p:cNvSpPr/>
          <p:nvPr/>
        </p:nvSpPr>
        <p:spPr>
          <a:xfrm>
            <a:off x="8321040" y="3538728"/>
            <a:ext cx="3291840" cy="457200"/>
          </a:xfrm>
          <a:prstGeom prst="rect">
            <a:avLst/>
          </a:prstGeom>
          <a:noFill/>
          <a:ln/>
        </p:spPr>
        <p:txBody>
          <a:bodyPr wrap="square" lIns="0" tIns="0" rIns="0" bIns="0" rtlCol="0" anchor="ctr"/>
          <a:lstStyle/>
          <a:p>
            <a:pPr indent="0" marL="0">
              <a:buNone/>
            </a:pPr>
            <a:r>
              <a:rPr lang="en-US" sz="1150" dirty="0">
                <a:solidFill>
                  <a:srgbClr val="1E2430"/>
                </a:solidFill>
                <a:latin typeface="Poppins" pitchFamily="34" charset="0"/>
                <a:ea typeface="Poppins" pitchFamily="34" charset="-122"/>
                <a:cs typeface="Poppins" pitchFamily="34" charset="-120"/>
              </a:rPr>
              <a:t>Multi-administrateurs</a:t>
            </a:r>
            <a:endParaRPr lang="en-US" sz="1150" dirty="0"/>
          </a:p>
        </p:txBody>
      </p:sp>
      <p:sp>
        <p:nvSpPr>
          <p:cNvPr id="16" name="Shape 14"/>
          <p:cNvSpPr/>
          <p:nvPr/>
        </p:nvSpPr>
        <p:spPr>
          <a:xfrm>
            <a:off x="4343400" y="4261104"/>
            <a:ext cx="201168" cy="201168"/>
          </a:xfrm>
          <a:prstGeom prst="ellipse">
            <a:avLst/>
          </a:prstGeom>
          <a:solidFill>
            <a:srgbClr val="3CAF73"/>
          </a:solidFill>
          <a:ln/>
        </p:spPr>
      </p:sp>
      <p:sp>
        <p:nvSpPr>
          <p:cNvPr id="17" name="Text 15"/>
          <p:cNvSpPr/>
          <p:nvPr/>
        </p:nvSpPr>
        <p:spPr>
          <a:xfrm>
            <a:off x="4663440" y="4160520"/>
            <a:ext cx="3291840" cy="457200"/>
          </a:xfrm>
          <a:prstGeom prst="rect">
            <a:avLst/>
          </a:prstGeom>
          <a:noFill/>
          <a:ln/>
        </p:spPr>
        <p:txBody>
          <a:bodyPr wrap="square" lIns="0" tIns="0" rIns="0" bIns="0" rtlCol="0" anchor="ctr"/>
          <a:lstStyle/>
          <a:p>
            <a:pPr indent="0" marL="0">
              <a:buNone/>
            </a:pPr>
            <a:r>
              <a:rPr lang="en-US" sz="1150" dirty="0">
                <a:solidFill>
                  <a:srgbClr val="1E2430"/>
                </a:solidFill>
                <a:latin typeface="Poppins" pitchFamily="34" charset="0"/>
                <a:ea typeface="Poppins" pitchFamily="34" charset="-122"/>
                <a:cs typeface="Poppins" pitchFamily="34" charset="-120"/>
              </a:rPr>
              <a:t>Outils d'analyse d'audience</a:t>
            </a:r>
            <a:endParaRPr lang="en-US" sz="1150" dirty="0"/>
          </a:p>
        </p:txBody>
      </p:sp>
      <p:sp>
        <p:nvSpPr>
          <p:cNvPr id="18" name="Shape 16"/>
          <p:cNvSpPr/>
          <p:nvPr/>
        </p:nvSpPr>
        <p:spPr>
          <a:xfrm>
            <a:off x="8001000" y="4261104"/>
            <a:ext cx="201168" cy="201168"/>
          </a:xfrm>
          <a:prstGeom prst="ellipse">
            <a:avLst/>
          </a:prstGeom>
          <a:solidFill>
            <a:srgbClr val="F6A026"/>
          </a:solidFill>
          <a:ln/>
        </p:spPr>
      </p:sp>
      <p:sp>
        <p:nvSpPr>
          <p:cNvPr id="19" name="Text 17"/>
          <p:cNvSpPr/>
          <p:nvPr/>
        </p:nvSpPr>
        <p:spPr>
          <a:xfrm>
            <a:off x="8321040" y="4160520"/>
            <a:ext cx="3291840" cy="457200"/>
          </a:xfrm>
          <a:prstGeom prst="rect">
            <a:avLst/>
          </a:prstGeom>
          <a:noFill/>
          <a:ln/>
        </p:spPr>
        <p:txBody>
          <a:bodyPr wrap="square" lIns="0" tIns="0" rIns="0" bIns="0" rtlCol="0" anchor="ctr"/>
          <a:lstStyle/>
          <a:p>
            <a:pPr indent="0" marL="0">
              <a:buNone/>
            </a:pPr>
            <a:r>
              <a:rPr lang="en-US" sz="1150" dirty="0">
                <a:solidFill>
                  <a:srgbClr val="1E2430"/>
                </a:solidFill>
                <a:latin typeface="Poppins" pitchFamily="34" charset="0"/>
                <a:ea typeface="Poppins" pitchFamily="34" charset="-122"/>
                <a:cs typeface="Poppins" pitchFamily="34" charset="-120"/>
              </a:rPr>
              <a:t>Traduction en langues nationales</a:t>
            </a:r>
            <a:endParaRPr lang="en-US" sz="1150" dirty="0"/>
          </a:p>
        </p:txBody>
      </p:sp>
      <p:sp>
        <p:nvSpPr>
          <p:cNvPr id="20" name="Shape 18"/>
          <p:cNvSpPr/>
          <p:nvPr/>
        </p:nvSpPr>
        <p:spPr>
          <a:xfrm>
            <a:off x="4343400" y="5074920"/>
            <a:ext cx="7223760" cy="1188720"/>
          </a:xfrm>
          <a:prstGeom prst="roundRect">
            <a:avLst>
              <a:gd name="adj" fmla="val 7692"/>
            </a:avLst>
          </a:prstGeom>
          <a:solidFill>
            <a:srgbClr val="3CAF73"/>
          </a:solidFill>
          <a:ln/>
        </p:spPr>
      </p:sp>
      <p:sp>
        <p:nvSpPr>
          <p:cNvPr id="21" name="Text 19"/>
          <p:cNvSpPr/>
          <p:nvPr/>
        </p:nvSpPr>
        <p:spPr>
          <a:xfrm>
            <a:off x="4617720" y="5193792"/>
            <a:ext cx="6675120" cy="960120"/>
          </a:xfrm>
          <a:prstGeom prst="rect">
            <a:avLst/>
          </a:prstGeom>
          <a:noFill/>
          <a:ln/>
        </p:spPr>
        <p:txBody>
          <a:bodyPr wrap="square" lIns="0" tIns="0" rIns="0" bIns="0" rtlCol="0" anchor="ctr"/>
          <a:lstStyle/>
          <a:p>
            <a:pPr indent="0" marL="0">
              <a:lnSpc>
                <a:spcPct val="120000"/>
              </a:lnSpc>
              <a:buNone/>
            </a:pPr>
            <a:r>
              <a:rPr lang="en-US" sz="1250" b="1" i="1" dirty="0">
                <a:solidFill>
                  <a:srgbClr val="FFFFFF"/>
                </a:solidFill>
                <a:latin typeface="Montserrat" pitchFamily="34" charset="0"/>
                <a:ea typeface="Montserrat" pitchFamily="34" charset="-122"/>
                <a:cs typeface="Montserrat" pitchFamily="34" charset="-120"/>
              </a:rPr>
              <a:t>« Ce projet illustre le potentiel du numérique au service du développement social, et pourra inspirer d'autres ONG béninoises à franchir le pas de la transformation digitale. »</a:t>
            </a:r>
            <a:endParaRPr lang="en-US" sz="1250" dirty="0"/>
          </a:p>
        </p:txBody>
      </p:sp>
      <p:sp>
        <p:nvSpPr>
          <p:cNvPr id="22" name="Shape 20"/>
          <p:cNvSpPr/>
          <p:nvPr/>
        </p:nvSpPr>
        <p:spPr>
          <a:xfrm>
            <a:off x="11624767" y="6345936"/>
            <a:ext cx="310896" cy="310896"/>
          </a:xfrm>
          <a:prstGeom prst="ellipse">
            <a:avLst/>
          </a:prstGeom>
          <a:solidFill>
            <a:srgbClr val="2764AE"/>
          </a:solidFill>
          <a:ln/>
        </p:spPr>
      </p:sp>
      <p:sp>
        <p:nvSpPr>
          <p:cNvPr id="23" name="Text 21"/>
          <p:cNvSpPr/>
          <p:nvPr/>
        </p:nvSpPr>
        <p:spPr>
          <a:xfrm>
            <a:off x="11624767" y="6345936"/>
            <a:ext cx="310896" cy="310896"/>
          </a:xfrm>
          <a:prstGeom prst="rect">
            <a:avLst/>
          </a:prstGeom>
          <a:noFill/>
          <a:ln/>
        </p:spPr>
        <p:txBody>
          <a:bodyPr wrap="square" lIns="0" tIns="0" rIns="0" bIns="0" rtlCol="0" anchor="ctr"/>
          <a:lstStyle/>
          <a:p>
            <a:pPr algn="ctr" indent="0" marL="0">
              <a:buNone/>
            </a:pPr>
            <a:r>
              <a:rPr lang="en-US" sz="1000" b="1" dirty="0">
                <a:solidFill>
                  <a:srgbClr val="FFFFFF"/>
                </a:solidFill>
                <a:latin typeface="Poppins" pitchFamily="34" charset="0"/>
                <a:ea typeface="Poppins" pitchFamily="34" charset="-122"/>
                <a:cs typeface="Poppins" pitchFamily="34" charset="-120"/>
              </a:rPr>
              <a:t>20</a:t>
            </a:r>
            <a:endParaRPr lang="en-US" sz="1000" dirty="0"/>
          </a:p>
        </p:txBody>
      </p:sp>
      <p:sp>
        <p:nvSpPr>
          <p:cNvPr id="24" name="Text 22"/>
          <p:cNvSpPr/>
          <p:nvPr/>
        </p:nvSpPr>
        <p:spPr>
          <a:xfrm>
            <a:off x="457200" y="6437376"/>
            <a:ext cx="5486400" cy="274320"/>
          </a:xfrm>
          <a:prstGeom prst="rect">
            <a:avLst/>
          </a:prstGeom>
          <a:noFill/>
          <a:ln/>
        </p:spPr>
        <p:txBody>
          <a:bodyPr wrap="square" lIns="0" tIns="0" rIns="0" bIns="0" rtlCol="0" anchor="ctr"/>
          <a:lstStyle/>
          <a:p>
            <a:pPr indent="0" marL="0">
              <a:buNone/>
            </a:pPr>
            <a:r>
              <a:rPr lang="en-US" sz="850" dirty="0">
                <a:solidFill>
                  <a:srgbClr val="5B6472"/>
                </a:solidFill>
                <a:latin typeface="Poppins" pitchFamily="34" charset="0"/>
                <a:ea typeface="Poppins" pitchFamily="34" charset="-122"/>
                <a:cs typeface="Poppins" pitchFamily="34" charset="-120"/>
              </a:rPr>
              <a:t>PLATEFORME WEB ONG BUSOLA</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133A61"/>
        </a:solidFill>
      </p:bgPr>
    </p:bg>
    <p:spTree>
      <p:nvGrpSpPr>
        <p:cNvPr id="1" name=""/>
        <p:cNvGrpSpPr/>
        <p:nvPr/>
      </p:nvGrpSpPr>
      <p:grpSpPr>
        <a:xfrm>
          <a:off x="0" y="0"/>
          <a:ext cx="0" cy="0"/>
          <a:chOff x="0" y="0"/>
          <a:chExt cx="0" cy="0"/>
        </a:xfrm>
      </p:grpSpPr>
      <p:sp>
        <p:nvSpPr>
          <p:cNvPr id="2" name="Shape 0"/>
          <p:cNvSpPr/>
          <p:nvPr/>
        </p:nvSpPr>
        <p:spPr>
          <a:xfrm>
            <a:off x="9082735" y="-2011680"/>
            <a:ext cx="5486400" cy="5486400"/>
          </a:xfrm>
          <a:prstGeom prst="ellipse">
            <a:avLst/>
          </a:prstGeom>
          <a:solidFill>
            <a:srgbClr val="2764AE">
              <a:alpha val="45000"/>
            </a:srgbClr>
          </a:solidFill>
          <a:ln/>
        </p:spPr>
      </p:sp>
      <p:sp>
        <p:nvSpPr>
          <p:cNvPr id="3" name="Shape 1"/>
          <p:cNvSpPr/>
          <p:nvPr/>
        </p:nvSpPr>
        <p:spPr>
          <a:xfrm>
            <a:off x="-2011680" y="4480560"/>
            <a:ext cx="5029200" cy="5029200"/>
          </a:xfrm>
          <a:prstGeom prst="ellipse">
            <a:avLst/>
          </a:prstGeom>
          <a:solidFill>
            <a:srgbClr val="3CAF73">
              <a:alpha val="32000"/>
            </a:srgbClr>
          </a:solidFill>
          <a:ln/>
        </p:spPr>
      </p:sp>
      <p:sp>
        <p:nvSpPr>
          <p:cNvPr id="4" name="Text 2"/>
          <p:cNvSpPr/>
          <p:nvPr/>
        </p:nvSpPr>
        <p:spPr>
          <a:xfrm>
            <a:off x="0" y="685800"/>
            <a:ext cx="12191695" cy="822960"/>
          </a:xfrm>
          <a:prstGeom prst="rect">
            <a:avLst/>
          </a:prstGeom>
          <a:noFill/>
          <a:ln/>
        </p:spPr>
        <p:txBody>
          <a:bodyPr wrap="square" lIns="0" tIns="0" rIns="0" bIns="0" rtlCol="0" anchor="ctr"/>
          <a:lstStyle/>
          <a:p>
            <a:pPr algn="ctr" indent="0" marL="0">
              <a:buNone/>
            </a:pPr>
            <a:r>
              <a:rPr lang="en-US" sz="3400" b="1" dirty="0">
                <a:solidFill>
                  <a:srgbClr val="FFFFFF"/>
                </a:solidFill>
                <a:latin typeface="Montserrat" pitchFamily="34" charset="0"/>
                <a:ea typeface="Montserrat" pitchFamily="34" charset="-122"/>
                <a:cs typeface="Montserrat" pitchFamily="34" charset="-120"/>
              </a:rPr>
              <a:t>MERCI DE NOUS AVOIR SUIVI !</a:t>
            </a:r>
            <a:endParaRPr lang="en-US" sz="3400" dirty="0"/>
          </a:p>
        </p:txBody>
      </p:sp>
      <p:sp>
        <p:nvSpPr>
          <p:cNvPr id="5" name="Shape 3"/>
          <p:cNvSpPr/>
          <p:nvPr/>
        </p:nvSpPr>
        <p:spPr>
          <a:xfrm>
            <a:off x="5592928" y="1481328"/>
            <a:ext cx="1005840" cy="41148"/>
          </a:xfrm>
          <a:prstGeom prst="rect">
            <a:avLst/>
          </a:prstGeom>
          <a:solidFill>
            <a:srgbClr val="F6A026"/>
          </a:solidFill>
          <a:ln/>
        </p:spPr>
      </p:sp>
      <p:pic>
        <p:nvPicPr>
          <p:cNvPr id="6" name="Image 0" descr="assets/v_sign.jpg">    </p:cNvPr>
          <p:cNvPicPr>
            <a:picLocks noChangeAspect="1"/>
          </p:cNvPicPr>
          <p:nvPr/>
        </p:nvPicPr>
        <p:blipFill>
          <a:blip r:embed="rId1"/>
          <a:srcRect l="0" r="0" t="0" b="0"/>
          <a:stretch/>
        </p:blipFill>
        <p:spPr>
          <a:xfrm>
            <a:off x="4861408" y="1783080"/>
            <a:ext cx="2468880" cy="2478024"/>
          </a:xfrm>
          <a:prstGeom prst="rect">
            <a:avLst/>
          </a:prstGeom>
        </p:spPr>
      </p:pic>
      <p:sp>
        <p:nvSpPr>
          <p:cNvPr id="7" name="Text 4"/>
          <p:cNvSpPr/>
          <p:nvPr/>
        </p:nvSpPr>
        <p:spPr>
          <a:xfrm>
            <a:off x="914400" y="4617720"/>
            <a:ext cx="10362895" cy="777240"/>
          </a:xfrm>
          <a:prstGeom prst="rect">
            <a:avLst/>
          </a:prstGeom>
          <a:noFill/>
          <a:ln/>
        </p:spPr>
        <p:txBody>
          <a:bodyPr wrap="square" lIns="0" tIns="0" rIns="0" bIns="0" rtlCol="0" anchor="ctr"/>
          <a:lstStyle/>
          <a:p>
            <a:pPr algn="ctr" indent="0" marL="0">
              <a:lnSpc>
                <a:spcPct val="130000"/>
              </a:lnSpc>
              <a:buNone/>
            </a:pPr>
            <a:r>
              <a:rPr lang="en-US" sz="1300" i="1" dirty="0">
                <a:solidFill>
                  <a:srgbClr val="C7D6E8"/>
                </a:solidFill>
                <a:latin typeface="Poppins" pitchFamily="34" charset="0"/>
                <a:ea typeface="Poppins" pitchFamily="34" charset="-122"/>
                <a:cs typeface="Poppins" pitchFamily="34" charset="-120"/>
              </a:rPr>
              <a:t>Nous remercions sincèrement Dr Meton Meton ATINDEHOU, les autorités de l'IUT</a:t>
            </a:r>
            <a:endParaRPr lang="en-US" sz="1300" dirty="0"/>
          </a:p>
          <a:p>
            <a:pPr algn="ctr" indent="0" marL="0">
              <a:lnSpc>
                <a:spcPct val="130000"/>
              </a:lnSpc>
              <a:buNone/>
            </a:pPr>
            <a:r>
              <a:rPr lang="en-US" sz="1300" i="1" dirty="0">
                <a:solidFill>
                  <a:srgbClr val="C7D6E8"/>
                </a:solidFill>
                <a:latin typeface="Poppins" pitchFamily="34" charset="0"/>
                <a:ea typeface="Poppins" pitchFamily="34" charset="-122"/>
                <a:cs typeface="Poppins" pitchFamily="34" charset="-120"/>
              </a:rPr>
              <a:t>et toute l'équipe de l'ONG BUSOLA pour leur accompagnement.</a:t>
            </a:r>
            <a:endParaRPr lang="en-US" sz="1300" dirty="0"/>
          </a:p>
        </p:txBody>
      </p:sp>
      <p:sp>
        <p:nvSpPr>
          <p:cNvPr id="8" name="Text 5"/>
          <p:cNvSpPr/>
          <p:nvPr/>
        </p:nvSpPr>
        <p:spPr>
          <a:xfrm>
            <a:off x="914400" y="5532120"/>
            <a:ext cx="10362895" cy="365760"/>
          </a:xfrm>
          <a:prstGeom prst="rect">
            <a:avLst/>
          </a:prstGeom>
          <a:noFill/>
          <a:ln/>
        </p:spPr>
        <p:txBody>
          <a:bodyPr wrap="square" lIns="0" tIns="0" rIns="0" bIns="0" rtlCol="0" anchor="ctr"/>
          <a:lstStyle/>
          <a:p>
            <a:pPr algn="ctr" indent="0" marL="0">
              <a:buNone/>
            </a:pPr>
            <a:r>
              <a:rPr lang="en-US" sz="1200" b="1" dirty="0">
                <a:solidFill>
                  <a:srgbClr val="F6A026"/>
                </a:solidFill>
                <a:latin typeface="Poppins" pitchFamily="34" charset="0"/>
                <a:ea typeface="Poppins" pitchFamily="34" charset="-122"/>
                <a:cs typeface="Poppins" pitchFamily="34" charset="-120"/>
              </a:rPr>
              <a:t>Présenté par : Bhilal CHITOU &amp; Jolidon HOUNGUE</a:t>
            </a:r>
            <a:endParaRPr lang="en-US" sz="1200" dirty="0"/>
          </a:p>
        </p:txBody>
      </p:sp>
      <p:sp>
        <p:nvSpPr>
          <p:cNvPr id="9" name="Text 6"/>
          <p:cNvSpPr/>
          <p:nvPr/>
        </p:nvSpPr>
        <p:spPr>
          <a:xfrm>
            <a:off x="914400" y="5852160"/>
            <a:ext cx="10362895" cy="365760"/>
          </a:xfrm>
          <a:prstGeom prst="rect">
            <a:avLst/>
          </a:prstGeom>
          <a:noFill/>
          <a:ln/>
        </p:spPr>
        <p:txBody>
          <a:bodyPr wrap="square" lIns="0" tIns="0" rIns="0" bIns="0" rtlCol="0" anchor="ctr"/>
          <a:lstStyle/>
          <a:p>
            <a:pPr algn="ctr" indent="0" marL="0">
              <a:buNone/>
            </a:pPr>
            <a:r>
              <a:rPr lang="en-US" sz="1100" dirty="0">
                <a:solidFill>
                  <a:srgbClr val="C7D6E8"/>
                </a:solidFill>
                <a:latin typeface="Poppins" pitchFamily="34" charset="0"/>
                <a:ea typeface="Poppins" pitchFamily="34" charset="-122"/>
                <a:cs typeface="Poppins" pitchFamily="34" charset="-120"/>
              </a:rPr>
              <a:t>Superviseur : Dr Meton Meton ATINDEHOU</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21</Slides>
  <Notes>21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2026-07-16T08:03:39Z</dcterms:created>
  <dcterms:modified xsi:type="dcterms:W3CDTF">2026-07-16T08:03:39Z</dcterms:modified>
</cp:coreProperties>
</file>