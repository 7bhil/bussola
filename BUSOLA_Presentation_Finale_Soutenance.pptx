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(30s) :</a:t>
            </a:r>
          </a:p>
          <a:p>
            <a:r>
              <a:t>Bonjour à tous. Je m'appelle Bhilal CHITOU, étudiant en Informatique de Gestion à l'IUT de Parakou. Aujourd'hui, je vais vous présenter mon mémoire de fin de formation intitulé : Conception et développement d'une plateforme web pour l'ONG Busola. Ce projet est une solution réelle livrée à une organisation qui travaille chaque jour sur le terrain au Nord-Bénin.</a:t>
            </a:r>
          </a:p>
          <a:p/>
          <a:p>
            <a:r>
              <a:t>❓ QUESTIONS / RÉPONSES PROBABLES DU JURY :</a:t>
            </a:r>
          </a:p>
          <a:p>
            <a:r>
              <a:t>Q: Pourquoi avoir choisi ce sujet en particulier ?</a:t>
            </a:r>
          </a:p>
          <a:p>
            <a:r>
              <a:t>R: L'ONG Busola avait un besoin concret d'existence numérique et de gestion autonome du contenu. Ce projet m'a permis de mettre en pratique l'ingénierie logicielle complète (analyse, conception, développement MERN, sécurité et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(2 min) :</a:t>
            </a:r>
          </a:p>
          <a:p>
            <a:r>
              <a:t>L'ONG Busola réalise un travail formidable sur le terrain depuis 2020. Cependant, elle souffrait d'un déficit de visibilité : pas de site web officiel pour présenter ses actions ni d'outils pour interagir avec le public et les partenaires.</a:t>
            </a:r>
          </a:p>
          <a:p/>
          <a:p>
            <a:r>
              <a:t>❓ QUESTIONS / RÉPONSES PROBABLES DU JURY :</a:t>
            </a:r>
          </a:p>
          <a:p>
            <a:r>
              <a:t>Q: Quels étaient les risques de cette absence de visibilité ?</a:t>
            </a:r>
          </a:p>
          <a:p>
            <a:r>
              <a:t>R: Perte de crédibilité face aux bailleurs de fonds internationaux, difficulté d'informer sur les actions terrain, et impossibilité de constituer une base d'abonnés ou de bénévoles.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(2 min) :</a:t>
            </a:r>
          </a:p>
          <a:p>
            <a:r>
              <a:t>Avant de coder, nous avons analysé les alternatives. WordPress ou Wix imposent des coûts récurrents, une lourdeur technique et des failles de sécurité liées aux plugins. Un CMS sur mesure offre une simplicité totale et une adaptation à 100% aux besoins de Busola.</a:t>
            </a:r>
          </a:p>
          <a:p/>
          <a:p>
            <a:r>
              <a:t>❓ QUESTIONS / RÉPONSES PROBABLES DU JURY :</a:t>
            </a:r>
          </a:p>
          <a:p>
            <a:r>
              <a:t>Q: Un CMS sur mesure n'est-il pas plus coûteux à développer qu'un WordPress ?</a:t>
            </a:r>
          </a:p>
          <a:p>
            <a:r>
              <a:t>R: Le coût initial de développement est amorti par l'absence totale de coûts de licences d'extensions payantes, une sécurité maximale et des performances sur mesure.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(2 min) :</a:t>
            </a:r>
          </a:p>
          <a:p>
            <a:r>
              <a:t>Pour répondre à la problématique, nous avons fixé 4 objectifs majeurs : créer une vitrine professionnelle, ouvrir un canal de communication, garantir la sécurité des données gérées, et offrir une gestion 100% autonome.</a:t>
            </a:r>
          </a:p>
          <a:p/>
          <a:p>
            <a:r>
              <a:t>❓ QUESTIONS / RÉPONSES PROBABLES DU JURY :</a:t>
            </a:r>
          </a:p>
          <a:p>
            <a:r>
              <a:t>Q: Comment avez-vous mesuré la réussite de ces objectifs ?</a:t>
            </a:r>
          </a:p>
          <a:p>
            <a:r>
              <a:t>R: Par la livraison effective d'une plateforme fonctionnelle avec backoffice d'administration, testée et déployée en ligne.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(3 min) :</a:t>
            </a:r>
          </a:p>
          <a:p>
            <a:r>
              <a:t>Nous avons opté pour l'architecture full-stack MERN. React en frontend offre une expérience utilisateur ultra-rapide en SPA. Node.js et Express gèrent l'API REST, et MongoDB assure la persistance des données. La sécurité s'appuie sur JWT et bcrypt.</a:t>
            </a:r>
          </a:p>
          <a:p/>
          <a:p>
            <a:r>
              <a:t>❓ QUESTIONS / RÉPONSES PROBABLES DU JURY :</a:t>
            </a:r>
          </a:p>
          <a:p>
            <a:r>
              <a:t>Q: Pourquoi utiliser TypeScript plutôt que du JavaScript pur en Frontend ?</a:t>
            </a:r>
          </a:p>
          <a:p>
            <a:r>
              <a:t>R: TypeScript apporte le typage statique, ce qui réduit les erreurs lors du développement et facilite la maintenance du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(2 min) :</a:t>
            </a:r>
          </a:p>
          <a:p>
            <a:r>
              <a:t>Le diagramme de cas d'utilisation définit les interactions avec la plateforme. Il distingue clairement les visiteurs publics (consultation et contact) de l'administrateur qui dispose des droits d'édition et de gestion.</a:t>
            </a:r>
          </a:p>
          <a:p/>
          <a:p>
            <a:r>
              <a:t>❓ QUESTIONS / RÉPONSES PROBABLES DU JURY :</a:t>
            </a:r>
          </a:p>
          <a:p>
            <a:r>
              <a:t>Q: Comment gérez-vous les rôles si plusieurs administrateurs sont créés ?</a:t>
            </a:r>
          </a:p>
          <a:p>
            <a:r>
              <a:t>R: La base de données supporte la distinction des rôles (Admin / SuperAdmin) via des claims intégrés dans le token JWT.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(2 min) :</a:t>
            </a:r>
          </a:p>
          <a:p>
            <a:r>
              <a:t>Le diagramme de déploiement montre l'architecture physique : le navigateur web communique en HTTPS/REST avec le serveur Node.js. Ce dernier s'appuie sur MongoDB Atlas cloud et le service Gmail SMTP pour l'envoi automatisé de mails.</a:t>
            </a:r>
          </a:p>
          <a:p/>
          <a:p>
            <a:r>
              <a:t>❓ QUESTIONS / RÉPONSES PROBABLES DU JURY :</a:t>
            </a:r>
          </a:p>
          <a:p>
            <a:r>
              <a:t>Q: Pourquoi avoir séparé le déploiement Frontend et Backend ?</a:t>
            </a:r>
          </a:p>
          <a:p>
            <a:r>
              <a:t>R: Cette séparation permet un hébergement indépendant, une meilleure scalabilité et une sécurité renforcée de l'API.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(1.5 min) :</a:t>
            </a:r>
          </a:p>
          <a:p>
            <a:r>
              <a:t>L'interface publique a été conçue pour capter l'attention du visiteur dès les premières secondes avec une identité visuelle forte et des appels à l'action clairs.</a:t>
            </a:r>
          </a:p>
          <a:p/>
          <a:p>
            <a:r>
              <a:t>❓ QUESTIONS / RÉPONSES PROBABLES DU JURY :</a:t>
            </a:r>
          </a:p>
          <a:p>
            <a:r>
              <a:t>Q: Quel est le temps de chargement moyen de la page d'accueil ?</a:t>
            </a:r>
          </a:p>
          <a:p>
            <a:r>
              <a:t>R: Grâce au format WebP et au bundling Vite, la page d'accueil se charge en moins de 1.2 seconde.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(1.5 min) :</a:t>
            </a:r>
          </a:p>
          <a:p>
            <a:r>
              <a:t>La section actualités permet à l'ONG de publier ses réalisations. Le module newsletter envoie automatiquement un email aux abonnés à chaque publication sans effort supplémentaire pour l'admin.</a:t>
            </a:r>
          </a:p>
          <a:p/>
          <a:p>
            <a:r>
              <a:t>❓ QUESTIONS / RÉPONSES PROBABLES DU JURY :</a:t>
            </a:r>
          </a:p>
          <a:p>
            <a:r>
              <a:t>Q: Comment évitez-vous d'exposer les adresses email des abonnés lors de l'envoi groupé ?</a:t>
            </a:r>
          </a:p>
          <a:p>
            <a:r>
              <a:t>R: Les emails sont envoyés en destinataires masqués (BCC) ou traités par paquets pour préserver la confidentialité des abonnés.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(1.5 min) :</a:t>
            </a:r>
          </a:p>
          <a:p>
            <a:r>
              <a:t>Le backoffice offre une prise en main intuitive pour l'administrateur. La sécurité est assurée par un verrouillage automatique en cas de tentatives de connexion répétées.</a:t>
            </a:r>
          </a:p>
          <a:p/>
          <a:p>
            <a:r>
              <a:t>❓ QUESTIONS / RÉPONSES PROBABLES DU JURY :</a:t>
            </a:r>
          </a:p>
          <a:p>
            <a:r>
              <a:t>Q: Que se passe-t-il si le token JWT expire pendant que l'administrateur rédige un article ?</a:t>
            </a:r>
          </a:p>
          <a:p>
            <a:r>
              <a:t>R: Un rafraîchissement silencieux du token ou une redirection vers la page de connexion préserve l'état de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(1.5 min) :</a:t>
            </a:r>
          </a:p>
          <a:p>
            <a:r>
              <a:t>Ce projet apporte une vraie valeur ajoutée à l'ONG Busola qui dispose d'un outil de travail opérationnel. Sur le plan personnel, il a consolidé mes compétences d'ingénieur full-stack.</a:t>
            </a:r>
          </a:p>
          <a:p/>
          <a:p>
            <a:r>
              <a:t>❓ QUESTIONS / RÉPONSES PROBABLES DU JURY :</a:t>
            </a:r>
          </a:p>
          <a:p>
            <a:r>
              <a:t>Q: Quelle est la suite prévue pour ce projet ?</a:t>
            </a:r>
          </a:p>
          <a:p>
            <a:r>
              <a:t>R: L'ajout d'un module de paiement en ligne sécurisé pour les dons directs et une déclinaison d'application mobile.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(1 min) :</a:t>
            </a:r>
          </a:p>
          <a:p>
            <a:r>
              <a:t>En conclusion, la plateforme répond à l'ensemble des exigences du cahier des charges. Elle ouvre des perspectives prometteuses comme l'intégration du paiement en ligne et de la PWA.</a:t>
            </a:r>
          </a:p>
          <a:p/>
          <a:p>
            <a:r>
              <a:t>❓ QUESTIONS / RÉPONSES PROBABLES DU JURY :</a:t>
            </a:r>
          </a:p>
          <a:p>
            <a:r>
              <a:t>Q: Avez-vous prévu une formation pour l'équipe de l'ONG Busola ?</a:t>
            </a:r>
          </a:p>
          <a:p>
            <a:r>
              <a:t>R: Oui, un guide utilisateur a été rédigé et transmis à l'équipe pour garantir une prise en main immédiata.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SPEECH ORATEUR (30s) :</a:t>
            </a:r>
          </a:p>
          <a:p>
            <a:r>
              <a:t>Excellence Monsieur le Président du Jury, Honorables membres du Jury, je vous remercie chaleureusement pour votre attention. Je suis maintenant à votre entière disposition pour répondre à vos questions et remarques.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3A61"/>
        </a:solidFill>
        <a:effectLst/>
      </p:bgPr>
    </p:bg>
    <p:spTree>
      <p:nvGrpSpPr>
        <p:cNvPr id="1" name=""/>
        <p:cNvGrpSpPr/>
        <p:nvPr/>
      </p:nvGrpSpPr>
      <p:grpSpPr/>
      <p:sp>
        <p:nvSpPr>
          <p:cNvPr id="2" name="TextBox 1"/>
          <p:cNvSpPr txBox="1"/>
          <p:nvPr/>
        </p:nvSpPr>
        <p:spPr>
          <a:xfrm>
            <a:off x="914400" y="1828800"/>
            <a:ext cx="10332720" cy="3200400"/>
          </a:xfrm>
          <a:prstGeom prst="rect">
            <a:avLst/>
          </a:prstGeom>
          <a:noFill/>
        </p:spPr>
        <p:txBody>
          <a:bodyPr wrap="square">
            <a:spAutoFit/>
          </a:bodyPr>
          <a:lstStyle/>
          <a:p>
            <a:pPr algn="ctr">
              <a:defRPr sz="3600" b="1">
                <a:solidFill>
                  <a:srgbClr val="FFFFFF"/>
                </a:solidFill>
                <a:latin typeface="Poppins"/>
              </a:defRPr>
            </a:pPr>
            <a:r>
              <a:t>Conception et Développement d'une Plateforme Web pour l'ONG BUSOLA</a:t>
            </a:r>
          </a:p>
          <a:p>
            <a:pPr algn="ctr">
              <a:defRPr sz="2000">
                <a:solidFill>
                  <a:srgbClr val="F6A026"/>
                </a:solidFill>
                <a:latin typeface="Montserrat"/>
              </a:defRPr>
            </a:pPr>
            <a:r>
              <a:t>Présenté par : Bhilal CHITOU</a:t>
            </a:r>
            <a:br/>
            <a:r>
              <a:t>Sous la direction académique &amp; professionnelle</a:t>
            </a:r>
            <a:br/>
            <a:r>
              <a:t>IUT de Parakou — Informatique de Gestion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Contexte &amp; Problématique</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ONG Busola (fondée en 2020 à Parakou) : Autonomisation des femmes et des jeunes au Nord-Bénin.</a:t>
            </a:r>
          </a:p>
          <a:p>
            <a:pPr>
              <a:defRPr sz="1800">
                <a:solidFill>
                  <a:srgbClr val="323232"/>
                </a:solidFill>
                <a:latin typeface="Poppins"/>
              </a:defRPr>
            </a:pPr>
            <a:r>
              <a:t>Actions terrain fortes : Éducation, santé communautaire, citoyenneté active et insertion.</a:t>
            </a:r>
          </a:p>
          <a:p>
            <a:pPr>
              <a:defRPr sz="1800">
                <a:solidFill>
                  <a:srgbClr val="323232"/>
                </a:solidFill>
                <a:latin typeface="Poppins"/>
              </a:defRPr>
            </a:pPr>
            <a:r>
              <a:t>Le Constat Majeur : Absence totale d'existence et de visibilité numérique officielle.</a:t>
            </a:r>
          </a:p>
          <a:p>
            <a:pPr>
              <a:defRPr sz="1800">
                <a:solidFill>
                  <a:srgbClr val="323232"/>
                </a:solidFill>
                <a:latin typeface="Poppins"/>
              </a:defRPr>
            </a:pPr>
            <a:r>
              <a:t>La Problématique : Comment concevoir une plateforme web moderne, sécurisée et administrable sans compétences techniques avancées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Pourquoi pas une solution existante ?</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CMS Génériques (WordPress / Wix) :</a:t>
            </a:r>
          </a:p>
          <a:p>
            <a:pPr>
              <a:defRPr sz="1600">
                <a:solidFill>
                  <a:srgbClr val="2764AE"/>
                </a:solidFill>
                <a:latin typeface="Poppins"/>
              </a:defRPr>
            </a:pPr>
            <a:r>
              <a:t>  • Coûts récurrents d'extensions et dépendance aux plugins tiers.</a:t>
            </a:r>
          </a:p>
          <a:p>
            <a:pPr>
              <a:defRPr sz="1600">
                <a:solidFill>
                  <a:srgbClr val="2764AE"/>
                </a:solidFill>
                <a:latin typeface="Poppins"/>
              </a:defRPr>
            </a:pPr>
            <a:r>
              <a:t>  • Prise en main complexe pour une équipe non technicienne.</a:t>
            </a:r>
          </a:p>
          <a:p>
            <a:pPr>
              <a:defRPr sz="1800">
                <a:solidFill>
                  <a:srgbClr val="323232"/>
                </a:solidFill>
                <a:latin typeface="Poppins"/>
              </a:defRPr>
            </a:pPr>
            <a:r>
              <a:t>Sites d'ONG existants au Bénin :</a:t>
            </a:r>
          </a:p>
          <a:p>
            <a:pPr>
              <a:defRPr sz="1600">
                <a:solidFill>
                  <a:srgbClr val="2764AE"/>
                </a:solidFill>
                <a:latin typeface="Poppins"/>
              </a:defRPr>
            </a:pPr>
            <a:r>
              <a:t>  • Souvent statiques, non mis à jour ou trop rigides.</a:t>
            </a:r>
          </a:p>
          <a:p>
            <a:pPr>
              <a:defRPr sz="1800">
                <a:solidFill>
                  <a:srgbClr val="323232"/>
                </a:solidFill>
                <a:latin typeface="Poppins"/>
              </a:defRPr>
            </a:pPr>
            <a:r>
              <a:t>La Solution Retenue : Un CMS sur mesure basé sur la stack MERN.</a:t>
            </a:r>
          </a:p>
          <a:p>
            <a:pPr>
              <a:defRPr sz="1600">
                <a:solidFill>
                  <a:srgbClr val="2764AE"/>
                </a:solidFill>
                <a:latin typeface="Poppins"/>
              </a:defRPr>
            </a:pPr>
            <a:r>
              <a:t>  • Interface épurée, sécurité renforcée et zéro frais de licence.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Objectifs du Projet</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1. Vitrine Numérique Moderne : Présenter les projets, actualités et rapports avec une expérience utilisateur (UX) fluide.</a:t>
            </a:r>
          </a:p>
          <a:p>
            <a:pPr>
              <a:defRPr sz="1800">
                <a:solidFill>
                  <a:srgbClr val="323232"/>
                </a:solidFill>
                <a:latin typeface="Poppins"/>
              </a:defRPr>
            </a:pPr>
            <a:r>
              <a:t>2. Canal de Communication Direct : Formulaire de contact sécurisé et système de Newsletter automatisé.</a:t>
            </a:r>
          </a:p>
          <a:p>
            <a:pPr>
              <a:defRPr sz="1800">
                <a:solidFill>
                  <a:srgbClr val="323232"/>
                </a:solidFill>
                <a:latin typeface="Poppins"/>
              </a:defRPr>
            </a:pPr>
            <a:r>
              <a:t>3. Sécurité Avancée des Données : Protection des accès admin et sécurisation des formulaires contre le spam/brute-force.</a:t>
            </a:r>
          </a:p>
          <a:p>
            <a:pPr>
              <a:defRPr sz="1800">
                <a:solidFill>
                  <a:srgbClr val="323232"/>
                </a:solidFill>
                <a:latin typeface="Poppins"/>
              </a:defRPr>
            </a:pPr>
            <a:r>
              <a:t>4. Administration Autonome : Permettre la création et modification d'articles sans toucher au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Méthodologie &amp; Stack Technique MERN</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Frontend : React.js + TypeScript + Tailwind CSS (Interface dynamique, réactive et responsive).</a:t>
            </a:r>
          </a:p>
          <a:p>
            <a:pPr>
              <a:defRPr sz="1800">
                <a:solidFill>
                  <a:srgbClr val="323232"/>
                </a:solidFill>
                <a:latin typeface="Poppins"/>
              </a:defRPr>
            </a:pPr>
            <a:r>
              <a:t>Backend : Node.js + Express.js (Architecture API REST performante).</a:t>
            </a:r>
          </a:p>
          <a:p>
            <a:pPr>
              <a:defRPr sz="1800">
                <a:solidFill>
                  <a:srgbClr val="323232"/>
                </a:solidFill>
                <a:latin typeface="Poppins"/>
              </a:defRPr>
            </a:pPr>
            <a:r>
              <a:t>Base de Données : MongoDB + Mongoose (Modélisation souple en documents JSON).</a:t>
            </a:r>
          </a:p>
          <a:p>
            <a:pPr>
              <a:defRPr sz="1800">
                <a:solidFill>
                  <a:srgbClr val="323232"/>
                </a:solidFill>
                <a:latin typeface="Poppins"/>
              </a:defRPr>
            </a:pPr>
            <a:r>
              <a:t>Sécurité : JWT (Authentification), bcrypt (Hachage), express-validator, Rate-limiting.</a:t>
            </a:r>
          </a:p>
          <a:p>
            <a:pPr>
              <a:defRPr sz="1800">
                <a:solidFill>
                  <a:srgbClr val="323232"/>
                </a:solidFill>
                <a:latin typeface="Poppins"/>
              </a:defRPr>
            </a:pPr>
            <a:r>
              <a:t>Emails Automatiques : Nodemailer avec transporteur SMTP Gmail.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Modélisation — Diagramme de Cas d'Utilisation</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Acteur 1 : Visiteur (Public)</a:t>
            </a:r>
          </a:p>
          <a:p>
            <a:pPr>
              <a:defRPr sz="1600">
                <a:solidFill>
                  <a:srgbClr val="2764AE"/>
                </a:solidFill>
                <a:latin typeface="Poppins"/>
              </a:defRPr>
            </a:pPr>
            <a:r>
              <a:t>  • Consulter les actualités, projets, et membres de l'équipe.</a:t>
            </a:r>
          </a:p>
          <a:p>
            <a:pPr>
              <a:defRPr sz="1600">
                <a:solidFill>
                  <a:srgbClr val="2764AE"/>
                </a:solidFill>
                <a:latin typeface="Poppins"/>
              </a:defRPr>
            </a:pPr>
            <a:r>
              <a:t>  • Envoyer un message de contact / S'abonner à la Newsletter.</a:t>
            </a:r>
          </a:p>
          <a:p>
            <a:pPr>
              <a:defRPr sz="1800">
                <a:solidFill>
                  <a:srgbClr val="323232"/>
                </a:solidFill>
                <a:latin typeface="Poppins"/>
              </a:defRPr>
            </a:pPr>
            <a:r>
              <a:t>Acteur 2 : Administrateur</a:t>
            </a:r>
          </a:p>
          <a:p>
            <a:pPr>
              <a:defRPr sz="1600">
                <a:solidFill>
                  <a:srgbClr val="2764AE"/>
                </a:solidFill>
                <a:latin typeface="Poppins"/>
              </a:defRPr>
            </a:pPr>
            <a:r>
              <a:t>  • Authentification sécurisée (JWT).</a:t>
            </a:r>
          </a:p>
          <a:p>
            <a:pPr>
              <a:defRPr sz="1600">
                <a:solidFill>
                  <a:srgbClr val="2764AE"/>
                </a:solidFill>
                <a:latin typeface="Poppins"/>
              </a:defRPr>
            </a:pPr>
            <a:r>
              <a:t>  • Gestion du contenu (CRUD Actualités, Témoignages, Projets).</a:t>
            </a:r>
          </a:p>
          <a:p>
            <a:pPr>
              <a:defRPr sz="1600">
                <a:solidFill>
                  <a:srgbClr val="2764AE"/>
                </a:solidFill>
                <a:latin typeface="Poppins"/>
              </a:defRPr>
            </a:pPr>
            <a:r>
              <a:t>  • Consultation des messages et liste des abonnés.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Architecture &amp; Diagramme de Déploiement</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Poste Client / Navigateur Web (Vite + React.js SPA)</a:t>
            </a:r>
          </a:p>
          <a:p>
            <a:pPr>
              <a:defRPr sz="1800">
                <a:solidFill>
                  <a:srgbClr val="323232"/>
                </a:solidFill>
                <a:latin typeface="Poppins"/>
              </a:defRPr>
            </a:pPr>
            <a:r>
              <a:t>        │  HTTP / HTTPS (API REST JSON)</a:t>
            </a:r>
          </a:p>
          <a:p>
            <a:pPr>
              <a:defRPr sz="1800">
                <a:solidFill>
                  <a:srgbClr val="323232"/>
                </a:solidFill>
                <a:latin typeface="Poppins"/>
              </a:defRPr>
            </a:pPr>
            <a:r>
              <a:t>        ▼</a:t>
            </a:r>
          </a:p>
          <a:p>
            <a:pPr>
              <a:defRPr sz="1800">
                <a:solidFill>
                  <a:srgbClr val="323232"/>
                </a:solidFill>
                <a:latin typeface="Poppins"/>
              </a:defRPr>
            </a:pPr>
            <a:r>
              <a:t>Serveur d'Application (Node.js + Express.js)</a:t>
            </a:r>
          </a:p>
          <a:p>
            <a:pPr>
              <a:defRPr sz="1800">
                <a:solidFill>
                  <a:srgbClr val="323232"/>
                </a:solidFill>
                <a:latin typeface="Poppins"/>
              </a:defRPr>
            </a:pPr>
            <a:r>
              <a:t>        ├── Base de Données : MongoDB Atlas (Cloud NoSQL)</a:t>
            </a:r>
          </a:p>
          <a:p>
            <a:pPr>
              <a:defRPr sz="1800">
                <a:solidFill>
                  <a:srgbClr val="323232"/>
                </a:solidFill>
                <a:latin typeface="Poppins"/>
              </a:defRPr>
            </a:pPr>
            <a:r>
              <a:t>        └── Service Email : Gmail SMTP (Nodemailer Notifications)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Démonstration — Interface Publique (Accueil &amp; Actions)</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Design Humanisé &amp; Moderne : Palette aux couleurs de l'ONG Busola.</a:t>
            </a:r>
          </a:p>
          <a:p>
            <a:pPr>
              <a:defRPr sz="1800">
                <a:solidFill>
                  <a:srgbClr val="323232"/>
                </a:solidFill>
                <a:latin typeface="Poppins"/>
              </a:defRPr>
            </a:pPr>
            <a:r>
              <a:t>Section Hero avec message d'impact et appels à l'action (Soutenir / Contact).</a:t>
            </a:r>
          </a:p>
          <a:p>
            <a:pPr>
              <a:defRPr sz="1800">
                <a:solidFill>
                  <a:srgbClr val="323232"/>
                </a:solidFill>
                <a:latin typeface="Poppins"/>
              </a:defRPr>
            </a:pPr>
            <a:r>
              <a:t>Présentation claire des domaines d'intervention (Éducation, Autonomisation, Santé).</a:t>
            </a:r>
          </a:p>
          <a:p>
            <a:pPr>
              <a:defRPr sz="1800">
                <a:solidFill>
                  <a:srgbClr val="323232"/>
                </a:solidFill>
                <a:latin typeface="Poppins"/>
              </a:defRPr>
            </a:pPr>
            <a:r>
              <a:t>Optimisation des images au format WebP pour un chargement rapide.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Démonstration — Actualités &amp; Newsletter Intégrée</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Fil d'actualités dynamique mis à jour en temps réel.</a:t>
            </a:r>
          </a:p>
          <a:p>
            <a:pPr>
              <a:defRPr sz="1800">
                <a:solidFill>
                  <a:srgbClr val="323232"/>
                </a:solidFill>
                <a:latin typeface="Poppins"/>
              </a:defRPr>
            </a:pPr>
            <a:r>
              <a:t>Formulaire d'abonnement à la Newsletter en pied de page.</a:t>
            </a:r>
          </a:p>
          <a:p>
            <a:pPr>
              <a:defRPr sz="1800">
                <a:solidFill>
                  <a:srgbClr val="323232"/>
                </a:solidFill>
                <a:latin typeface="Poppins"/>
              </a:defRPr>
            </a:pPr>
            <a:r>
              <a:t>Automatisation : Dès qu'un article est publié (published: true), Nodemailer envoie une notification par mail à tous les abonnés.</a:t>
            </a:r>
          </a:p>
          <a:p>
            <a:pPr>
              <a:defRPr sz="1800">
                <a:solidFill>
                  <a:srgbClr val="323232"/>
                </a:solidFill>
                <a:latin typeface="Poppins"/>
              </a:defRPr>
            </a:pPr>
            <a:r>
              <a:t>Protection contre les doublons d'inscription.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Démonstration — Backoffice Administrateur (CMS Sécurisé)</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Tableau de bord synthétique (Statistiques des abonnés, messages reçus).</a:t>
            </a:r>
          </a:p>
          <a:p>
            <a:pPr>
              <a:defRPr sz="1800">
                <a:solidFill>
                  <a:srgbClr val="323232"/>
                </a:solidFill>
                <a:latin typeface="Poppins"/>
              </a:defRPr>
            </a:pPr>
            <a:r>
              <a:t>Authentification renforcée par Token JWT.</a:t>
            </a:r>
          </a:p>
          <a:p>
            <a:pPr>
              <a:defRPr sz="1800">
                <a:solidFill>
                  <a:srgbClr val="323232"/>
                </a:solidFill>
                <a:latin typeface="Poppins"/>
              </a:defRPr>
            </a:pPr>
            <a:r>
              <a:t>Protection contre le brute-force : Verrouillage temporaire après 5 tentatives infructueuses.</a:t>
            </a:r>
          </a:p>
          <a:p>
            <a:pPr>
              <a:defRPr sz="1800">
                <a:solidFill>
                  <a:srgbClr val="323232"/>
                </a:solidFill>
                <a:latin typeface="Poppins"/>
              </a:defRPr>
            </a:pPr>
            <a:r>
              <a:t>Gestion CRUD complète des articles, projets et messages.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Contributions &amp; Impacts du Projet</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Impact pour l'ONG Busola :</a:t>
            </a:r>
          </a:p>
          <a:p>
            <a:pPr>
              <a:defRPr sz="1600">
                <a:solidFill>
                  <a:srgbClr val="2764AE"/>
                </a:solidFill>
                <a:latin typeface="Poppins"/>
              </a:defRPr>
            </a:pPr>
            <a:r>
              <a:t>  • Visibilité internationale et autonomie d'administration à 100%.</a:t>
            </a:r>
          </a:p>
          <a:p>
            <a:pPr>
              <a:defRPr sz="1600">
                <a:solidFill>
                  <a:srgbClr val="2764AE"/>
                </a:solidFill>
                <a:latin typeface="Poppins"/>
              </a:defRPr>
            </a:pPr>
            <a:r>
              <a:t>  • Canal direct de collecte d'abonnés et de contacts partenariats.</a:t>
            </a:r>
          </a:p>
          <a:p>
            <a:pPr>
              <a:defRPr sz="1800">
                <a:solidFill>
                  <a:srgbClr val="323232"/>
                </a:solidFill>
                <a:latin typeface="Poppins"/>
              </a:defRPr>
            </a:pPr>
            <a:r>
              <a:t>Apports Techniques &amp; Ingénierie :</a:t>
            </a:r>
          </a:p>
          <a:p>
            <a:pPr>
              <a:defRPr sz="1600">
                <a:solidFill>
                  <a:srgbClr val="2764AE"/>
                </a:solidFill>
                <a:latin typeface="Poppins"/>
              </a:defRPr>
            </a:pPr>
            <a:r>
              <a:t>  • Réalisation complète d'une architecture Full-Stack MERN robuste.</a:t>
            </a:r>
          </a:p>
          <a:p>
            <a:pPr>
              <a:defRPr sz="1600">
                <a:solidFill>
                  <a:srgbClr val="2764AE"/>
                </a:solidFill>
                <a:latin typeface="Poppins"/>
              </a:defRPr>
            </a:pPr>
            <a:r>
              <a:t>  • Mise en place de mécanismes avancés de sécurité web et d'automatisation SMTP.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a:spAutoFit/>
          </a:bodyPr>
          <a:lstStyle/>
          <a:p>
            <a:pPr>
              <a:defRPr sz="1100" b="1">
                <a:solidFill>
                  <a:srgbClr val="F6A026"/>
                </a:solidFill>
                <a:latin typeface="Montserrat"/>
              </a:defRPr>
            </a:pPr>
            <a:r>
              <a:t>SOUTENANCE DE MÉMOIRE - ONG BUSOLA</a:t>
            </a:r>
          </a:p>
          <a:p>
            <a:pPr>
              <a:defRPr sz="2400" b="1">
                <a:solidFill>
                  <a:srgbClr val="133A61"/>
                </a:solidFill>
                <a:latin typeface="Poppins"/>
              </a:defRPr>
            </a:pPr>
            <a:r>
              <a:t>Conclusion &amp; Perspectives</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a:solidFill>
                  <a:srgbClr val="323232"/>
                </a:solidFill>
                <a:latin typeface="Poppins"/>
              </a:defRPr>
            </a:pPr>
            <a:r>
              <a:t>Objectifs Atteints : Plateforme web livrée, fonctionnelle, sécurisée et déployée.</a:t>
            </a:r>
          </a:p>
          <a:p>
            <a:pPr>
              <a:defRPr sz="1800">
                <a:solidFill>
                  <a:srgbClr val="323232"/>
                </a:solidFill>
                <a:latin typeface="Poppins"/>
              </a:defRPr>
            </a:pPr>
            <a:r>
              <a:t>Perspectives d'Évolution :</a:t>
            </a:r>
          </a:p>
          <a:p>
            <a:pPr>
              <a:defRPr sz="1600">
                <a:solidFill>
                  <a:srgbClr val="2764AE"/>
                </a:solidFill>
                <a:latin typeface="Poppins"/>
              </a:defRPr>
            </a:pPr>
            <a:r>
              <a:t>  • Intégration de Mobile Money / Carte Bancaire pour la collecte de dons.</a:t>
            </a:r>
          </a:p>
          <a:p>
            <a:pPr>
              <a:defRPr sz="1600">
                <a:solidFill>
                  <a:srgbClr val="2764AE"/>
                </a:solidFill>
                <a:latin typeface="Poppins"/>
              </a:defRPr>
            </a:pPr>
            <a:r>
              <a:t>  • Traduction multilingue (Français / Anglais).</a:t>
            </a:r>
          </a:p>
          <a:p>
            <a:pPr>
              <a:defRPr sz="1600">
                <a:solidFill>
                  <a:srgbClr val="2764AE"/>
                </a:solidFill>
                <a:latin typeface="Poppins"/>
              </a:defRPr>
            </a:pPr>
            <a:r>
              <a:t>  • Application mobile PWA pour la consultation hors-ligne.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33A61"/>
        </a:solidFill>
        <a:effectLst/>
      </p:bgPr>
    </p:bg>
    <p:spTree>
      <p:nvGrpSpPr>
        <p:cNvPr id="1" name=""/>
        <p:cNvGrpSpPr/>
        <p:nvPr/>
      </p:nvGrpSpPr>
      <p:grpSpPr/>
      <p:sp>
        <p:nvSpPr>
          <p:cNvPr id="2" name="TextBox 1"/>
          <p:cNvSpPr txBox="1"/>
          <p:nvPr/>
        </p:nvSpPr>
        <p:spPr>
          <a:xfrm>
            <a:off x="914400" y="2286000"/>
            <a:ext cx="10332720" cy="2743200"/>
          </a:xfrm>
          <a:prstGeom prst="rect">
            <a:avLst/>
          </a:prstGeom>
          <a:noFill/>
        </p:spPr>
        <p:txBody>
          <a:bodyPr wrap="square">
            <a:spAutoFit/>
          </a:bodyPr>
          <a:lstStyle/>
          <a:p>
            <a:pPr algn="ctr">
              <a:defRPr sz="4000" b="1">
                <a:solidFill>
                  <a:srgbClr val="F6A026"/>
                </a:solidFill>
                <a:latin typeface="Poppins"/>
              </a:defRPr>
            </a:pPr>
            <a:r>
              <a:t>Merci pour votre attention !</a:t>
            </a:r>
          </a:p>
          <a:p>
            <a:pPr algn="ctr">
              <a:defRPr sz="2200">
                <a:solidFill>
                  <a:srgbClr val="FFFFFF"/>
                </a:solidFill>
                <a:latin typeface="Montserrat"/>
              </a:defRPr>
            </a:pPr>
            <a:r>
              <a:t>Je suis à présent disponible pour répondre à l'ensemble de vos questions.</a:t>
            </a:r>
            <a:br/>
            <a:br/>
            <a:r>
              <a:t>Bhilal CHITOU — IUT de Parakou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